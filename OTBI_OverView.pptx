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sldIdLst>
    <p:sldId id="259" r:id="rId2"/>
    <p:sldId id="260" r:id="rId3"/>
    <p:sldId id="261" r:id="rId4"/>
    <p:sldId id="263" r:id="rId5"/>
    <p:sldId id="264" r:id="rId6"/>
    <p:sldId id="265" r:id="rId7"/>
    <p:sldId id="266" r:id="rId8"/>
    <p:sldId id="269" r:id="rId9"/>
    <p:sldId id="270" r:id="rId10"/>
    <p:sldId id="271" r:id="rId11"/>
    <p:sldId id="272" r:id="rId12"/>
    <p:sldId id="275" r:id="rId13"/>
    <p:sldId id="276" r:id="rId14"/>
    <p:sldId id="280" r:id="rId15"/>
    <p:sldId id="285" r:id="rId16"/>
    <p:sldId id="286" r:id="rId17"/>
    <p:sldId id="294" r:id="rId18"/>
    <p:sldId id="296" r:id="rId19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1074" y="-2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028700"/>
            <a:ext cx="7851648" cy="13716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2421402"/>
            <a:ext cx="7854696" cy="131445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5191E-C0E3-4A93-A30E-EC0AED580585}" type="datetimeFigureOut">
              <a:rPr lang="en-US" smtClean="0">
                <a:solidFill>
                  <a:srgbClr val="DBF5F9">
                    <a:shade val="90000"/>
                  </a:srgbClr>
                </a:solidFill>
              </a:rPr>
              <a:pPr/>
              <a:t>4/29/2020</a:t>
            </a:fld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E9D82-D16D-4D79-9FE8-B8208C467D6D}" type="slidenum">
              <a:rPr lang="en-US" smtClean="0">
                <a:solidFill>
                  <a:srgbClr val="DBF5F9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9366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5191E-C0E3-4A93-A30E-EC0AED580585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4/29/2020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E9D82-D16D-4D79-9FE8-B8208C467D6D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6827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987552"/>
            <a:ext cx="7772400" cy="1021842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028498"/>
            <a:ext cx="7772400" cy="1132284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5191E-C0E3-4A93-A30E-EC0AED580585}" type="datetimeFigureOut">
              <a:rPr lang="en-US" smtClean="0">
                <a:solidFill>
                  <a:srgbClr val="DBF5F9">
                    <a:shade val="90000"/>
                  </a:srgbClr>
                </a:solidFill>
              </a:rPr>
              <a:pPr/>
              <a:t>4/29/2020</a:t>
            </a:fld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E9D82-D16D-4D79-9FE8-B8208C467D6D}" type="slidenum">
              <a:rPr lang="en-US" smtClean="0">
                <a:solidFill>
                  <a:srgbClr val="DBF5F9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2200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0064"/>
            <a:ext cx="4038600" cy="332613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0064"/>
            <a:ext cx="4038600" cy="332613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5191E-C0E3-4A93-A30E-EC0AED580585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4/29/2020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E9D82-D16D-4D79-9FE8-B8208C467D6D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724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436"/>
            <a:ext cx="4040188" cy="494514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8" y="1394818"/>
            <a:ext cx="4041775" cy="491132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885950"/>
            <a:ext cx="4040188" cy="288429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885950"/>
            <a:ext cx="4041775" cy="288429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5191E-C0E3-4A93-A30E-EC0AED580585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4/29/2020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E9D82-D16D-4D79-9FE8-B8208C467D6D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537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305800" cy="85725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5191E-C0E3-4A93-A30E-EC0AED580585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4/29/2020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E9D82-D16D-4D79-9FE8-B8208C467D6D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7045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5191E-C0E3-4A93-A30E-EC0AED580585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4/29/2020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E9D82-D16D-4D79-9FE8-B8208C467D6D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2615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5765"/>
            <a:ext cx="2743200" cy="871538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257300"/>
            <a:ext cx="2743200" cy="3429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257300"/>
            <a:ext cx="5111750" cy="3429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5191E-C0E3-4A93-A30E-EC0AED580585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4/29/2020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E9D82-D16D-4D79-9FE8-B8208C467D6D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033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831058"/>
            <a:ext cx="5257800" cy="30861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4019827"/>
            <a:ext cx="155448" cy="116586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82747"/>
            <a:ext cx="2212848" cy="1186966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21589"/>
            <a:ext cx="2209800" cy="163449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5191E-C0E3-4A93-A30E-EC0AED580585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4/29/2020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4767264"/>
            <a:ext cx="609600" cy="273844"/>
          </a:xfrm>
        </p:spPr>
        <p:txBody>
          <a:bodyPr/>
          <a:lstStyle/>
          <a:p>
            <a:fld id="{5DCE9D82-D16D-4D79-9FE8-B8208C467D6D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899638"/>
            <a:ext cx="4617720" cy="294894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4362450"/>
            <a:ext cx="9163050" cy="7810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4664870"/>
            <a:ext cx="4762500" cy="47863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411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5191E-C0E3-4A93-A30E-EC0AED580585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4/29/2020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E9D82-D16D-4D79-9FE8-B8208C467D6D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036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85801"/>
            <a:ext cx="2057400" cy="3908822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85801"/>
            <a:ext cx="6019800" cy="3908822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5191E-C0E3-4A93-A30E-EC0AED580585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4/29/2020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E9D82-D16D-4D79-9FE8-B8208C467D6D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893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5358"/>
            <a:ext cx="9163050" cy="7810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5358"/>
            <a:ext cx="4762500" cy="47863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51610"/>
            <a:ext cx="8229600" cy="329184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B05191E-C0E3-4A93-A30E-EC0AED580585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4/29/2020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4767264"/>
            <a:ext cx="33528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4767264"/>
            <a:ext cx="7620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DCE9D82-D16D-4D79-9FE8-B8208C467D6D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151806"/>
            <a:ext cx="9180548" cy="486918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2162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jp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5" Type="http://schemas.openxmlformats.org/officeDocument/2006/relationships/image" Target="../media/image14.jpg"/><Relationship Id="rId10" Type="http://schemas.openxmlformats.org/officeDocument/2006/relationships/image" Target="../media/image9.png"/><Relationship Id="rId19" Type="http://schemas.openxmlformats.org/officeDocument/2006/relationships/image" Target="../media/image18.jp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1.png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jpg"/><Relationship Id="rId13" Type="http://schemas.openxmlformats.org/officeDocument/2006/relationships/image" Target="../media/image68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61.jpg"/><Relationship Id="rId11" Type="http://schemas.openxmlformats.org/officeDocument/2006/relationships/image" Target="../media/image66.jp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61.jp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Relationship Id="rId6" Type="http://schemas.openxmlformats.org/officeDocument/2006/relationships/image" Target="../media/image76.jp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jp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Relationship Id="rId6" Type="http://schemas.openxmlformats.org/officeDocument/2006/relationships/image" Target="../media/image82.png"/><Relationship Id="rId5" Type="http://schemas.openxmlformats.org/officeDocument/2006/relationships/image" Target="../media/image81.jpg"/><Relationship Id="rId4" Type="http://schemas.openxmlformats.org/officeDocument/2006/relationships/image" Target="../media/image8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Relationship Id="rId4" Type="http://schemas.openxmlformats.org/officeDocument/2006/relationships/image" Target="../media/image8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g"/><Relationship Id="rId7" Type="http://schemas.openxmlformats.org/officeDocument/2006/relationships/image" Target="../media/image91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Relationship Id="rId6" Type="http://schemas.openxmlformats.org/officeDocument/2006/relationships/image" Target="../media/image90.jpg"/><Relationship Id="rId5" Type="http://schemas.openxmlformats.org/officeDocument/2006/relationships/image" Target="../media/image89.png"/><Relationship Id="rId4" Type="http://schemas.openxmlformats.org/officeDocument/2006/relationships/image" Target="../media/image88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Relationship Id="rId4" Type="http://schemas.openxmlformats.org/officeDocument/2006/relationships/image" Target="../media/image93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18" Type="http://schemas.openxmlformats.org/officeDocument/2006/relationships/image" Target="../media/image107.png"/><Relationship Id="rId3" Type="http://schemas.openxmlformats.org/officeDocument/2006/relationships/image" Target="../media/image94.png"/><Relationship Id="rId21" Type="http://schemas.openxmlformats.org/officeDocument/2006/relationships/image" Target="../media/image110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17" Type="http://schemas.openxmlformats.org/officeDocument/2006/relationships/image" Target="../media/image106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5.png"/><Relationship Id="rId20" Type="http://schemas.openxmlformats.org/officeDocument/2006/relationships/image" Target="../media/image109.png"/><Relationship Id="rId1" Type="http://schemas.openxmlformats.org/officeDocument/2006/relationships/themeOverride" Target="../theme/themeOverride17.xml"/><Relationship Id="rId6" Type="http://schemas.openxmlformats.org/officeDocument/2006/relationships/image" Target="../media/image84.jpg"/><Relationship Id="rId11" Type="http://schemas.openxmlformats.org/officeDocument/2006/relationships/image" Target="../media/image101.png"/><Relationship Id="rId5" Type="http://schemas.openxmlformats.org/officeDocument/2006/relationships/image" Target="../media/image96.png"/><Relationship Id="rId15" Type="http://schemas.openxmlformats.org/officeDocument/2006/relationships/image" Target="../media/image104.png"/><Relationship Id="rId10" Type="http://schemas.openxmlformats.org/officeDocument/2006/relationships/image" Target="../media/image100.png"/><Relationship Id="rId19" Type="http://schemas.openxmlformats.org/officeDocument/2006/relationships/image" Target="../media/image108.png"/><Relationship Id="rId4" Type="http://schemas.openxmlformats.org/officeDocument/2006/relationships/image" Target="../media/image95.png"/><Relationship Id="rId9" Type="http://schemas.openxmlformats.org/officeDocument/2006/relationships/image" Target="../media/image99.png"/><Relationship Id="rId14" Type="http://schemas.openxmlformats.org/officeDocument/2006/relationships/image" Target="../media/image8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111.jpg"/><Relationship Id="rId7" Type="http://schemas.openxmlformats.org/officeDocument/2006/relationships/image" Target="../media/image11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Relationship Id="rId6" Type="http://schemas.openxmlformats.org/officeDocument/2006/relationships/image" Target="../media/image114.png"/><Relationship Id="rId11" Type="http://schemas.openxmlformats.org/officeDocument/2006/relationships/image" Target="../media/image119.png"/><Relationship Id="rId5" Type="http://schemas.openxmlformats.org/officeDocument/2006/relationships/image" Target="../media/image113.png"/><Relationship Id="rId10" Type="http://schemas.openxmlformats.org/officeDocument/2006/relationships/image" Target="../media/image118.png"/><Relationship Id="rId4" Type="http://schemas.openxmlformats.org/officeDocument/2006/relationships/image" Target="../media/image112.png"/><Relationship Id="rId9" Type="http://schemas.openxmlformats.org/officeDocument/2006/relationships/image" Target="../media/image1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685800" y="749195"/>
            <a:ext cx="7010400" cy="2965555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12700">
              <a:spcBef>
                <a:spcPts val="95"/>
              </a:spcBef>
              <a:buClr>
                <a:srgbClr val="FF0000"/>
              </a:buClr>
              <a:buSzPct val="89583"/>
              <a:tabLst>
                <a:tab pos="236854" algn="l"/>
              </a:tabLst>
            </a:pPr>
            <a:r>
              <a:rPr sz="3200" spc="-5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Oracle Transactional Business </a:t>
            </a:r>
            <a:r>
              <a:rPr sz="3200" spc="-5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Intelligence</a:t>
            </a:r>
            <a:r>
              <a:rPr lang="en-US" sz="3200" spc="-5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(OTBI)</a:t>
            </a:r>
            <a:endParaRPr lang="en-US" sz="3200" spc="-5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645160" lvl="1" indent="-229235">
              <a:lnSpc>
                <a:spcPct val="100000"/>
              </a:lnSpc>
              <a:spcBef>
                <a:spcPts val="940"/>
              </a:spcBef>
              <a:buClr>
                <a:srgbClr val="FF1313"/>
              </a:buClr>
              <a:buSzPct val="83333"/>
              <a:buChar char="•"/>
              <a:tabLst>
                <a:tab pos="644525" algn="l"/>
                <a:tab pos="645795" algn="l"/>
              </a:tabLst>
            </a:pPr>
            <a:r>
              <a:rPr sz="1800" spc="-5" dirty="0" smtClean="0">
                <a:latin typeface="Arial"/>
                <a:cs typeface="Arial"/>
              </a:rPr>
              <a:t>Reporting</a:t>
            </a:r>
            <a:r>
              <a:rPr sz="1800" spc="10" dirty="0" smtClean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Content</a:t>
            </a:r>
            <a:endParaRPr sz="1800" dirty="0">
              <a:latin typeface="Arial"/>
              <a:cs typeface="Arial"/>
            </a:endParaRPr>
          </a:p>
          <a:p>
            <a:pPr marL="645160" lvl="1" indent="-229235">
              <a:lnSpc>
                <a:spcPct val="100000"/>
              </a:lnSpc>
              <a:spcBef>
                <a:spcPts val="600"/>
              </a:spcBef>
              <a:buClr>
                <a:srgbClr val="FF1313"/>
              </a:buClr>
              <a:buSzPct val="83333"/>
              <a:buChar char="•"/>
              <a:tabLst>
                <a:tab pos="644525" algn="l"/>
                <a:tab pos="645795" algn="l"/>
              </a:tabLst>
            </a:pPr>
            <a:r>
              <a:rPr sz="1800" spc="-5" dirty="0">
                <a:latin typeface="Arial"/>
                <a:cs typeface="Arial"/>
              </a:rPr>
              <a:t>Report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45" dirty="0" smtClean="0">
                <a:latin typeface="Arial"/>
                <a:cs typeface="Arial"/>
              </a:rPr>
              <a:t>Tool</a:t>
            </a:r>
            <a:r>
              <a:rPr lang="en-US" sz="1800" spc="-45" dirty="0" smtClean="0">
                <a:latin typeface="Arial"/>
                <a:cs typeface="Arial"/>
              </a:rPr>
              <a:t>s</a:t>
            </a:r>
            <a:endParaRPr sz="1800" dirty="0">
              <a:latin typeface="Arial"/>
              <a:cs typeface="Arial"/>
            </a:endParaRPr>
          </a:p>
          <a:p>
            <a:pPr marL="645160" lvl="1" indent="-229235">
              <a:lnSpc>
                <a:spcPct val="100000"/>
              </a:lnSpc>
              <a:spcBef>
                <a:spcPts val="600"/>
              </a:spcBef>
              <a:buClr>
                <a:srgbClr val="FF1313"/>
              </a:buClr>
              <a:buSzPct val="83333"/>
              <a:buChar char="•"/>
              <a:tabLst>
                <a:tab pos="644525" algn="l"/>
                <a:tab pos="645795" algn="l"/>
              </a:tabLst>
            </a:pPr>
            <a:r>
              <a:rPr sz="1800" spc="-5" dirty="0">
                <a:latin typeface="Arial"/>
                <a:cs typeface="Arial"/>
              </a:rPr>
              <a:t>Integration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Fusion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Applications</a:t>
            </a:r>
            <a:endParaRPr sz="1800" dirty="0">
              <a:latin typeface="Arial"/>
              <a:cs typeface="Arial"/>
            </a:endParaRPr>
          </a:p>
          <a:p>
            <a:pPr marL="645160" lvl="1" indent="-229235">
              <a:lnSpc>
                <a:spcPct val="100000"/>
              </a:lnSpc>
              <a:spcBef>
                <a:spcPts val="600"/>
              </a:spcBef>
              <a:buClr>
                <a:srgbClr val="FF1313"/>
              </a:buClr>
              <a:buSzPct val="83333"/>
              <a:buChar char="•"/>
              <a:tabLst>
                <a:tab pos="644525" algn="l"/>
                <a:tab pos="645795" algn="l"/>
              </a:tabLst>
            </a:pPr>
            <a:r>
              <a:rPr sz="1800" spc="-5" dirty="0">
                <a:latin typeface="Arial"/>
                <a:cs typeface="Arial"/>
              </a:rPr>
              <a:t>Embedding </a:t>
            </a:r>
            <a:r>
              <a:rPr sz="1800" dirty="0">
                <a:latin typeface="Arial"/>
                <a:cs typeface="Arial"/>
              </a:rPr>
              <a:t>OTBI </a:t>
            </a:r>
            <a:r>
              <a:rPr sz="1800" spc="-5" dirty="0">
                <a:latin typeface="Arial"/>
                <a:cs typeface="Arial"/>
              </a:rPr>
              <a:t>in Fusion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Applications</a:t>
            </a:r>
            <a:endParaRPr sz="1800" dirty="0">
              <a:latin typeface="Arial"/>
              <a:cs typeface="Arial"/>
            </a:endParaRPr>
          </a:p>
          <a:p>
            <a:pPr marL="645160" lvl="1" indent="-229235">
              <a:lnSpc>
                <a:spcPct val="100000"/>
              </a:lnSpc>
              <a:spcBef>
                <a:spcPts val="600"/>
              </a:spcBef>
              <a:buClr>
                <a:srgbClr val="FF1313"/>
              </a:buClr>
              <a:buSzPct val="83333"/>
              <a:buChar char="•"/>
              <a:tabLst>
                <a:tab pos="644525" algn="l"/>
                <a:tab pos="645795" algn="l"/>
              </a:tabLst>
            </a:pPr>
            <a:r>
              <a:rPr sz="1800" spc="-5" dirty="0">
                <a:latin typeface="Arial"/>
                <a:cs typeface="Arial"/>
              </a:rPr>
              <a:t>What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10" dirty="0">
                <a:latin typeface="Arial"/>
                <a:cs typeface="Arial"/>
              </a:rPr>
              <a:t>New </a:t>
            </a:r>
            <a:r>
              <a:rPr sz="1800" spc="-15" dirty="0">
                <a:latin typeface="Arial"/>
                <a:cs typeface="Arial"/>
              </a:rPr>
              <a:t>with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dirty="0" smtClean="0">
                <a:latin typeface="Arial"/>
                <a:cs typeface="Arial"/>
              </a:rPr>
              <a:t>OTBI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3400" y="717042"/>
            <a:ext cx="4015738" cy="3683508"/>
            <a:chOff x="172212" y="707136"/>
            <a:chExt cx="4466844" cy="3959352"/>
          </a:xfrm>
        </p:grpSpPr>
        <p:sp>
          <p:nvSpPr>
            <p:cNvPr id="3" name="object 3"/>
            <p:cNvSpPr/>
            <p:nvPr/>
          </p:nvSpPr>
          <p:spPr>
            <a:xfrm>
              <a:off x="172212" y="707136"/>
              <a:ext cx="4466844" cy="395935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11074" y="742950"/>
              <a:ext cx="4334510" cy="3827145"/>
            </a:xfrm>
            <a:custGeom>
              <a:avLst/>
              <a:gdLst/>
              <a:ahLst/>
              <a:cxnLst/>
              <a:rect l="l" t="t" r="r" b="b"/>
              <a:pathLst>
                <a:path w="4334510" h="3827145">
                  <a:moveTo>
                    <a:pt x="0" y="637793"/>
                  </a:moveTo>
                  <a:lnTo>
                    <a:pt x="1749" y="590187"/>
                  </a:lnTo>
                  <a:lnTo>
                    <a:pt x="6915" y="543533"/>
                  </a:lnTo>
                  <a:lnTo>
                    <a:pt x="15374" y="497953"/>
                  </a:lnTo>
                  <a:lnTo>
                    <a:pt x="27004" y="453570"/>
                  </a:lnTo>
                  <a:lnTo>
                    <a:pt x="41680" y="410509"/>
                  </a:lnTo>
                  <a:lnTo>
                    <a:pt x="59279" y="368892"/>
                  </a:lnTo>
                  <a:lnTo>
                    <a:pt x="79679" y="328843"/>
                  </a:lnTo>
                  <a:lnTo>
                    <a:pt x="102755" y="290484"/>
                  </a:lnTo>
                  <a:lnTo>
                    <a:pt x="128385" y="253939"/>
                  </a:lnTo>
                  <a:lnTo>
                    <a:pt x="156444" y="219332"/>
                  </a:lnTo>
                  <a:lnTo>
                    <a:pt x="186810" y="186785"/>
                  </a:lnTo>
                  <a:lnTo>
                    <a:pt x="219360" y="156421"/>
                  </a:lnTo>
                  <a:lnTo>
                    <a:pt x="253969" y="128365"/>
                  </a:lnTo>
                  <a:lnTo>
                    <a:pt x="290515" y="102738"/>
                  </a:lnTo>
                  <a:lnTo>
                    <a:pt x="328875" y="79665"/>
                  </a:lnTo>
                  <a:lnTo>
                    <a:pt x="368925" y="59269"/>
                  </a:lnTo>
                  <a:lnTo>
                    <a:pt x="410541" y="41672"/>
                  </a:lnTo>
                  <a:lnTo>
                    <a:pt x="453601" y="26999"/>
                  </a:lnTo>
                  <a:lnTo>
                    <a:pt x="497980" y="15371"/>
                  </a:lnTo>
                  <a:lnTo>
                    <a:pt x="543557" y="6914"/>
                  </a:lnTo>
                  <a:lnTo>
                    <a:pt x="590206" y="1749"/>
                  </a:lnTo>
                  <a:lnTo>
                    <a:pt x="637806" y="0"/>
                  </a:lnTo>
                  <a:lnTo>
                    <a:pt x="3696462" y="0"/>
                  </a:lnTo>
                  <a:lnTo>
                    <a:pt x="3744068" y="1749"/>
                  </a:lnTo>
                  <a:lnTo>
                    <a:pt x="3790722" y="6914"/>
                  </a:lnTo>
                  <a:lnTo>
                    <a:pt x="3836302" y="15371"/>
                  </a:lnTo>
                  <a:lnTo>
                    <a:pt x="3880685" y="26999"/>
                  </a:lnTo>
                  <a:lnTo>
                    <a:pt x="3923746" y="41672"/>
                  </a:lnTo>
                  <a:lnTo>
                    <a:pt x="3965363" y="59269"/>
                  </a:lnTo>
                  <a:lnTo>
                    <a:pt x="4005412" y="79665"/>
                  </a:lnTo>
                  <a:lnTo>
                    <a:pt x="4043771" y="102738"/>
                  </a:lnTo>
                  <a:lnTo>
                    <a:pt x="4080316" y="128365"/>
                  </a:lnTo>
                  <a:lnTo>
                    <a:pt x="4114923" y="156421"/>
                  </a:lnTo>
                  <a:lnTo>
                    <a:pt x="4147470" y="186785"/>
                  </a:lnTo>
                  <a:lnTo>
                    <a:pt x="4177834" y="219332"/>
                  </a:lnTo>
                  <a:lnTo>
                    <a:pt x="4205890" y="253939"/>
                  </a:lnTo>
                  <a:lnTo>
                    <a:pt x="4231517" y="290484"/>
                  </a:lnTo>
                  <a:lnTo>
                    <a:pt x="4254590" y="328843"/>
                  </a:lnTo>
                  <a:lnTo>
                    <a:pt x="4274986" y="368892"/>
                  </a:lnTo>
                  <a:lnTo>
                    <a:pt x="4292583" y="410509"/>
                  </a:lnTo>
                  <a:lnTo>
                    <a:pt x="4307256" y="453570"/>
                  </a:lnTo>
                  <a:lnTo>
                    <a:pt x="4318884" y="497953"/>
                  </a:lnTo>
                  <a:lnTo>
                    <a:pt x="4327341" y="543533"/>
                  </a:lnTo>
                  <a:lnTo>
                    <a:pt x="4332506" y="590187"/>
                  </a:lnTo>
                  <a:lnTo>
                    <a:pt x="4334256" y="637793"/>
                  </a:lnTo>
                  <a:lnTo>
                    <a:pt x="4334256" y="3188957"/>
                  </a:lnTo>
                  <a:lnTo>
                    <a:pt x="4332506" y="3236557"/>
                  </a:lnTo>
                  <a:lnTo>
                    <a:pt x="4327341" y="3283206"/>
                  </a:lnTo>
                  <a:lnTo>
                    <a:pt x="4318884" y="3328783"/>
                  </a:lnTo>
                  <a:lnTo>
                    <a:pt x="4307256" y="3373162"/>
                  </a:lnTo>
                  <a:lnTo>
                    <a:pt x="4292583" y="3416222"/>
                  </a:lnTo>
                  <a:lnTo>
                    <a:pt x="4274986" y="3457838"/>
                  </a:lnTo>
                  <a:lnTo>
                    <a:pt x="4254590" y="3497888"/>
                  </a:lnTo>
                  <a:lnTo>
                    <a:pt x="4231517" y="3536248"/>
                  </a:lnTo>
                  <a:lnTo>
                    <a:pt x="4205890" y="3572794"/>
                  </a:lnTo>
                  <a:lnTo>
                    <a:pt x="4177834" y="3607403"/>
                  </a:lnTo>
                  <a:lnTo>
                    <a:pt x="4147470" y="3639953"/>
                  </a:lnTo>
                  <a:lnTo>
                    <a:pt x="4114923" y="3670319"/>
                  </a:lnTo>
                  <a:lnTo>
                    <a:pt x="4080316" y="3698378"/>
                  </a:lnTo>
                  <a:lnTo>
                    <a:pt x="4043771" y="3724008"/>
                  </a:lnTo>
                  <a:lnTo>
                    <a:pt x="4005412" y="3747084"/>
                  </a:lnTo>
                  <a:lnTo>
                    <a:pt x="3965363" y="3767484"/>
                  </a:lnTo>
                  <a:lnTo>
                    <a:pt x="3923746" y="3785083"/>
                  </a:lnTo>
                  <a:lnTo>
                    <a:pt x="3880685" y="3799759"/>
                  </a:lnTo>
                  <a:lnTo>
                    <a:pt x="3836302" y="3811389"/>
                  </a:lnTo>
                  <a:lnTo>
                    <a:pt x="3790722" y="3819848"/>
                  </a:lnTo>
                  <a:lnTo>
                    <a:pt x="3744068" y="3825014"/>
                  </a:lnTo>
                  <a:lnTo>
                    <a:pt x="3696462" y="3826764"/>
                  </a:lnTo>
                  <a:lnTo>
                    <a:pt x="637806" y="3826764"/>
                  </a:lnTo>
                  <a:lnTo>
                    <a:pt x="590206" y="3825014"/>
                  </a:lnTo>
                  <a:lnTo>
                    <a:pt x="543557" y="3819848"/>
                  </a:lnTo>
                  <a:lnTo>
                    <a:pt x="497980" y="3811389"/>
                  </a:lnTo>
                  <a:lnTo>
                    <a:pt x="453601" y="3799759"/>
                  </a:lnTo>
                  <a:lnTo>
                    <a:pt x="410541" y="3785083"/>
                  </a:lnTo>
                  <a:lnTo>
                    <a:pt x="368925" y="3767484"/>
                  </a:lnTo>
                  <a:lnTo>
                    <a:pt x="328875" y="3747084"/>
                  </a:lnTo>
                  <a:lnTo>
                    <a:pt x="290515" y="3724008"/>
                  </a:lnTo>
                  <a:lnTo>
                    <a:pt x="253969" y="3698378"/>
                  </a:lnTo>
                  <a:lnTo>
                    <a:pt x="219360" y="3670319"/>
                  </a:lnTo>
                  <a:lnTo>
                    <a:pt x="186810" y="3639953"/>
                  </a:lnTo>
                  <a:lnTo>
                    <a:pt x="156444" y="3607403"/>
                  </a:lnTo>
                  <a:lnTo>
                    <a:pt x="128385" y="3572794"/>
                  </a:lnTo>
                  <a:lnTo>
                    <a:pt x="102755" y="3536248"/>
                  </a:lnTo>
                  <a:lnTo>
                    <a:pt x="79679" y="3497888"/>
                  </a:lnTo>
                  <a:lnTo>
                    <a:pt x="59279" y="3457838"/>
                  </a:lnTo>
                  <a:lnTo>
                    <a:pt x="41680" y="3416222"/>
                  </a:lnTo>
                  <a:lnTo>
                    <a:pt x="27004" y="3373162"/>
                  </a:lnTo>
                  <a:lnTo>
                    <a:pt x="15374" y="3328783"/>
                  </a:lnTo>
                  <a:lnTo>
                    <a:pt x="6915" y="3283206"/>
                  </a:lnTo>
                  <a:lnTo>
                    <a:pt x="1749" y="3236557"/>
                  </a:lnTo>
                  <a:lnTo>
                    <a:pt x="0" y="3188957"/>
                  </a:lnTo>
                  <a:lnTo>
                    <a:pt x="0" y="637793"/>
                  </a:lnTo>
                  <a:close/>
                </a:path>
              </a:pathLst>
            </a:custGeom>
            <a:ln w="25908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1019" y="856488"/>
              <a:ext cx="1679448" cy="85191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6072" y="888492"/>
              <a:ext cx="1554480" cy="72694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1500" y="886968"/>
              <a:ext cx="1564005" cy="736600"/>
            </a:xfrm>
            <a:custGeom>
              <a:avLst/>
              <a:gdLst/>
              <a:ahLst/>
              <a:cxnLst/>
              <a:rect l="l" t="t" r="r" b="b"/>
              <a:pathLst>
                <a:path w="1564005" h="736600">
                  <a:moveTo>
                    <a:pt x="0" y="736091"/>
                  </a:moveTo>
                  <a:lnTo>
                    <a:pt x="1563624" y="736091"/>
                  </a:lnTo>
                  <a:lnTo>
                    <a:pt x="1563624" y="0"/>
                  </a:lnTo>
                  <a:lnTo>
                    <a:pt x="0" y="0"/>
                  </a:lnTo>
                  <a:lnTo>
                    <a:pt x="0" y="736091"/>
                  </a:lnTo>
                  <a:close/>
                </a:path>
              </a:pathLst>
            </a:custGeom>
            <a:ln w="914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5895" y="3398519"/>
              <a:ext cx="1996439" cy="79857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50948" y="3430523"/>
              <a:ext cx="1871472" cy="67360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46376" y="3429000"/>
              <a:ext cx="1880870" cy="683260"/>
            </a:xfrm>
            <a:custGeom>
              <a:avLst/>
              <a:gdLst/>
              <a:ahLst/>
              <a:cxnLst/>
              <a:rect l="l" t="t" r="r" b="b"/>
              <a:pathLst>
                <a:path w="1880870" h="683260">
                  <a:moveTo>
                    <a:pt x="0" y="682752"/>
                  </a:moveTo>
                  <a:lnTo>
                    <a:pt x="1880616" y="682752"/>
                  </a:lnTo>
                  <a:lnTo>
                    <a:pt x="1880616" y="0"/>
                  </a:lnTo>
                  <a:lnTo>
                    <a:pt x="0" y="0"/>
                  </a:lnTo>
                  <a:lnTo>
                    <a:pt x="0" y="682752"/>
                  </a:lnTo>
                  <a:close/>
                </a:path>
              </a:pathLst>
            </a:custGeom>
            <a:ln w="914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7304" y="1652016"/>
              <a:ext cx="1652016" cy="123291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62355" y="1684020"/>
              <a:ext cx="1527047" cy="110794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7783" y="1682496"/>
              <a:ext cx="1536700" cy="1117600"/>
            </a:xfrm>
            <a:custGeom>
              <a:avLst/>
              <a:gdLst/>
              <a:ahLst/>
              <a:cxnLst/>
              <a:rect l="l" t="t" r="r" b="b"/>
              <a:pathLst>
                <a:path w="1536700" h="1117600">
                  <a:moveTo>
                    <a:pt x="0" y="1117091"/>
                  </a:moveTo>
                  <a:lnTo>
                    <a:pt x="1536192" y="1117091"/>
                  </a:lnTo>
                  <a:lnTo>
                    <a:pt x="1536192" y="0"/>
                  </a:lnTo>
                  <a:lnTo>
                    <a:pt x="0" y="0"/>
                  </a:lnTo>
                  <a:lnTo>
                    <a:pt x="0" y="1117091"/>
                  </a:lnTo>
                  <a:close/>
                </a:path>
              </a:pathLst>
            </a:custGeom>
            <a:ln w="914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29611" y="859536"/>
              <a:ext cx="1679448" cy="77723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264664" y="891540"/>
              <a:ext cx="1554480" cy="65227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60092" y="890015"/>
              <a:ext cx="1564005" cy="661670"/>
            </a:xfrm>
            <a:custGeom>
              <a:avLst/>
              <a:gdLst/>
              <a:ahLst/>
              <a:cxnLst/>
              <a:rect l="l" t="t" r="r" b="b"/>
              <a:pathLst>
                <a:path w="1564004" h="661669">
                  <a:moveTo>
                    <a:pt x="0" y="661415"/>
                  </a:moveTo>
                  <a:lnTo>
                    <a:pt x="1563624" y="661415"/>
                  </a:lnTo>
                  <a:lnTo>
                    <a:pt x="1563624" y="0"/>
                  </a:lnTo>
                  <a:lnTo>
                    <a:pt x="0" y="0"/>
                  </a:lnTo>
                  <a:lnTo>
                    <a:pt x="0" y="661415"/>
                  </a:lnTo>
                  <a:close/>
                </a:path>
              </a:pathLst>
            </a:custGeom>
            <a:ln w="914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57044" y="1623060"/>
              <a:ext cx="1603247" cy="88239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92095" y="1655063"/>
              <a:ext cx="1478280" cy="7574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87523" y="1653539"/>
              <a:ext cx="1487805" cy="767080"/>
            </a:xfrm>
            <a:custGeom>
              <a:avLst/>
              <a:gdLst/>
              <a:ahLst/>
              <a:cxnLst/>
              <a:rect l="l" t="t" r="r" b="b"/>
              <a:pathLst>
                <a:path w="1487804" h="767080">
                  <a:moveTo>
                    <a:pt x="0" y="766572"/>
                  </a:moveTo>
                  <a:lnTo>
                    <a:pt x="1487424" y="766572"/>
                  </a:lnTo>
                  <a:lnTo>
                    <a:pt x="1487424" y="0"/>
                  </a:lnTo>
                  <a:lnTo>
                    <a:pt x="0" y="0"/>
                  </a:lnTo>
                  <a:lnTo>
                    <a:pt x="0" y="766572"/>
                  </a:lnTo>
                  <a:close/>
                </a:path>
              </a:pathLst>
            </a:custGeom>
            <a:ln w="914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41019" y="2852928"/>
              <a:ext cx="1624584" cy="94945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76072" y="2884932"/>
              <a:ext cx="1499616" cy="82448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1500" y="2883408"/>
              <a:ext cx="1508760" cy="833755"/>
            </a:xfrm>
            <a:custGeom>
              <a:avLst/>
              <a:gdLst/>
              <a:ahLst/>
              <a:cxnLst/>
              <a:rect l="l" t="t" r="r" b="b"/>
              <a:pathLst>
                <a:path w="1508760" h="833754">
                  <a:moveTo>
                    <a:pt x="0" y="833627"/>
                  </a:moveTo>
                  <a:lnTo>
                    <a:pt x="1508760" y="833627"/>
                  </a:lnTo>
                  <a:lnTo>
                    <a:pt x="1508760" y="0"/>
                  </a:lnTo>
                  <a:lnTo>
                    <a:pt x="0" y="0"/>
                  </a:lnTo>
                  <a:lnTo>
                    <a:pt x="0" y="833627"/>
                  </a:lnTo>
                  <a:close/>
                </a:path>
              </a:pathLst>
            </a:custGeom>
            <a:ln w="914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238755" y="2511552"/>
              <a:ext cx="1949195" cy="88391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273807" y="2543555"/>
              <a:ext cx="1824227" cy="758951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269235" y="2542031"/>
              <a:ext cx="1833880" cy="768350"/>
            </a:xfrm>
            <a:custGeom>
              <a:avLst/>
              <a:gdLst/>
              <a:ahLst/>
              <a:cxnLst/>
              <a:rect l="l" t="t" r="r" b="b"/>
              <a:pathLst>
                <a:path w="1833879" h="768350">
                  <a:moveTo>
                    <a:pt x="0" y="768095"/>
                  </a:moveTo>
                  <a:lnTo>
                    <a:pt x="1833372" y="768095"/>
                  </a:lnTo>
                  <a:lnTo>
                    <a:pt x="1833372" y="0"/>
                  </a:lnTo>
                  <a:lnTo>
                    <a:pt x="0" y="0"/>
                  </a:lnTo>
                  <a:lnTo>
                    <a:pt x="0" y="76809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87680" y="3819143"/>
              <a:ext cx="1697736" cy="664464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22731" y="3851148"/>
              <a:ext cx="1572768" cy="539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8159" y="3849624"/>
              <a:ext cx="1582420" cy="548640"/>
            </a:xfrm>
            <a:custGeom>
              <a:avLst/>
              <a:gdLst/>
              <a:ahLst/>
              <a:cxnLst/>
              <a:rect l="l" t="t" r="r" b="b"/>
              <a:pathLst>
                <a:path w="1582420" h="548639">
                  <a:moveTo>
                    <a:pt x="0" y="548640"/>
                  </a:moveTo>
                  <a:lnTo>
                    <a:pt x="1581912" y="548640"/>
                  </a:lnTo>
                  <a:lnTo>
                    <a:pt x="1581912" y="0"/>
                  </a:lnTo>
                  <a:lnTo>
                    <a:pt x="0" y="0"/>
                  </a:lnTo>
                  <a:lnTo>
                    <a:pt x="0" y="54864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/>
          <p:nvPr/>
        </p:nvSpPr>
        <p:spPr>
          <a:xfrm>
            <a:off x="4774312" y="618745"/>
            <a:ext cx="26288" cy="386863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029200" y="1276350"/>
            <a:ext cx="3662045" cy="2382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880" marR="257810" indent="-170815">
              <a:lnSpc>
                <a:spcPct val="100000"/>
              </a:lnSpc>
              <a:spcBef>
                <a:spcPts val="100"/>
              </a:spcBef>
              <a:buClr>
                <a:srgbClr val="FF1313"/>
              </a:buClr>
              <a:buFont typeface="Wingdings"/>
              <a:buChar char=""/>
              <a:tabLst>
                <a:tab pos="183515" algn="l"/>
              </a:tabLst>
            </a:pPr>
            <a:r>
              <a:rPr sz="1800" spc="-5" dirty="0">
                <a:latin typeface="Arial"/>
                <a:cs typeface="Arial"/>
              </a:rPr>
              <a:t>Real-time, self-service </a:t>
            </a:r>
            <a:r>
              <a:rPr sz="1800" spc="-10" dirty="0">
                <a:latin typeface="Arial"/>
                <a:cs typeface="Arial"/>
              </a:rPr>
              <a:t>end </a:t>
            </a:r>
            <a:r>
              <a:rPr sz="1800" spc="-5" dirty="0">
                <a:latin typeface="Arial"/>
                <a:cs typeface="Arial"/>
              </a:rPr>
              <a:t>user  reporting tool </a:t>
            </a:r>
            <a:r>
              <a:rPr sz="1800" dirty="0">
                <a:latin typeface="Arial"/>
                <a:cs typeface="Arial"/>
              </a:rPr>
              <a:t>for </a:t>
            </a:r>
            <a:r>
              <a:rPr sz="1800" spc="-5" dirty="0">
                <a:latin typeface="Arial"/>
                <a:cs typeface="Arial"/>
              </a:rPr>
              <a:t>Fusion  Applications</a:t>
            </a:r>
            <a:endParaRPr sz="1800" dirty="0">
              <a:latin typeface="Arial"/>
              <a:cs typeface="Arial"/>
            </a:endParaRPr>
          </a:p>
          <a:p>
            <a:pPr marL="182880" marR="5080" indent="-170815">
              <a:lnSpc>
                <a:spcPct val="100000"/>
              </a:lnSpc>
              <a:spcBef>
                <a:spcPts val="605"/>
              </a:spcBef>
              <a:buClr>
                <a:srgbClr val="FF1313"/>
              </a:buClr>
              <a:buFont typeface="Wingdings"/>
              <a:buChar char=""/>
              <a:tabLst>
                <a:tab pos="183515" algn="l"/>
              </a:tabLst>
            </a:pPr>
            <a:r>
              <a:rPr sz="1800" spc="-5" dirty="0">
                <a:latin typeface="Arial"/>
                <a:cs typeface="Arial"/>
              </a:rPr>
              <a:t>Seamlessly integrated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Fusion  Applications, support Fusion  extensions</a:t>
            </a:r>
            <a:endParaRPr sz="1800" dirty="0">
              <a:latin typeface="Arial"/>
              <a:cs typeface="Arial"/>
            </a:endParaRPr>
          </a:p>
          <a:p>
            <a:pPr marL="182880" marR="323215" indent="-170815">
              <a:lnSpc>
                <a:spcPct val="100000"/>
              </a:lnSpc>
              <a:spcBef>
                <a:spcPts val="600"/>
              </a:spcBef>
              <a:buClr>
                <a:srgbClr val="FF1313"/>
              </a:buClr>
              <a:buFont typeface="Wingdings"/>
              <a:buChar char=""/>
              <a:tabLst>
                <a:tab pos="183515" algn="l"/>
              </a:tabLst>
            </a:pPr>
            <a:r>
              <a:rPr sz="1800" spc="-5" dirty="0">
                <a:latin typeface="Arial"/>
                <a:cs typeface="Arial"/>
              </a:rPr>
              <a:t>Fully leverage Oracle Business  Intelligence Enterprise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Edition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4800" y="380619"/>
            <a:ext cx="303789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/>
              <a:t>OTBI</a:t>
            </a:r>
            <a:r>
              <a:rPr sz="3200" spc="-55" dirty="0"/>
              <a:t> </a:t>
            </a:r>
            <a:r>
              <a:rPr sz="3200" spc="-5" dirty="0"/>
              <a:t>Features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208534" y="1066419"/>
            <a:ext cx="8554466" cy="4324731"/>
            <a:chOff x="123444" y="708659"/>
            <a:chExt cx="8554466" cy="4324731"/>
          </a:xfrm>
        </p:grpSpPr>
        <p:sp>
          <p:nvSpPr>
            <p:cNvPr id="2" name="object 2"/>
            <p:cNvSpPr/>
            <p:nvPr/>
          </p:nvSpPr>
          <p:spPr>
            <a:xfrm>
              <a:off x="597408" y="4936235"/>
              <a:ext cx="1270" cy="97155"/>
            </a:xfrm>
            <a:custGeom>
              <a:avLst/>
              <a:gdLst/>
              <a:ahLst/>
              <a:cxnLst/>
              <a:rect l="l" t="t" r="r" b="b"/>
              <a:pathLst>
                <a:path w="1270" h="97154">
                  <a:moveTo>
                    <a:pt x="1092" y="0"/>
                  </a:moveTo>
                  <a:lnTo>
                    <a:pt x="0" y="96622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1544" y="1025652"/>
              <a:ext cx="4182110" cy="774700"/>
            </a:xfrm>
            <a:custGeom>
              <a:avLst/>
              <a:gdLst/>
              <a:ahLst/>
              <a:cxnLst/>
              <a:rect l="l" t="t" r="r" b="b"/>
              <a:pathLst>
                <a:path w="4182110" h="774700">
                  <a:moveTo>
                    <a:pt x="0" y="774191"/>
                  </a:moveTo>
                  <a:lnTo>
                    <a:pt x="4181855" y="774191"/>
                  </a:lnTo>
                  <a:lnTo>
                    <a:pt x="4181855" y="0"/>
                  </a:lnTo>
                  <a:lnTo>
                    <a:pt x="0" y="0"/>
                  </a:lnTo>
                  <a:lnTo>
                    <a:pt x="0" y="774191"/>
                  </a:lnTo>
                  <a:close/>
                </a:path>
              </a:pathLst>
            </a:custGeom>
            <a:ln w="9144">
              <a:solidFill>
                <a:srgbClr val="FF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473760" y="1134618"/>
              <a:ext cx="3483610" cy="616194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0" indent="-114300">
                <a:lnSpc>
                  <a:spcPts val="1595"/>
                </a:lnSpc>
                <a:spcBef>
                  <a:spcPts val="105"/>
                </a:spcBef>
                <a:buChar char="•"/>
                <a:tabLst>
                  <a:tab pos="127000" algn="l"/>
                </a:tabLst>
              </a:pPr>
              <a:r>
                <a:rPr sz="1400" spc="-5" dirty="0">
                  <a:latin typeface="Arial"/>
                  <a:cs typeface="Arial"/>
                </a:rPr>
                <a:t>No</a:t>
              </a:r>
              <a:r>
                <a:rPr sz="1400" spc="-15" dirty="0">
                  <a:latin typeface="Arial"/>
                  <a:cs typeface="Arial"/>
                </a:rPr>
                <a:t> </a:t>
              </a:r>
              <a:r>
                <a:rPr sz="1400" dirty="0">
                  <a:latin typeface="Arial"/>
                  <a:cs typeface="Arial"/>
                </a:rPr>
                <a:t>latency</a:t>
              </a:r>
              <a:endParaRPr sz="1400">
                <a:latin typeface="Arial"/>
                <a:cs typeface="Arial"/>
              </a:endParaRPr>
            </a:p>
            <a:p>
              <a:pPr marL="127000" indent="-114300">
                <a:lnSpc>
                  <a:spcPts val="1510"/>
                </a:lnSpc>
                <a:buChar char="•"/>
                <a:tabLst>
                  <a:tab pos="127000" algn="l"/>
                </a:tabLst>
              </a:pPr>
              <a:r>
                <a:rPr sz="1400" spc="-5" dirty="0">
                  <a:latin typeface="Arial"/>
                  <a:cs typeface="Arial"/>
                </a:rPr>
                <a:t>No </a:t>
              </a:r>
              <a:r>
                <a:rPr sz="1400" dirty="0">
                  <a:latin typeface="Arial"/>
                  <a:cs typeface="Arial"/>
                </a:rPr>
                <a:t>persistent data store (other than</a:t>
              </a:r>
              <a:r>
                <a:rPr sz="1400" spc="-225" dirty="0">
                  <a:latin typeface="Arial"/>
                  <a:cs typeface="Arial"/>
                </a:rPr>
                <a:t> </a:t>
              </a:r>
              <a:r>
                <a:rPr sz="1400" spc="-25" dirty="0">
                  <a:latin typeface="Arial"/>
                  <a:cs typeface="Arial"/>
                </a:rPr>
                <a:t>OLTP)</a:t>
              </a:r>
              <a:endParaRPr sz="1400">
                <a:latin typeface="Arial"/>
                <a:cs typeface="Arial"/>
              </a:endParaRPr>
            </a:p>
            <a:p>
              <a:pPr marL="127000" indent="-114300">
                <a:lnSpc>
                  <a:spcPts val="1595"/>
                </a:lnSpc>
                <a:buChar char="•"/>
                <a:tabLst>
                  <a:tab pos="127000" algn="l"/>
                </a:tabLst>
              </a:pPr>
              <a:r>
                <a:rPr sz="1400" dirty="0">
                  <a:latin typeface="Arial"/>
                  <a:cs typeface="Arial"/>
                </a:rPr>
                <a:t>Ad hoc </a:t>
              </a:r>
              <a:r>
                <a:rPr sz="1400" spc="-5" dirty="0">
                  <a:latin typeface="Arial"/>
                  <a:cs typeface="Arial"/>
                </a:rPr>
                <a:t>analysis </a:t>
              </a:r>
              <a:r>
                <a:rPr sz="1400" dirty="0">
                  <a:latin typeface="Arial"/>
                  <a:cs typeface="Arial"/>
                </a:rPr>
                <a:t>using OBIEE</a:t>
              </a:r>
              <a:r>
                <a:rPr sz="1400" spc="-85" dirty="0">
                  <a:latin typeface="Arial"/>
                  <a:cs typeface="Arial"/>
                </a:rPr>
                <a:t> </a:t>
              </a:r>
              <a:r>
                <a:rPr sz="1400" dirty="0">
                  <a:latin typeface="Arial"/>
                  <a:cs typeface="Arial"/>
                </a:rPr>
                <a:t>platform</a:t>
              </a:r>
              <a:endParaRPr sz="1400">
                <a:latin typeface="Arial"/>
                <a:cs typeface="Arial"/>
              </a:endParaRPr>
            </a:p>
          </p:txBody>
        </p:sp>
        <p:grpSp>
          <p:nvGrpSpPr>
            <p:cNvPr id="8" name="object 8"/>
            <p:cNvGrpSpPr/>
            <p:nvPr/>
          </p:nvGrpSpPr>
          <p:grpSpPr>
            <a:xfrm>
              <a:off x="347472" y="723901"/>
              <a:ext cx="3525520" cy="518159"/>
              <a:chOff x="347472" y="723900"/>
              <a:chExt cx="3525520" cy="518159"/>
            </a:xfrm>
          </p:grpSpPr>
          <p:sp>
            <p:nvSpPr>
              <p:cNvPr id="9" name="object 9"/>
              <p:cNvSpPr/>
              <p:nvPr/>
            </p:nvSpPr>
            <p:spPr>
              <a:xfrm>
                <a:off x="347472" y="723900"/>
                <a:ext cx="3525012" cy="489203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" name="object 10"/>
              <p:cNvSpPr/>
              <p:nvPr/>
            </p:nvSpPr>
            <p:spPr>
              <a:xfrm>
                <a:off x="361188" y="729995"/>
                <a:ext cx="3415284" cy="512063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390144" y="743711"/>
                <a:ext cx="3439668" cy="403860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2" name="object 12"/>
            <p:cNvSpPr txBox="1"/>
            <p:nvPr/>
          </p:nvSpPr>
          <p:spPr>
            <a:xfrm>
              <a:off x="513384" y="794385"/>
              <a:ext cx="3111500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b="1" spc="-5" dirty="0">
                  <a:solidFill>
                    <a:srgbClr val="FFFFFF"/>
                  </a:solidFill>
                  <a:latin typeface="Arial"/>
                  <a:cs typeface="Arial"/>
                </a:rPr>
                <a:t>Real </a:t>
              </a:r>
              <a:r>
                <a:rPr sz="1600" b="1" spc="-10" dirty="0">
                  <a:solidFill>
                    <a:srgbClr val="FFFFFF"/>
                  </a:solidFill>
                  <a:latin typeface="Arial"/>
                  <a:cs typeface="Arial"/>
                </a:rPr>
                <a:t>Time </a:t>
              </a:r>
              <a:r>
                <a:rPr sz="1600" b="1" spc="-5" dirty="0">
                  <a:solidFill>
                    <a:srgbClr val="FFFFFF"/>
                  </a:solidFill>
                  <a:latin typeface="Arial"/>
                  <a:cs typeface="Arial"/>
                </a:rPr>
                <a:t>Business Intelligence</a:t>
              </a:r>
              <a:endParaRPr sz="1600" dirty="0">
                <a:latin typeface="Arial"/>
                <a:cs typeface="Arial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61544" y="2180845"/>
              <a:ext cx="4182110" cy="943610"/>
            </a:xfrm>
            <a:custGeom>
              <a:avLst/>
              <a:gdLst/>
              <a:ahLst/>
              <a:cxnLst/>
              <a:rect l="l" t="t" r="r" b="b"/>
              <a:pathLst>
                <a:path w="4182110" h="943610">
                  <a:moveTo>
                    <a:pt x="0" y="943356"/>
                  </a:moveTo>
                  <a:lnTo>
                    <a:pt x="4181855" y="943356"/>
                  </a:lnTo>
                  <a:lnTo>
                    <a:pt x="4181855" y="0"/>
                  </a:lnTo>
                  <a:lnTo>
                    <a:pt x="0" y="0"/>
                  </a:lnTo>
                  <a:lnTo>
                    <a:pt x="0" y="943356"/>
                  </a:lnTo>
                  <a:close/>
                </a:path>
              </a:pathLst>
            </a:custGeom>
            <a:ln w="9144">
              <a:solidFill>
                <a:srgbClr val="FF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473760" y="2290700"/>
              <a:ext cx="3164840" cy="80791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0" indent="-114300">
                <a:lnSpc>
                  <a:spcPts val="1595"/>
                </a:lnSpc>
                <a:spcBef>
                  <a:spcPts val="100"/>
                </a:spcBef>
                <a:buChar char="•"/>
                <a:tabLst>
                  <a:tab pos="127000" algn="l"/>
                </a:tabLst>
              </a:pPr>
              <a:r>
                <a:rPr sz="1400" dirty="0">
                  <a:latin typeface="Arial"/>
                  <a:cs typeface="Arial"/>
                </a:rPr>
                <a:t>A rich library of </a:t>
              </a:r>
              <a:r>
                <a:rPr sz="1400" spc="-5" dirty="0">
                  <a:latin typeface="Arial"/>
                  <a:cs typeface="Arial"/>
                </a:rPr>
                <a:t>delivered</a:t>
              </a:r>
              <a:r>
                <a:rPr sz="1400" spc="-170" dirty="0">
                  <a:latin typeface="Arial"/>
                  <a:cs typeface="Arial"/>
                </a:rPr>
                <a:t> </a:t>
              </a:r>
              <a:r>
                <a:rPr sz="1400" dirty="0">
                  <a:latin typeface="Arial"/>
                  <a:cs typeface="Arial"/>
                </a:rPr>
                <a:t>content</a:t>
              </a:r>
              <a:endParaRPr sz="1400">
                <a:latin typeface="Arial"/>
                <a:cs typeface="Arial"/>
              </a:endParaRPr>
            </a:p>
            <a:p>
              <a:pPr marL="127000" indent="-114300">
                <a:lnSpc>
                  <a:spcPts val="1510"/>
                </a:lnSpc>
                <a:buChar char="•"/>
                <a:tabLst>
                  <a:tab pos="127000" algn="l"/>
                </a:tabLst>
              </a:pPr>
              <a:r>
                <a:rPr sz="1400" dirty="0">
                  <a:latin typeface="Arial"/>
                  <a:cs typeface="Arial"/>
                </a:rPr>
                <a:t>Folder structure similar to Fusion</a:t>
              </a:r>
              <a:r>
                <a:rPr sz="1400" spc="-300" dirty="0">
                  <a:latin typeface="Arial"/>
                  <a:cs typeface="Arial"/>
                </a:rPr>
                <a:t> </a:t>
              </a:r>
              <a:r>
                <a:rPr sz="1400" dirty="0">
                  <a:latin typeface="Arial"/>
                  <a:cs typeface="Arial"/>
                </a:rPr>
                <a:t>Apps</a:t>
              </a:r>
              <a:endParaRPr sz="1400">
                <a:latin typeface="Arial"/>
                <a:cs typeface="Arial"/>
              </a:endParaRPr>
            </a:p>
            <a:p>
              <a:pPr marL="127000" indent="-114300">
                <a:lnSpc>
                  <a:spcPts val="1510"/>
                </a:lnSpc>
                <a:buChar char="•"/>
                <a:tabLst>
                  <a:tab pos="127000" algn="l"/>
                </a:tabLst>
              </a:pPr>
              <a:r>
                <a:rPr sz="1400" spc="-5" dirty="0">
                  <a:latin typeface="Arial"/>
                  <a:cs typeface="Arial"/>
                </a:rPr>
                <a:t>Prebuilt </a:t>
              </a:r>
              <a:r>
                <a:rPr sz="1400" dirty="0">
                  <a:latin typeface="Arial"/>
                  <a:cs typeface="Arial"/>
                </a:rPr>
                <a:t>calculated</a:t>
              </a:r>
              <a:r>
                <a:rPr sz="1400" spc="-70" dirty="0">
                  <a:latin typeface="Arial"/>
                  <a:cs typeface="Arial"/>
                </a:rPr>
                <a:t> </a:t>
              </a:r>
              <a:r>
                <a:rPr sz="1400" dirty="0">
                  <a:latin typeface="Arial"/>
                  <a:cs typeface="Arial"/>
                </a:rPr>
                <a:t>measures</a:t>
              </a:r>
              <a:endParaRPr sz="1400">
                <a:latin typeface="Arial"/>
                <a:cs typeface="Arial"/>
              </a:endParaRPr>
            </a:p>
            <a:p>
              <a:pPr marL="127000" indent="-114300">
                <a:lnSpc>
                  <a:spcPts val="1595"/>
                </a:lnSpc>
                <a:buChar char="•"/>
                <a:tabLst>
                  <a:tab pos="127000" algn="l"/>
                </a:tabLst>
              </a:pPr>
              <a:r>
                <a:rPr sz="1400" spc="-5" dirty="0">
                  <a:latin typeface="Arial"/>
                  <a:cs typeface="Arial"/>
                </a:rPr>
                <a:t>Minimal</a:t>
              </a:r>
              <a:r>
                <a:rPr sz="1400" spc="-25" dirty="0">
                  <a:latin typeface="Arial"/>
                  <a:cs typeface="Arial"/>
                </a:rPr>
                <a:t> </a:t>
              </a:r>
              <a:r>
                <a:rPr sz="1400" spc="-5" dirty="0">
                  <a:latin typeface="Arial"/>
                  <a:cs typeface="Arial"/>
                </a:rPr>
                <a:t>configuration</a:t>
              </a:r>
              <a:endParaRPr sz="1400">
                <a:latin typeface="Arial"/>
                <a:cs typeface="Arial"/>
              </a:endParaRPr>
            </a:p>
          </p:txBody>
        </p:sp>
        <p:grpSp>
          <p:nvGrpSpPr>
            <p:cNvPr id="15" name="object 15"/>
            <p:cNvGrpSpPr/>
            <p:nvPr/>
          </p:nvGrpSpPr>
          <p:grpSpPr>
            <a:xfrm>
              <a:off x="333756" y="1898905"/>
              <a:ext cx="3528060" cy="512445"/>
              <a:chOff x="333756" y="1898904"/>
              <a:chExt cx="3528060" cy="512445"/>
            </a:xfrm>
          </p:grpSpPr>
          <p:sp>
            <p:nvSpPr>
              <p:cNvPr id="16" name="object 16"/>
              <p:cNvSpPr/>
              <p:nvPr/>
            </p:nvSpPr>
            <p:spPr>
              <a:xfrm>
                <a:off x="338328" y="1905000"/>
                <a:ext cx="3523488" cy="463295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333756" y="1898904"/>
                <a:ext cx="1479804" cy="512063"/>
              </a:xfrm>
              <a:prstGeom prst="rect">
                <a:avLst/>
              </a:prstGeom>
              <a:blipFill>
                <a:blip r:embed="rId7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381000" y="1924812"/>
                <a:ext cx="3438144" cy="377951"/>
              </a:xfrm>
              <a:prstGeom prst="rect">
                <a:avLst/>
              </a:prstGeom>
              <a:blipFill>
                <a:blip r:embed="rId8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9" name="object 19"/>
            <p:cNvSpPr txBox="1"/>
            <p:nvPr/>
          </p:nvSpPr>
          <p:spPr>
            <a:xfrm>
              <a:off x="485343" y="1963038"/>
              <a:ext cx="1176020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b="1" spc="-5" dirty="0">
                  <a:solidFill>
                    <a:srgbClr val="FFFFFF"/>
                  </a:solidFill>
                  <a:latin typeface="Arial"/>
                  <a:cs typeface="Arial"/>
                </a:rPr>
                <a:t>Ease of</a:t>
              </a:r>
              <a:r>
                <a:rPr sz="1600" b="1" spc="-65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600" b="1" spc="-5" dirty="0">
                  <a:solidFill>
                    <a:srgbClr val="FFFFFF"/>
                  </a:solidFill>
                  <a:latin typeface="Arial"/>
                  <a:cs typeface="Arial"/>
                </a:rPr>
                <a:t>Use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4495800" y="2080261"/>
              <a:ext cx="4182110" cy="1111250"/>
            </a:xfrm>
            <a:custGeom>
              <a:avLst/>
              <a:gdLst/>
              <a:ahLst/>
              <a:cxnLst/>
              <a:rect l="l" t="t" r="r" b="b"/>
              <a:pathLst>
                <a:path w="4182109" h="1111250">
                  <a:moveTo>
                    <a:pt x="0" y="1110995"/>
                  </a:moveTo>
                  <a:lnTo>
                    <a:pt x="4181855" y="1110995"/>
                  </a:lnTo>
                  <a:lnTo>
                    <a:pt x="4181855" y="0"/>
                  </a:lnTo>
                  <a:lnTo>
                    <a:pt x="0" y="0"/>
                  </a:lnTo>
                  <a:lnTo>
                    <a:pt x="0" y="1110995"/>
                  </a:lnTo>
                  <a:close/>
                </a:path>
              </a:pathLst>
            </a:custGeom>
            <a:ln w="9144">
              <a:solidFill>
                <a:srgbClr val="FF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4808603" y="2188845"/>
              <a:ext cx="3503929" cy="100027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0" indent="-114300">
                <a:lnSpc>
                  <a:spcPts val="1595"/>
                </a:lnSpc>
                <a:spcBef>
                  <a:spcPts val="100"/>
                </a:spcBef>
                <a:buChar char="•"/>
                <a:tabLst>
                  <a:tab pos="127000" algn="l"/>
                </a:tabLst>
              </a:pPr>
              <a:r>
                <a:rPr sz="1400" spc="-10" dirty="0">
                  <a:latin typeface="Arial"/>
                  <a:cs typeface="Arial"/>
                </a:rPr>
                <a:t>Trees </a:t>
              </a:r>
              <a:r>
                <a:rPr sz="1400" dirty="0">
                  <a:latin typeface="Arial"/>
                  <a:cs typeface="Arial"/>
                </a:rPr>
                <a:t>/ hierarchies propagated to BI</a:t>
              </a:r>
              <a:r>
                <a:rPr sz="1400" spc="-190" dirty="0">
                  <a:latin typeface="Arial"/>
                  <a:cs typeface="Arial"/>
                </a:rPr>
                <a:t> </a:t>
              </a:r>
              <a:r>
                <a:rPr sz="1400" dirty="0">
                  <a:latin typeface="Arial"/>
                  <a:cs typeface="Arial"/>
                </a:rPr>
                <a:t>from</a:t>
              </a:r>
              <a:endParaRPr sz="1400">
                <a:latin typeface="Arial"/>
                <a:cs typeface="Arial"/>
              </a:endParaRPr>
            </a:p>
            <a:p>
              <a:pPr marL="127000">
                <a:lnSpc>
                  <a:spcPts val="1515"/>
                </a:lnSpc>
              </a:pPr>
              <a:r>
                <a:rPr sz="1400" dirty="0">
                  <a:latin typeface="Arial"/>
                  <a:cs typeface="Arial"/>
                </a:rPr>
                <a:t>Fusion</a:t>
              </a:r>
              <a:r>
                <a:rPr sz="1400" spc="-110" dirty="0">
                  <a:latin typeface="Arial"/>
                  <a:cs typeface="Arial"/>
                </a:rPr>
                <a:t> </a:t>
              </a:r>
              <a:r>
                <a:rPr sz="1400" dirty="0">
                  <a:latin typeface="Arial"/>
                  <a:cs typeface="Arial"/>
                </a:rPr>
                <a:t>Applications</a:t>
              </a:r>
              <a:endParaRPr sz="1400">
                <a:latin typeface="Arial"/>
                <a:cs typeface="Arial"/>
              </a:endParaRPr>
            </a:p>
            <a:p>
              <a:pPr marL="127000" marR="5080" indent="-114300">
                <a:lnSpc>
                  <a:spcPts val="1510"/>
                </a:lnSpc>
                <a:spcBef>
                  <a:spcPts val="110"/>
                </a:spcBef>
                <a:buChar char="•"/>
                <a:tabLst>
                  <a:tab pos="127000" algn="l"/>
                </a:tabLst>
              </a:pPr>
              <a:r>
                <a:rPr sz="1400" dirty="0">
                  <a:latin typeface="Arial"/>
                  <a:cs typeface="Arial"/>
                </a:rPr>
                <a:t>Unified definition of key entities</a:t>
              </a:r>
              <a:r>
                <a:rPr sz="1400" spc="-185" dirty="0">
                  <a:latin typeface="Arial"/>
                  <a:cs typeface="Arial"/>
                </a:rPr>
                <a:t> </a:t>
              </a:r>
              <a:r>
                <a:rPr sz="1400" spc="-10" dirty="0">
                  <a:latin typeface="Arial"/>
                  <a:cs typeface="Arial"/>
                </a:rPr>
                <a:t>(Customer,  </a:t>
              </a:r>
              <a:r>
                <a:rPr sz="1400" spc="-5" dirty="0">
                  <a:latin typeface="Arial"/>
                  <a:cs typeface="Arial"/>
                </a:rPr>
                <a:t>Invoice, Date, </a:t>
              </a:r>
              <a:r>
                <a:rPr sz="1400" dirty="0">
                  <a:latin typeface="Arial"/>
                  <a:cs typeface="Arial"/>
                </a:rPr>
                <a:t>Account,</a:t>
              </a:r>
              <a:r>
                <a:rPr sz="1400" spc="-160" dirty="0">
                  <a:latin typeface="Arial"/>
                  <a:cs typeface="Arial"/>
                </a:rPr>
                <a:t> </a:t>
              </a:r>
              <a:r>
                <a:rPr sz="1400" dirty="0">
                  <a:latin typeface="Arial"/>
                  <a:cs typeface="Arial"/>
                </a:rPr>
                <a:t>etc.)</a:t>
              </a:r>
              <a:endParaRPr sz="1400">
                <a:latin typeface="Arial"/>
                <a:cs typeface="Arial"/>
              </a:endParaRPr>
            </a:p>
            <a:p>
              <a:pPr marL="127000" indent="-114300">
                <a:lnSpc>
                  <a:spcPts val="1490"/>
                </a:lnSpc>
                <a:buChar char="•"/>
                <a:tabLst>
                  <a:tab pos="127000" algn="l"/>
                </a:tabLst>
              </a:pPr>
              <a:r>
                <a:rPr sz="1400" dirty="0">
                  <a:latin typeface="Arial"/>
                  <a:cs typeface="Arial"/>
                </a:rPr>
                <a:t>Stars </a:t>
              </a:r>
              <a:r>
                <a:rPr sz="1400" spc="-5" dirty="0">
                  <a:latin typeface="Arial"/>
                  <a:cs typeface="Arial"/>
                </a:rPr>
                <a:t>with Common</a:t>
              </a:r>
              <a:r>
                <a:rPr sz="1400" spc="-50" dirty="0">
                  <a:latin typeface="Arial"/>
                  <a:cs typeface="Arial"/>
                </a:rPr>
                <a:t> </a:t>
              </a:r>
              <a:r>
                <a:rPr sz="1400" dirty="0">
                  <a:latin typeface="Arial"/>
                  <a:cs typeface="Arial"/>
                </a:rPr>
                <a:t>dimensions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4486655" y="1004317"/>
              <a:ext cx="4182110" cy="871855"/>
            </a:xfrm>
            <a:custGeom>
              <a:avLst/>
              <a:gdLst/>
              <a:ahLst/>
              <a:cxnLst/>
              <a:rect l="l" t="t" r="r" b="b"/>
              <a:pathLst>
                <a:path w="4182109" h="871855">
                  <a:moveTo>
                    <a:pt x="0" y="871727"/>
                  </a:moveTo>
                  <a:lnTo>
                    <a:pt x="4181855" y="871727"/>
                  </a:lnTo>
                  <a:lnTo>
                    <a:pt x="4181855" y="0"/>
                  </a:lnTo>
                  <a:lnTo>
                    <a:pt x="0" y="0"/>
                  </a:lnTo>
                  <a:lnTo>
                    <a:pt x="0" y="871727"/>
                  </a:lnTo>
                  <a:close/>
                </a:path>
              </a:pathLst>
            </a:custGeom>
            <a:ln w="9144">
              <a:solidFill>
                <a:srgbClr val="FF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4817490" y="1069339"/>
              <a:ext cx="3417570" cy="807272"/>
            </a:xfrm>
            <a:prstGeom prst="rect">
              <a:avLst/>
            </a:prstGeom>
          </p:spPr>
          <p:txBody>
            <a:bodyPr vert="horz" wrap="square" lIns="0" tIns="37465" rIns="0" bIns="0" rtlCol="0">
              <a:spAutoFit/>
            </a:bodyPr>
            <a:lstStyle/>
            <a:p>
              <a:pPr marL="127000" marR="5080" indent="-114300">
                <a:lnSpc>
                  <a:spcPts val="1510"/>
                </a:lnSpc>
                <a:spcBef>
                  <a:spcPts val="295"/>
                </a:spcBef>
                <a:buChar char="•"/>
                <a:tabLst>
                  <a:tab pos="127000" algn="l"/>
                </a:tabLst>
              </a:pPr>
              <a:r>
                <a:rPr sz="1400" dirty="0">
                  <a:latin typeface="Arial"/>
                  <a:cs typeface="Arial"/>
                </a:rPr>
                <a:t>Utilizes Best-in-Class OBIEE </a:t>
              </a:r>
              <a:r>
                <a:rPr sz="1400" spc="-5" dirty="0">
                  <a:latin typeface="Arial"/>
                  <a:cs typeface="Arial"/>
                </a:rPr>
                <a:t>features</a:t>
              </a:r>
              <a:r>
                <a:rPr sz="1400" spc="-145" dirty="0">
                  <a:latin typeface="Arial"/>
                  <a:cs typeface="Arial"/>
                </a:rPr>
                <a:t> </a:t>
              </a:r>
              <a:r>
                <a:rPr sz="1400" dirty="0">
                  <a:latin typeface="Arial"/>
                  <a:cs typeface="Arial"/>
                </a:rPr>
                <a:t>like  alerts, action</a:t>
              </a:r>
              <a:r>
                <a:rPr sz="1400" spc="-75" dirty="0">
                  <a:latin typeface="Arial"/>
                  <a:cs typeface="Arial"/>
                </a:rPr>
                <a:t> </a:t>
              </a:r>
              <a:r>
                <a:rPr sz="1400" spc="-5" dirty="0">
                  <a:latin typeface="Arial"/>
                  <a:cs typeface="Arial"/>
                </a:rPr>
                <a:t>framework</a:t>
              </a:r>
              <a:endParaRPr sz="1400" dirty="0">
                <a:latin typeface="Arial"/>
                <a:cs typeface="Arial"/>
              </a:endParaRPr>
            </a:p>
            <a:p>
              <a:pPr marL="127000" marR="747395" indent="-114300">
                <a:lnSpc>
                  <a:spcPts val="1510"/>
                </a:lnSpc>
                <a:spcBef>
                  <a:spcPts val="5"/>
                </a:spcBef>
                <a:buChar char="•"/>
                <a:tabLst>
                  <a:tab pos="127000" algn="l"/>
                </a:tabLst>
              </a:pPr>
              <a:r>
                <a:rPr sz="1400" spc="-5" dirty="0">
                  <a:latin typeface="Arial"/>
                  <a:cs typeface="Arial"/>
                </a:rPr>
                <a:t>Context </a:t>
              </a:r>
              <a:r>
                <a:rPr sz="1400" dirty="0">
                  <a:latin typeface="Arial"/>
                  <a:cs typeface="Arial"/>
                </a:rPr>
                <a:t>passed </a:t>
              </a:r>
              <a:r>
                <a:rPr sz="1400" spc="-5" dirty="0">
                  <a:latin typeface="Arial"/>
                  <a:cs typeface="Arial"/>
                </a:rPr>
                <a:t>between</a:t>
              </a:r>
              <a:r>
                <a:rPr sz="1400" spc="-100" dirty="0">
                  <a:latin typeface="Arial"/>
                  <a:cs typeface="Arial"/>
                </a:rPr>
                <a:t> </a:t>
              </a:r>
              <a:r>
                <a:rPr sz="1400" dirty="0">
                  <a:latin typeface="Arial"/>
                  <a:cs typeface="Arial"/>
                </a:rPr>
                <a:t>Fusion  Application and</a:t>
              </a:r>
              <a:r>
                <a:rPr sz="1400" spc="-75" dirty="0">
                  <a:latin typeface="Arial"/>
                  <a:cs typeface="Arial"/>
                </a:rPr>
                <a:t> </a:t>
              </a:r>
              <a:r>
                <a:rPr sz="1400" dirty="0">
                  <a:latin typeface="Arial"/>
                  <a:cs typeface="Arial"/>
                </a:rPr>
                <a:t>BI</a:t>
              </a:r>
            </a:p>
          </p:txBody>
        </p:sp>
        <p:grpSp>
          <p:nvGrpSpPr>
            <p:cNvPr id="24" name="object 24"/>
            <p:cNvGrpSpPr/>
            <p:nvPr/>
          </p:nvGrpSpPr>
          <p:grpSpPr>
            <a:xfrm>
              <a:off x="4674110" y="708659"/>
              <a:ext cx="3522345" cy="512445"/>
              <a:chOff x="4674108" y="708659"/>
              <a:chExt cx="3522345" cy="512445"/>
            </a:xfrm>
          </p:grpSpPr>
          <p:sp>
            <p:nvSpPr>
              <p:cNvPr id="25" name="object 25"/>
              <p:cNvSpPr/>
              <p:nvPr/>
            </p:nvSpPr>
            <p:spPr>
              <a:xfrm>
                <a:off x="4674108" y="725423"/>
                <a:ext cx="3521964" cy="443484"/>
              </a:xfrm>
              <a:prstGeom prst="rect">
                <a:avLst/>
              </a:prstGeom>
              <a:blipFill>
                <a:blip r:embed="rId9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26"/>
              <p:cNvSpPr/>
              <p:nvPr/>
            </p:nvSpPr>
            <p:spPr>
              <a:xfrm>
                <a:off x="4683252" y="708659"/>
                <a:ext cx="2017776" cy="512063"/>
              </a:xfrm>
              <a:prstGeom prst="rect">
                <a:avLst/>
              </a:prstGeom>
              <a:blipFill>
                <a:blip r:embed="rId10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" name="object 27"/>
              <p:cNvSpPr/>
              <p:nvPr/>
            </p:nvSpPr>
            <p:spPr>
              <a:xfrm>
                <a:off x="4716780" y="745235"/>
                <a:ext cx="3436620" cy="358139"/>
              </a:xfrm>
              <a:prstGeom prst="rect">
                <a:avLst/>
              </a:prstGeom>
              <a:blipFill>
                <a:blip r:embed="rId11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8" name="object 28"/>
            <p:cNvSpPr txBox="1"/>
            <p:nvPr/>
          </p:nvSpPr>
          <p:spPr>
            <a:xfrm>
              <a:off x="4836414" y="772794"/>
              <a:ext cx="1713864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b="1" spc="-5" dirty="0">
                  <a:solidFill>
                    <a:srgbClr val="FFFFFF"/>
                  </a:solidFill>
                  <a:latin typeface="Arial"/>
                  <a:cs typeface="Arial"/>
                </a:rPr>
                <a:t>Highly</a:t>
              </a:r>
              <a:r>
                <a:rPr sz="1600" b="1" spc="-20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600" b="1" spc="-10" dirty="0">
                  <a:solidFill>
                    <a:srgbClr val="FFFFFF"/>
                  </a:solidFill>
                  <a:latin typeface="Arial"/>
                  <a:cs typeface="Arial"/>
                </a:rPr>
                <a:t>Interactive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4515613" y="3564636"/>
              <a:ext cx="4133215" cy="798830"/>
            </a:xfrm>
            <a:custGeom>
              <a:avLst/>
              <a:gdLst/>
              <a:ahLst/>
              <a:cxnLst/>
              <a:rect l="l" t="t" r="r" b="b"/>
              <a:pathLst>
                <a:path w="4133215" h="798829">
                  <a:moveTo>
                    <a:pt x="0" y="798576"/>
                  </a:moveTo>
                  <a:lnTo>
                    <a:pt x="4133088" y="798576"/>
                  </a:lnTo>
                  <a:lnTo>
                    <a:pt x="4133088" y="0"/>
                  </a:lnTo>
                  <a:lnTo>
                    <a:pt x="0" y="0"/>
                  </a:lnTo>
                  <a:lnTo>
                    <a:pt x="0" y="798576"/>
                  </a:lnTo>
                  <a:close/>
                </a:path>
              </a:pathLst>
            </a:custGeom>
            <a:ln w="9143">
              <a:solidFill>
                <a:srgbClr val="FF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4846065" y="3629025"/>
              <a:ext cx="3462654" cy="614912"/>
            </a:xfrm>
            <a:prstGeom prst="rect">
              <a:avLst/>
            </a:prstGeom>
          </p:spPr>
          <p:txBody>
            <a:bodyPr vert="horz" wrap="square" lIns="0" tIns="37465" rIns="0" bIns="0" rtlCol="0">
              <a:spAutoFit/>
            </a:bodyPr>
            <a:lstStyle/>
            <a:p>
              <a:pPr marL="127000" marR="5080" indent="-114300">
                <a:lnSpc>
                  <a:spcPts val="1510"/>
                </a:lnSpc>
                <a:spcBef>
                  <a:spcPts val="295"/>
                </a:spcBef>
                <a:buChar char="•"/>
                <a:tabLst>
                  <a:tab pos="127000" algn="l"/>
                </a:tabLst>
              </a:pPr>
              <a:r>
                <a:rPr sz="1400" dirty="0">
                  <a:latin typeface="Arial"/>
                  <a:cs typeface="Arial"/>
                </a:rPr>
                <a:t>Architected to </a:t>
              </a:r>
              <a:r>
                <a:rPr sz="1400" spc="-5" dirty="0">
                  <a:latin typeface="Arial"/>
                  <a:cs typeface="Arial"/>
                </a:rPr>
                <a:t>seamlessly leverage</a:t>
              </a:r>
              <a:r>
                <a:rPr sz="1400" spc="-125" dirty="0">
                  <a:latin typeface="Arial"/>
                  <a:cs typeface="Arial"/>
                </a:rPr>
                <a:t> </a:t>
              </a:r>
              <a:r>
                <a:rPr sz="1400" dirty="0">
                  <a:latin typeface="Arial"/>
                  <a:cs typeface="Arial"/>
                </a:rPr>
                <a:t>Fusion  Apps concepts (flex fields, trees, </a:t>
              </a:r>
              <a:r>
                <a:rPr sz="1400" spc="-15" dirty="0">
                  <a:latin typeface="Arial"/>
                  <a:cs typeface="Arial"/>
                </a:rPr>
                <a:t>security,  </a:t>
              </a:r>
              <a:r>
                <a:rPr sz="1400" spc="-5" dirty="0">
                  <a:latin typeface="Arial"/>
                  <a:cs typeface="Arial"/>
                </a:rPr>
                <a:t>multi-language support</a:t>
              </a:r>
              <a:r>
                <a:rPr sz="1400" spc="-85" dirty="0">
                  <a:latin typeface="Arial"/>
                  <a:cs typeface="Arial"/>
                </a:rPr>
                <a:t> </a:t>
              </a:r>
              <a:r>
                <a:rPr sz="1400" dirty="0">
                  <a:latin typeface="Arial"/>
                  <a:cs typeface="Arial"/>
                </a:rPr>
                <a:t>…)</a:t>
              </a:r>
              <a:endParaRPr sz="1400">
                <a:latin typeface="Arial"/>
                <a:cs typeface="Arial"/>
              </a:endParaRPr>
            </a:p>
          </p:txBody>
        </p:sp>
        <p:grpSp>
          <p:nvGrpSpPr>
            <p:cNvPr id="31" name="object 31"/>
            <p:cNvGrpSpPr/>
            <p:nvPr/>
          </p:nvGrpSpPr>
          <p:grpSpPr>
            <a:xfrm>
              <a:off x="4730498" y="3282697"/>
              <a:ext cx="3523615" cy="512445"/>
              <a:chOff x="4730496" y="3282696"/>
              <a:chExt cx="3523615" cy="512445"/>
            </a:xfrm>
          </p:grpSpPr>
          <p:sp>
            <p:nvSpPr>
              <p:cNvPr id="32" name="object 32"/>
              <p:cNvSpPr/>
              <p:nvPr/>
            </p:nvSpPr>
            <p:spPr>
              <a:xfrm>
                <a:off x="4730496" y="3287268"/>
                <a:ext cx="3523488" cy="466344"/>
              </a:xfrm>
              <a:prstGeom prst="rect">
                <a:avLst/>
              </a:prstGeom>
              <a:blipFill>
                <a:blip r:embed="rId1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3" name="object 33"/>
              <p:cNvSpPr/>
              <p:nvPr/>
            </p:nvSpPr>
            <p:spPr>
              <a:xfrm>
                <a:off x="4745736" y="3282696"/>
                <a:ext cx="1342643" cy="512064"/>
              </a:xfrm>
              <a:prstGeom prst="rect">
                <a:avLst/>
              </a:prstGeom>
              <a:blipFill>
                <a:blip r:embed="rId1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4" name="object 34"/>
              <p:cNvSpPr/>
              <p:nvPr/>
            </p:nvSpPr>
            <p:spPr>
              <a:xfrm>
                <a:off x="4773168" y="3307080"/>
                <a:ext cx="3438143" cy="381000"/>
              </a:xfrm>
              <a:prstGeom prst="rect">
                <a:avLst/>
              </a:prstGeom>
              <a:blipFill>
                <a:blip r:embed="rId1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35" name="object 35"/>
            <p:cNvSpPr txBox="1"/>
            <p:nvPr/>
          </p:nvSpPr>
          <p:spPr>
            <a:xfrm>
              <a:off x="4898899" y="3346830"/>
              <a:ext cx="1040765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b="1" spc="-5" dirty="0">
                  <a:solidFill>
                    <a:srgbClr val="FFFFFF"/>
                  </a:solidFill>
                  <a:latin typeface="Arial"/>
                  <a:cs typeface="Arial"/>
                </a:rPr>
                <a:t>Extensible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123444" y="3534156"/>
              <a:ext cx="4229100" cy="867410"/>
            </a:xfrm>
            <a:custGeom>
              <a:avLst/>
              <a:gdLst/>
              <a:ahLst/>
              <a:cxnLst/>
              <a:rect l="l" t="t" r="r" b="b"/>
              <a:pathLst>
                <a:path w="4229100" h="867410">
                  <a:moveTo>
                    <a:pt x="0" y="867156"/>
                  </a:moveTo>
                  <a:lnTo>
                    <a:pt x="4229100" y="867156"/>
                  </a:lnTo>
                  <a:lnTo>
                    <a:pt x="4229100" y="0"/>
                  </a:lnTo>
                  <a:lnTo>
                    <a:pt x="0" y="0"/>
                  </a:lnTo>
                  <a:lnTo>
                    <a:pt x="0" y="867156"/>
                  </a:lnTo>
                  <a:close/>
                </a:path>
              </a:pathLst>
            </a:custGeom>
            <a:ln w="9144">
              <a:solidFill>
                <a:srgbClr val="FF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454253" y="3598927"/>
              <a:ext cx="3158490" cy="80791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0" indent="-114300">
                <a:lnSpc>
                  <a:spcPts val="1595"/>
                </a:lnSpc>
                <a:spcBef>
                  <a:spcPts val="100"/>
                </a:spcBef>
                <a:buChar char="•"/>
                <a:tabLst>
                  <a:tab pos="127000" algn="l"/>
                </a:tabLst>
              </a:pPr>
              <a:r>
                <a:rPr sz="1400" dirty="0">
                  <a:latin typeface="Arial"/>
                  <a:cs typeface="Arial"/>
                </a:rPr>
                <a:t>Single Sign</a:t>
              </a:r>
              <a:r>
                <a:rPr sz="1400" spc="-30" dirty="0">
                  <a:latin typeface="Arial"/>
                  <a:cs typeface="Arial"/>
                </a:rPr>
                <a:t> </a:t>
              </a:r>
              <a:r>
                <a:rPr sz="1400" spc="-5" dirty="0">
                  <a:latin typeface="Arial"/>
                  <a:cs typeface="Arial"/>
                </a:rPr>
                <a:t>on</a:t>
              </a:r>
              <a:endParaRPr sz="1400" dirty="0">
                <a:latin typeface="Arial"/>
                <a:cs typeface="Arial"/>
              </a:endParaRPr>
            </a:p>
            <a:p>
              <a:pPr marL="127000" indent="-114300">
                <a:lnSpc>
                  <a:spcPts val="1510"/>
                </a:lnSpc>
                <a:buChar char="•"/>
                <a:tabLst>
                  <a:tab pos="127000" algn="l"/>
                </a:tabLst>
              </a:pPr>
              <a:r>
                <a:rPr sz="1400" spc="-5" dirty="0">
                  <a:latin typeface="Arial"/>
                  <a:cs typeface="Arial"/>
                </a:rPr>
                <a:t>Leverage </a:t>
              </a:r>
              <a:r>
                <a:rPr sz="1400" dirty="0">
                  <a:latin typeface="Arial"/>
                  <a:cs typeface="Arial"/>
                </a:rPr>
                <a:t>Fusion application</a:t>
              </a:r>
              <a:r>
                <a:rPr sz="1400" spc="-120" dirty="0">
                  <a:latin typeface="Arial"/>
                  <a:cs typeface="Arial"/>
                </a:rPr>
                <a:t> </a:t>
              </a:r>
              <a:r>
                <a:rPr sz="1400" dirty="0">
                  <a:latin typeface="Arial"/>
                  <a:cs typeface="Arial"/>
                </a:rPr>
                <a:t>security</a:t>
              </a:r>
            </a:p>
            <a:p>
              <a:pPr marL="127000" indent="-114300">
                <a:lnSpc>
                  <a:spcPts val="1510"/>
                </a:lnSpc>
                <a:buChar char="•"/>
                <a:tabLst>
                  <a:tab pos="127000" algn="l"/>
                </a:tabLst>
              </a:pPr>
              <a:r>
                <a:rPr sz="1400" spc="-5" dirty="0">
                  <a:latin typeface="Arial"/>
                  <a:cs typeface="Arial"/>
                </a:rPr>
                <a:t>Column </a:t>
              </a:r>
              <a:r>
                <a:rPr sz="1400" dirty="0">
                  <a:latin typeface="Arial"/>
                  <a:cs typeface="Arial"/>
                </a:rPr>
                <a:t>labels propagated to</a:t>
              </a:r>
              <a:r>
                <a:rPr sz="1400" spc="-135" dirty="0">
                  <a:latin typeface="Arial"/>
                  <a:cs typeface="Arial"/>
                </a:rPr>
                <a:t> </a:t>
              </a:r>
              <a:r>
                <a:rPr sz="1400" dirty="0">
                  <a:latin typeface="Arial"/>
                  <a:cs typeface="Arial"/>
                </a:rPr>
                <a:t>reporting</a:t>
              </a:r>
            </a:p>
            <a:p>
              <a:pPr marL="127000" indent="-114300">
                <a:lnSpc>
                  <a:spcPts val="1595"/>
                </a:lnSpc>
                <a:buChar char="•"/>
                <a:tabLst>
                  <a:tab pos="127000" algn="l"/>
                </a:tabLst>
              </a:pPr>
              <a:r>
                <a:rPr sz="1400" dirty="0">
                  <a:latin typeface="Arial"/>
                  <a:cs typeface="Arial"/>
                </a:rPr>
                <a:t>Embedded</a:t>
              </a:r>
              <a:r>
                <a:rPr sz="1400" spc="-40" dirty="0">
                  <a:latin typeface="Arial"/>
                  <a:cs typeface="Arial"/>
                </a:rPr>
                <a:t> </a:t>
              </a:r>
              <a:r>
                <a:rPr sz="1400" dirty="0">
                  <a:latin typeface="Arial"/>
                  <a:cs typeface="Arial"/>
                </a:rPr>
                <a:t>content</a:t>
              </a:r>
            </a:p>
          </p:txBody>
        </p:sp>
        <p:grpSp>
          <p:nvGrpSpPr>
            <p:cNvPr id="38" name="object 38"/>
            <p:cNvGrpSpPr/>
            <p:nvPr/>
          </p:nvGrpSpPr>
          <p:grpSpPr>
            <a:xfrm>
              <a:off x="169165" y="3160777"/>
              <a:ext cx="4064635" cy="512445"/>
              <a:chOff x="169163" y="3160776"/>
              <a:chExt cx="4064635" cy="512445"/>
            </a:xfrm>
          </p:grpSpPr>
          <p:sp>
            <p:nvSpPr>
              <p:cNvPr id="39" name="object 39"/>
              <p:cNvSpPr/>
              <p:nvPr/>
            </p:nvSpPr>
            <p:spPr>
              <a:xfrm>
                <a:off x="169163" y="3163824"/>
                <a:ext cx="4064508" cy="469391"/>
              </a:xfrm>
              <a:prstGeom prst="rect">
                <a:avLst/>
              </a:prstGeom>
              <a:blipFill>
                <a:blip r:embed="rId1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0" name="object 40"/>
              <p:cNvSpPr/>
              <p:nvPr/>
            </p:nvSpPr>
            <p:spPr>
              <a:xfrm>
                <a:off x="184403" y="3160776"/>
                <a:ext cx="3828288" cy="512064"/>
              </a:xfrm>
              <a:prstGeom prst="rect">
                <a:avLst/>
              </a:prstGeom>
              <a:blipFill>
                <a:blip r:embed="rId1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41"/>
              <p:cNvSpPr/>
              <p:nvPr/>
            </p:nvSpPr>
            <p:spPr>
              <a:xfrm>
                <a:off x="211835" y="3183636"/>
                <a:ext cx="3979164" cy="384047"/>
              </a:xfrm>
              <a:prstGeom prst="rect">
                <a:avLst/>
              </a:prstGeom>
              <a:blipFill>
                <a:blip r:embed="rId17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2" name="object 42"/>
            <p:cNvSpPr txBox="1"/>
            <p:nvPr/>
          </p:nvSpPr>
          <p:spPr>
            <a:xfrm>
              <a:off x="335688" y="3224529"/>
              <a:ext cx="3524885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b="1" spc="-5" dirty="0">
                  <a:solidFill>
                    <a:srgbClr val="FFFFFF"/>
                  </a:solidFill>
                  <a:latin typeface="Arial"/>
                  <a:cs typeface="Arial"/>
                </a:rPr>
                <a:t>Integration </a:t>
              </a:r>
              <a:r>
                <a:rPr sz="1600" b="1" spc="5" dirty="0">
                  <a:solidFill>
                    <a:srgbClr val="FFFFFF"/>
                  </a:solidFill>
                  <a:latin typeface="Arial"/>
                  <a:cs typeface="Arial"/>
                </a:rPr>
                <a:t>with </a:t>
              </a:r>
              <a:r>
                <a:rPr sz="1600" b="1" spc="-5" dirty="0">
                  <a:solidFill>
                    <a:srgbClr val="FFFFFF"/>
                  </a:solidFill>
                  <a:latin typeface="Arial"/>
                  <a:cs typeface="Arial"/>
                </a:rPr>
                <a:t>Fusion</a:t>
              </a:r>
              <a:r>
                <a:rPr sz="1600" b="1" spc="-45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600" b="1" spc="-10" dirty="0">
                  <a:solidFill>
                    <a:srgbClr val="FFFFFF"/>
                  </a:solidFill>
                  <a:latin typeface="Arial"/>
                  <a:cs typeface="Arial"/>
                </a:rPr>
                <a:t>Applications</a:t>
              </a:r>
              <a:endParaRPr sz="1600">
                <a:latin typeface="Arial"/>
                <a:cs typeface="Arial"/>
              </a:endParaRPr>
            </a:p>
          </p:txBody>
        </p:sp>
        <p:grpSp>
          <p:nvGrpSpPr>
            <p:cNvPr id="43" name="object 43"/>
            <p:cNvGrpSpPr/>
            <p:nvPr/>
          </p:nvGrpSpPr>
          <p:grpSpPr>
            <a:xfrm>
              <a:off x="4704590" y="1850135"/>
              <a:ext cx="3606165" cy="512445"/>
              <a:chOff x="4704588" y="1850135"/>
              <a:chExt cx="3606165" cy="512445"/>
            </a:xfrm>
          </p:grpSpPr>
          <p:sp>
            <p:nvSpPr>
              <p:cNvPr id="44" name="object 44"/>
              <p:cNvSpPr/>
              <p:nvPr/>
            </p:nvSpPr>
            <p:spPr>
              <a:xfrm>
                <a:off x="4710684" y="1894331"/>
                <a:ext cx="3599688" cy="385571"/>
              </a:xfrm>
              <a:prstGeom prst="rect">
                <a:avLst/>
              </a:prstGeom>
              <a:blipFill>
                <a:blip r:embed="rId18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5" name="object 45"/>
              <p:cNvSpPr/>
              <p:nvPr/>
            </p:nvSpPr>
            <p:spPr>
              <a:xfrm>
                <a:off x="4704588" y="1850135"/>
                <a:ext cx="2980943" cy="512063"/>
              </a:xfrm>
              <a:prstGeom prst="rect">
                <a:avLst/>
              </a:prstGeom>
              <a:blipFill>
                <a:blip r:embed="rId19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6" name="object 46"/>
              <p:cNvSpPr/>
              <p:nvPr/>
            </p:nvSpPr>
            <p:spPr>
              <a:xfrm>
                <a:off x="4753356" y="1914143"/>
                <a:ext cx="3514344" cy="300228"/>
              </a:xfrm>
              <a:prstGeom prst="rect">
                <a:avLst/>
              </a:prstGeom>
              <a:blipFill>
                <a:blip r:embed="rId20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7" name="object 47"/>
            <p:cNvSpPr txBox="1"/>
            <p:nvPr/>
          </p:nvSpPr>
          <p:spPr>
            <a:xfrm>
              <a:off x="4858003" y="1913331"/>
              <a:ext cx="2677160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b="1" spc="-5" dirty="0">
                  <a:solidFill>
                    <a:srgbClr val="FFFFFF"/>
                  </a:solidFill>
                  <a:latin typeface="Arial"/>
                  <a:cs typeface="Arial"/>
                </a:rPr>
                <a:t>Consistent Semantic</a:t>
              </a:r>
              <a:r>
                <a:rPr sz="1600" b="1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600" b="1" spc="-5" dirty="0">
                  <a:solidFill>
                    <a:srgbClr val="FFFFFF"/>
                  </a:solidFill>
                  <a:latin typeface="Arial"/>
                  <a:cs typeface="Arial"/>
                </a:rPr>
                <a:t>Model</a:t>
              </a:r>
              <a:endParaRPr sz="1600">
                <a:latin typeface="Arial"/>
                <a:cs typeface="Arial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247900"/>
            <a:ext cx="9144000" cy="2550160"/>
            <a:chOff x="0" y="2247900"/>
            <a:chExt cx="9144000" cy="2550160"/>
          </a:xfrm>
        </p:grpSpPr>
        <p:sp>
          <p:nvSpPr>
            <p:cNvPr id="3" name="object 3"/>
            <p:cNvSpPr/>
            <p:nvPr/>
          </p:nvSpPr>
          <p:spPr>
            <a:xfrm>
              <a:off x="304027" y="2550033"/>
              <a:ext cx="1865397" cy="11353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9475" y="2247900"/>
              <a:ext cx="1807845" cy="314325"/>
            </a:xfrm>
            <a:custGeom>
              <a:avLst/>
              <a:gdLst/>
              <a:ahLst/>
              <a:cxnLst/>
              <a:rect l="l" t="t" r="r" b="b"/>
              <a:pathLst>
                <a:path w="1807845" h="314325">
                  <a:moveTo>
                    <a:pt x="1807464" y="0"/>
                  </a:moveTo>
                  <a:lnTo>
                    <a:pt x="0" y="0"/>
                  </a:lnTo>
                  <a:lnTo>
                    <a:pt x="0" y="313944"/>
                  </a:lnTo>
                  <a:lnTo>
                    <a:pt x="1807464" y="313944"/>
                  </a:lnTo>
                  <a:lnTo>
                    <a:pt x="1807464" y="0"/>
                  </a:lnTo>
                  <a:close/>
                </a:path>
              </a:pathLst>
            </a:custGeom>
            <a:solidFill>
              <a:srgbClr val="FFFFFF">
                <a:alpha val="7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57200" y="285750"/>
            <a:ext cx="7209331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/>
              <a:t>Fusion BI</a:t>
            </a:r>
            <a:r>
              <a:rPr sz="3200" spc="-95" dirty="0"/>
              <a:t> </a:t>
            </a:r>
            <a:r>
              <a:rPr sz="3200" spc="-5" dirty="0"/>
              <a:t>Architecture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181600" y="3107436"/>
            <a:ext cx="3810000" cy="1334981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102870" rIns="0" bIns="0" rtlCol="0">
            <a:spAutoFit/>
          </a:bodyPr>
          <a:lstStyle/>
          <a:p>
            <a:pPr marL="320675">
              <a:lnSpc>
                <a:spcPct val="100000"/>
              </a:lnSpc>
              <a:spcBef>
                <a:spcPts val="810"/>
              </a:spcBef>
            </a:pPr>
            <a:r>
              <a:rPr sz="1400" dirty="0">
                <a:latin typeface="Arial"/>
                <a:cs typeface="Arial"/>
              </a:rPr>
              <a:t>BI View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Objects:</a:t>
            </a:r>
            <a:endParaRPr sz="1400">
              <a:latin typeface="Arial"/>
              <a:cs typeface="Arial"/>
            </a:endParaRPr>
          </a:p>
          <a:p>
            <a:pPr marL="602615" indent="-282575">
              <a:lnSpc>
                <a:spcPct val="100000"/>
              </a:lnSpc>
              <a:spcBef>
                <a:spcPts val="335"/>
              </a:spcBef>
              <a:buFont typeface="Wingdings"/>
              <a:buChar char=""/>
              <a:tabLst>
                <a:tab pos="602615" algn="l"/>
                <a:tab pos="603250" algn="l"/>
              </a:tabLst>
            </a:pPr>
            <a:r>
              <a:rPr sz="1400" dirty="0">
                <a:latin typeface="Arial"/>
                <a:cs typeface="Arial"/>
              </a:rPr>
              <a:t>Are single source of truth for</a:t>
            </a:r>
            <a:r>
              <a:rPr sz="1400" spc="-1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BI</a:t>
            </a:r>
            <a:endParaRPr sz="1400">
              <a:latin typeface="Arial"/>
              <a:cs typeface="Arial"/>
            </a:endParaRPr>
          </a:p>
          <a:p>
            <a:pPr marL="602615" indent="-282575">
              <a:lnSpc>
                <a:spcPct val="100000"/>
              </a:lnSpc>
              <a:spcBef>
                <a:spcPts val="340"/>
              </a:spcBef>
              <a:buFont typeface="Wingdings"/>
              <a:buChar char=""/>
              <a:tabLst>
                <a:tab pos="602615" algn="l"/>
                <a:tab pos="603250" algn="l"/>
              </a:tabLst>
            </a:pPr>
            <a:r>
              <a:rPr sz="1400" dirty="0">
                <a:latin typeface="Arial"/>
                <a:cs typeface="Arial"/>
              </a:rPr>
              <a:t>Represent facts and</a:t>
            </a:r>
            <a:r>
              <a:rPr sz="1400" spc="-114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dimensions</a:t>
            </a:r>
            <a:endParaRPr sz="1400">
              <a:latin typeface="Arial"/>
              <a:cs typeface="Arial"/>
            </a:endParaRPr>
          </a:p>
          <a:p>
            <a:pPr marL="602615" indent="-282575">
              <a:lnSpc>
                <a:spcPct val="100000"/>
              </a:lnSpc>
              <a:spcBef>
                <a:spcPts val="335"/>
              </a:spcBef>
              <a:buFont typeface="Wingdings"/>
              <a:buChar char=""/>
              <a:tabLst>
                <a:tab pos="602615" algn="l"/>
                <a:tab pos="603250" algn="l"/>
              </a:tabLst>
            </a:pPr>
            <a:r>
              <a:rPr sz="1400" spc="-5" dirty="0">
                <a:latin typeface="Arial"/>
                <a:cs typeface="Arial"/>
              </a:rPr>
              <a:t>Implement </a:t>
            </a:r>
            <a:r>
              <a:rPr sz="1400" dirty="0">
                <a:latin typeface="Arial"/>
                <a:cs typeface="Arial"/>
              </a:rPr>
              <a:t>Fusion data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security</a:t>
            </a:r>
            <a:endParaRPr sz="1400">
              <a:latin typeface="Arial"/>
              <a:cs typeface="Arial"/>
            </a:endParaRPr>
          </a:p>
          <a:p>
            <a:pPr marL="602615" indent="-282575">
              <a:lnSpc>
                <a:spcPct val="100000"/>
              </a:lnSpc>
              <a:spcBef>
                <a:spcPts val="335"/>
              </a:spcBef>
              <a:buFont typeface="Wingdings"/>
              <a:buChar char=""/>
              <a:tabLst>
                <a:tab pos="602615" algn="l"/>
                <a:tab pos="603250" algn="l"/>
              </a:tabLst>
            </a:pPr>
            <a:r>
              <a:rPr sz="1400" dirty="0">
                <a:latin typeface="Arial"/>
                <a:cs typeface="Arial"/>
              </a:rPr>
              <a:t>Handle </a:t>
            </a:r>
            <a:r>
              <a:rPr sz="1400" spc="-5" dirty="0">
                <a:latin typeface="Arial"/>
                <a:cs typeface="Arial"/>
              </a:rPr>
              <a:t>Multi-Language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Support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181600" y="1935480"/>
            <a:ext cx="3831590" cy="98232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81280" rIns="0" bIns="0" rtlCol="0">
            <a:spAutoFit/>
          </a:bodyPr>
          <a:lstStyle/>
          <a:p>
            <a:pPr marL="320675">
              <a:lnSpc>
                <a:spcPct val="100000"/>
              </a:lnSpc>
              <a:spcBef>
                <a:spcPts val="640"/>
              </a:spcBef>
            </a:pPr>
            <a:r>
              <a:rPr sz="1400" dirty="0">
                <a:latin typeface="Arial"/>
                <a:cs typeface="Arial"/>
              </a:rPr>
              <a:t>BI </a:t>
            </a:r>
            <a:r>
              <a:rPr sz="1400" spc="-5" dirty="0">
                <a:latin typeface="Arial"/>
                <a:cs typeface="Arial"/>
              </a:rPr>
              <a:t>Common </a:t>
            </a:r>
            <a:r>
              <a:rPr sz="1400" dirty="0">
                <a:latin typeface="Arial"/>
                <a:cs typeface="Arial"/>
              </a:rPr>
              <a:t>Semantic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Model:</a:t>
            </a:r>
            <a:endParaRPr sz="1400">
              <a:latin typeface="Arial"/>
              <a:cs typeface="Arial"/>
            </a:endParaRPr>
          </a:p>
          <a:p>
            <a:pPr marL="602615" marR="127635" indent="-281940">
              <a:lnSpc>
                <a:spcPct val="100000"/>
              </a:lnSpc>
              <a:spcBef>
                <a:spcPts val="335"/>
              </a:spcBef>
              <a:buFont typeface="Wingdings"/>
              <a:buChar char=""/>
              <a:tabLst>
                <a:tab pos="602615" algn="l"/>
                <a:tab pos="603250" algn="l"/>
              </a:tabLst>
            </a:pPr>
            <a:r>
              <a:rPr sz="1400" dirty="0">
                <a:latin typeface="Arial"/>
                <a:cs typeface="Arial"/>
              </a:rPr>
              <a:t>Supports highly aggregated trending  and real-time transaction listings from</a:t>
            </a:r>
            <a:r>
              <a:rPr sz="1400" spc="-229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  single query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model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7795" y="2427985"/>
            <a:ext cx="14757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ROLAP</a:t>
            </a:r>
            <a:r>
              <a:rPr sz="1600" spc="-8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Queries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99716" y="4062857"/>
            <a:ext cx="2449068" cy="6629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65224" y="4198595"/>
            <a:ext cx="1717039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Carlito"/>
                <a:cs typeface="Carlito"/>
              </a:rPr>
              <a:t>Fusion</a:t>
            </a:r>
            <a:r>
              <a:rPr sz="1400" spc="-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400" dirty="0">
                <a:solidFill>
                  <a:srgbClr val="FFFFFF"/>
                </a:solidFill>
                <a:latin typeface="Carlito"/>
                <a:cs typeface="Carlito"/>
              </a:rPr>
              <a:t>Application</a:t>
            </a:r>
            <a:endParaRPr sz="1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solidFill>
                  <a:srgbClr val="FFFFFF"/>
                </a:solidFill>
                <a:latin typeface="Carlito"/>
                <a:cs typeface="Carlito"/>
              </a:rPr>
              <a:t>Transactional</a:t>
            </a:r>
            <a:r>
              <a:rPr sz="14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rlito"/>
                <a:cs typeface="Carlito"/>
              </a:rPr>
              <a:t>Database</a:t>
            </a:r>
            <a:endParaRPr sz="1400">
              <a:latin typeface="Carlito"/>
              <a:cs typeface="Carli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228090" y="3572128"/>
            <a:ext cx="2837815" cy="495300"/>
            <a:chOff x="2247900" y="3421379"/>
            <a:chExt cx="2837815" cy="495300"/>
          </a:xfrm>
        </p:grpSpPr>
        <p:sp>
          <p:nvSpPr>
            <p:cNvPr id="12" name="object 12"/>
            <p:cNvSpPr/>
            <p:nvPr/>
          </p:nvSpPr>
          <p:spPr>
            <a:xfrm>
              <a:off x="2247900" y="3421379"/>
              <a:ext cx="2837688" cy="4953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73807" y="3447287"/>
              <a:ext cx="2731135" cy="384175"/>
            </a:xfrm>
            <a:custGeom>
              <a:avLst/>
              <a:gdLst/>
              <a:ahLst/>
              <a:cxnLst/>
              <a:rect l="l" t="t" r="r" b="b"/>
              <a:pathLst>
                <a:path w="2731135" h="384175">
                  <a:moveTo>
                    <a:pt x="2667000" y="0"/>
                  </a:moveTo>
                  <a:lnTo>
                    <a:pt x="64008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7"/>
                  </a:lnTo>
                  <a:lnTo>
                    <a:pt x="0" y="320040"/>
                  </a:lnTo>
                  <a:lnTo>
                    <a:pt x="5036" y="344935"/>
                  </a:lnTo>
                  <a:lnTo>
                    <a:pt x="18764" y="365283"/>
                  </a:lnTo>
                  <a:lnTo>
                    <a:pt x="39112" y="379011"/>
                  </a:lnTo>
                  <a:lnTo>
                    <a:pt x="64008" y="384048"/>
                  </a:lnTo>
                  <a:lnTo>
                    <a:pt x="2667000" y="384048"/>
                  </a:lnTo>
                  <a:lnTo>
                    <a:pt x="2691895" y="379011"/>
                  </a:lnTo>
                  <a:lnTo>
                    <a:pt x="2712243" y="365283"/>
                  </a:lnTo>
                  <a:lnTo>
                    <a:pt x="2725971" y="344935"/>
                  </a:lnTo>
                  <a:lnTo>
                    <a:pt x="2731008" y="320040"/>
                  </a:lnTo>
                  <a:lnTo>
                    <a:pt x="2731008" y="64007"/>
                  </a:lnTo>
                  <a:lnTo>
                    <a:pt x="2725971" y="39112"/>
                  </a:lnTo>
                  <a:lnTo>
                    <a:pt x="2712243" y="18764"/>
                  </a:lnTo>
                  <a:lnTo>
                    <a:pt x="2691895" y="5036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FF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21636" y="3497579"/>
              <a:ext cx="2428240" cy="250190"/>
            </a:xfrm>
            <a:custGeom>
              <a:avLst/>
              <a:gdLst/>
              <a:ahLst/>
              <a:cxnLst/>
              <a:rect l="l" t="t" r="r" b="b"/>
              <a:pathLst>
                <a:path w="2428240" h="250189">
                  <a:moveTo>
                    <a:pt x="2427732" y="0"/>
                  </a:moveTo>
                  <a:lnTo>
                    <a:pt x="0" y="0"/>
                  </a:lnTo>
                  <a:lnTo>
                    <a:pt x="0" y="249936"/>
                  </a:lnTo>
                  <a:lnTo>
                    <a:pt x="2427732" y="249936"/>
                  </a:lnTo>
                  <a:lnTo>
                    <a:pt x="2427732" y="0"/>
                  </a:lnTo>
                  <a:close/>
                </a:path>
              </a:pathLst>
            </a:custGeom>
            <a:solidFill>
              <a:srgbClr val="F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401824" y="3648329"/>
            <a:ext cx="242824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BI View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Objects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28600" y="3883025"/>
            <a:ext cx="1514856" cy="9707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75006" y="4191891"/>
            <a:ext cx="1220470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rlito"/>
                <a:cs typeface="Carlito"/>
              </a:rPr>
              <a:t>EBS, </a:t>
            </a:r>
            <a:r>
              <a:rPr sz="1400" spc="-5" dirty="0">
                <a:solidFill>
                  <a:srgbClr val="FFFFFF"/>
                </a:solidFill>
                <a:latin typeface="Carlito"/>
                <a:cs typeface="Carlito"/>
              </a:rPr>
              <a:t>PSFT,</a:t>
            </a:r>
            <a:r>
              <a:rPr sz="1400" spc="-9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rlito"/>
                <a:cs typeface="Carlito"/>
              </a:rPr>
              <a:t>Other</a:t>
            </a:r>
            <a:endParaRPr sz="1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solidFill>
                  <a:srgbClr val="FFFFFF"/>
                </a:solidFill>
                <a:latin typeface="Carlito"/>
                <a:cs typeface="Carlito"/>
              </a:rPr>
              <a:t>non-Oracle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93776" y="2712594"/>
            <a:ext cx="2449068" cy="69341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97128" y="2972131"/>
            <a:ext cx="164338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Carlito"/>
                <a:cs typeface="Carlito"/>
              </a:rPr>
              <a:t>OBIA </a:t>
            </a:r>
            <a:r>
              <a:rPr sz="1400" spc="-5" dirty="0">
                <a:solidFill>
                  <a:srgbClr val="FFFFFF"/>
                </a:solidFill>
                <a:latin typeface="Carlito"/>
                <a:cs typeface="Carlito"/>
              </a:rPr>
              <a:t>Data</a:t>
            </a:r>
            <a:r>
              <a:rPr sz="1400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rlito"/>
                <a:cs typeface="Carlito"/>
              </a:rPr>
              <a:t>Warehouse</a:t>
            </a:r>
            <a:endParaRPr sz="1400">
              <a:latin typeface="Carlito"/>
              <a:cs typeface="Carlito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19307" y="1898044"/>
            <a:ext cx="4845685" cy="496570"/>
            <a:chOff x="339116" y="1747294"/>
            <a:chExt cx="4845685" cy="496570"/>
          </a:xfrm>
        </p:grpSpPr>
        <p:sp>
          <p:nvSpPr>
            <p:cNvPr id="22" name="object 22"/>
            <p:cNvSpPr/>
            <p:nvPr/>
          </p:nvSpPr>
          <p:spPr>
            <a:xfrm>
              <a:off x="339116" y="1747294"/>
              <a:ext cx="4845531" cy="49603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45948" y="1754124"/>
              <a:ext cx="4758055" cy="408940"/>
            </a:xfrm>
            <a:custGeom>
              <a:avLst/>
              <a:gdLst/>
              <a:ahLst/>
              <a:cxnLst/>
              <a:rect l="l" t="t" r="r" b="b"/>
              <a:pathLst>
                <a:path w="4758055" h="408939">
                  <a:moveTo>
                    <a:pt x="4689856" y="0"/>
                  </a:moveTo>
                  <a:lnTo>
                    <a:pt x="68072" y="0"/>
                  </a:lnTo>
                  <a:lnTo>
                    <a:pt x="41576" y="5349"/>
                  </a:lnTo>
                  <a:lnTo>
                    <a:pt x="19939" y="19938"/>
                  </a:lnTo>
                  <a:lnTo>
                    <a:pt x="5349" y="41576"/>
                  </a:lnTo>
                  <a:lnTo>
                    <a:pt x="0" y="68072"/>
                  </a:lnTo>
                  <a:lnTo>
                    <a:pt x="0" y="340359"/>
                  </a:lnTo>
                  <a:lnTo>
                    <a:pt x="5349" y="366855"/>
                  </a:lnTo>
                  <a:lnTo>
                    <a:pt x="19939" y="388492"/>
                  </a:lnTo>
                  <a:lnTo>
                    <a:pt x="41576" y="403082"/>
                  </a:lnTo>
                  <a:lnTo>
                    <a:pt x="68072" y="408431"/>
                  </a:lnTo>
                  <a:lnTo>
                    <a:pt x="4689856" y="408431"/>
                  </a:lnTo>
                  <a:lnTo>
                    <a:pt x="4716351" y="403082"/>
                  </a:lnTo>
                  <a:lnTo>
                    <a:pt x="4737989" y="388493"/>
                  </a:lnTo>
                  <a:lnTo>
                    <a:pt x="4752578" y="366855"/>
                  </a:lnTo>
                  <a:lnTo>
                    <a:pt x="4757928" y="340359"/>
                  </a:lnTo>
                  <a:lnTo>
                    <a:pt x="4757928" y="68072"/>
                  </a:lnTo>
                  <a:lnTo>
                    <a:pt x="4752578" y="41576"/>
                  </a:lnTo>
                  <a:lnTo>
                    <a:pt x="4737989" y="19938"/>
                  </a:lnTo>
                  <a:lnTo>
                    <a:pt x="4716351" y="5349"/>
                  </a:lnTo>
                  <a:lnTo>
                    <a:pt x="4689856" y="0"/>
                  </a:lnTo>
                  <a:close/>
                </a:path>
              </a:pathLst>
            </a:custGeom>
            <a:solidFill>
              <a:srgbClr val="FF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06910" y="1921637"/>
            <a:ext cx="4619625" cy="281486"/>
          </a:xfrm>
          <a:prstGeom prst="rect">
            <a:avLst/>
          </a:prstGeom>
          <a:solidFill>
            <a:srgbClr val="FC0000"/>
          </a:solidFill>
        </p:spPr>
        <p:txBody>
          <a:bodyPr vert="horz" wrap="square" lIns="0" tIns="65404" rIns="0" bIns="0" rtlCol="0">
            <a:spAutoFit/>
          </a:bodyPr>
          <a:lstStyle/>
          <a:p>
            <a:pPr marL="1179195">
              <a:lnSpc>
                <a:spcPct val="100000"/>
              </a:lnSpc>
              <a:spcBef>
                <a:spcPts val="515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BI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Common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Semantic</a:t>
            </a:r>
            <a:r>
              <a:rPr sz="1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endParaRPr sz="1400" dirty="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29056" y="2316353"/>
            <a:ext cx="3069590" cy="1630680"/>
            <a:chOff x="848867" y="2165604"/>
            <a:chExt cx="3069590" cy="1630680"/>
          </a:xfrm>
        </p:grpSpPr>
        <p:sp>
          <p:nvSpPr>
            <p:cNvPr id="26" name="object 26"/>
            <p:cNvSpPr/>
            <p:nvPr/>
          </p:nvSpPr>
          <p:spPr>
            <a:xfrm>
              <a:off x="848867" y="3102864"/>
              <a:ext cx="315468" cy="69342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46467" y="3240786"/>
              <a:ext cx="120650" cy="492759"/>
            </a:xfrm>
            <a:custGeom>
              <a:avLst/>
              <a:gdLst/>
              <a:ahLst/>
              <a:cxnLst/>
              <a:rect l="l" t="t" r="r" b="b"/>
              <a:pathLst>
                <a:path w="120650" h="492760">
                  <a:moveTo>
                    <a:pt x="60134" y="51311"/>
                  </a:moveTo>
                  <a:lnTo>
                    <a:pt x="47180" y="73518"/>
                  </a:lnTo>
                  <a:lnTo>
                    <a:pt x="47180" y="492632"/>
                  </a:lnTo>
                  <a:lnTo>
                    <a:pt x="73088" y="492632"/>
                  </a:lnTo>
                  <a:lnTo>
                    <a:pt x="73088" y="73518"/>
                  </a:lnTo>
                  <a:lnTo>
                    <a:pt x="60134" y="51311"/>
                  </a:lnTo>
                  <a:close/>
                </a:path>
                <a:path w="120650" h="492760">
                  <a:moveTo>
                    <a:pt x="60134" y="0"/>
                  </a:moveTo>
                  <a:lnTo>
                    <a:pt x="3606" y="96900"/>
                  </a:lnTo>
                  <a:lnTo>
                    <a:pt x="0" y="102996"/>
                  </a:lnTo>
                  <a:lnTo>
                    <a:pt x="2082" y="110997"/>
                  </a:lnTo>
                  <a:lnTo>
                    <a:pt x="14452" y="118109"/>
                  </a:lnTo>
                  <a:lnTo>
                    <a:pt x="22377" y="116077"/>
                  </a:lnTo>
                  <a:lnTo>
                    <a:pt x="25984" y="109855"/>
                  </a:lnTo>
                  <a:lnTo>
                    <a:pt x="47180" y="73518"/>
                  </a:lnTo>
                  <a:lnTo>
                    <a:pt x="47180" y="25653"/>
                  </a:lnTo>
                  <a:lnTo>
                    <a:pt x="75099" y="25653"/>
                  </a:lnTo>
                  <a:lnTo>
                    <a:pt x="60134" y="0"/>
                  </a:lnTo>
                  <a:close/>
                </a:path>
                <a:path w="120650" h="492760">
                  <a:moveTo>
                    <a:pt x="75099" y="25653"/>
                  </a:moveTo>
                  <a:lnTo>
                    <a:pt x="73088" y="25653"/>
                  </a:lnTo>
                  <a:lnTo>
                    <a:pt x="73088" y="73518"/>
                  </a:lnTo>
                  <a:lnTo>
                    <a:pt x="94284" y="109855"/>
                  </a:lnTo>
                  <a:lnTo>
                    <a:pt x="97891" y="116077"/>
                  </a:lnTo>
                  <a:lnTo>
                    <a:pt x="105816" y="118109"/>
                  </a:lnTo>
                  <a:lnTo>
                    <a:pt x="118186" y="110997"/>
                  </a:lnTo>
                  <a:lnTo>
                    <a:pt x="120268" y="102996"/>
                  </a:lnTo>
                  <a:lnTo>
                    <a:pt x="116662" y="96900"/>
                  </a:lnTo>
                  <a:lnTo>
                    <a:pt x="75099" y="25653"/>
                  </a:lnTo>
                  <a:close/>
                </a:path>
                <a:path w="120650" h="492760">
                  <a:moveTo>
                    <a:pt x="73088" y="25653"/>
                  </a:moveTo>
                  <a:lnTo>
                    <a:pt x="47180" y="25653"/>
                  </a:lnTo>
                  <a:lnTo>
                    <a:pt x="47180" y="73518"/>
                  </a:lnTo>
                  <a:lnTo>
                    <a:pt x="60134" y="51311"/>
                  </a:lnTo>
                  <a:lnTo>
                    <a:pt x="48945" y="32131"/>
                  </a:lnTo>
                  <a:lnTo>
                    <a:pt x="73088" y="32131"/>
                  </a:lnTo>
                  <a:lnTo>
                    <a:pt x="73088" y="25653"/>
                  </a:lnTo>
                  <a:close/>
                </a:path>
                <a:path w="120650" h="492760">
                  <a:moveTo>
                    <a:pt x="73088" y="32131"/>
                  </a:moveTo>
                  <a:lnTo>
                    <a:pt x="71323" y="32131"/>
                  </a:lnTo>
                  <a:lnTo>
                    <a:pt x="60134" y="51311"/>
                  </a:lnTo>
                  <a:lnTo>
                    <a:pt x="73088" y="73518"/>
                  </a:lnTo>
                  <a:lnTo>
                    <a:pt x="73088" y="32131"/>
                  </a:lnTo>
                  <a:close/>
                </a:path>
                <a:path w="120650" h="492760">
                  <a:moveTo>
                    <a:pt x="71323" y="32131"/>
                  </a:moveTo>
                  <a:lnTo>
                    <a:pt x="48945" y="32131"/>
                  </a:lnTo>
                  <a:lnTo>
                    <a:pt x="60134" y="51311"/>
                  </a:lnTo>
                  <a:lnTo>
                    <a:pt x="71323" y="321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302763" y="3099816"/>
              <a:ext cx="315468" cy="4358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400426" y="3237738"/>
              <a:ext cx="120142" cy="23482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895855" y="2165604"/>
              <a:ext cx="315468" cy="445007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92883" y="2303526"/>
              <a:ext cx="120268" cy="244601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602735" y="2176272"/>
              <a:ext cx="315467" cy="133502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699763" y="2314194"/>
              <a:ext cx="120650" cy="1134745"/>
            </a:xfrm>
            <a:custGeom>
              <a:avLst/>
              <a:gdLst/>
              <a:ahLst/>
              <a:cxnLst/>
              <a:rect l="l" t="t" r="r" b="b"/>
              <a:pathLst>
                <a:path w="120650" h="1134745">
                  <a:moveTo>
                    <a:pt x="60296" y="51380"/>
                  </a:moveTo>
                  <a:lnTo>
                    <a:pt x="47255" y="73637"/>
                  </a:lnTo>
                  <a:lnTo>
                    <a:pt x="44703" y="1134491"/>
                  </a:lnTo>
                  <a:lnTo>
                    <a:pt x="70612" y="1134618"/>
                  </a:lnTo>
                  <a:lnTo>
                    <a:pt x="73163" y="73598"/>
                  </a:lnTo>
                  <a:lnTo>
                    <a:pt x="60296" y="51380"/>
                  </a:lnTo>
                  <a:close/>
                </a:path>
                <a:path w="120650" h="1134745">
                  <a:moveTo>
                    <a:pt x="75327" y="25654"/>
                  </a:moveTo>
                  <a:lnTo>
                    <a:pt x="73278" y="25654"/>
                  </a:lnTo>
                  <a:lnTo>
                    <a:pt x="73186" y="73637"/>
                  </a:lnTo>
                  <a:lnTo>
                    <a:pt x="94234" y="109981"/>
                  </a:lnTo>
                  <a:lnTo>
                    <a:pt x="97916" y="116205"/>
                  </a:lnTo>
                  <a:lnTo>
                    <a:pt x="105790" y="118237"/>
                  </a:lnTo>
                  <a:lnTo>
                    <a:pt x="118237" y="111125"/>
                  </a:lnTo>
                  <a:lnTo>
                    <a:pt x="120269" y="103124"/>
                  </a:lnTo>
                  <a:lnTo>
                    <a:pt x="116712" y="97028"/>
                  </a:lnTo>
                  <a:lnTo>
                    <a:pt x="75327" y="25654"/>
                  </a:lnTo>
                  <a:close/>
                </a:path>
                <a:path w="120650" h="1134745">
                  <a:moveTo>
                    <a:pt x="60451" y="0"/>
                  </a:moveTo>
                  <a:lnTo>
                    <a:pt x="3683" y="96647"/>
                  </a:lnTo>
                  <a:lnTo>
                    <a:pt x="0" y="102869"/>
                  </a:lnTo>
                  <a:lnTo>
                    <a:pt x="2032" y="110870"/>
                  </a:lnTo>
                  <a:lnTo>
                    <a:pt x="8255" y="114426"/>
                  </a:lnTo>
                  <a:lnTo>
                    <a:pt x="14477" y="118110"/>
                  </a:lnTo>
                  <a:lnTo>
                    <a:pt x="22351" y="115950"/>
                  </a:lnTo>
                  <a:lnTo>
                    <a:pt x="26035" y="109855"/>
                  </a:lnTo>
                  <a:lnTo>
                    <a:pt x="47255" y="73637"/>
                  </a:lnTo>
                  <a:lnTo>
                    <a:pt x="47371" y="25654"/>
                  </a:lnTo>
                  <a:lnTo>
                    <a:pt x="75327" y="25654"/>
                  </a:lnTo>
                  <a:lnTo>
                    <a:pt x="60451" y="0"/>
                  </a:lnTo>
                  <a:close/>
                </a:path>
                <a:path w="120650" h="1134745">
                  <a:moveTo>
                    <a:pt x="73278" y="25654"/>
                  </a:moveTo>
                  <a:lnTo>
                    <a:pt x="47371" y="25654"/>
                  </a:lnTo>
                  <a:lnTo>
                    <a:pt x="47255" y="73637"/>
                  </a:lnTo>
                  <a:lnTo>
                    <a:pt x="60296" y="51380"/>
                  </a:lnTo>
                  <a:lnTo>
                    <a:pt x="49149" y="32131"/>
                  </a:lnTo>
                  <a:lnTo>
                    <a:pt x="73263" y="32131"/>
                  </a:lnTo>
                  <a:lnTo>
                    <a:pt x="73278" y="25654"/>
                  </a:lnTo>
                  <a:close/>
                </a:path>
                <a:path w="120650" h="1134745">
                  <a:moveTo>
                    <a:pt x="73263" y="32131"/>
                  </a:moveTo>
                  <a:lnTo>
                    <a:pt x="49149" y="32131"/>
                  </a:lnTo>
                  <a:lnTo>
                    <a:pt x="71500" y="32257"/>
                  </a:lnTo>
                  <a:lnTo>
                    <a:pt x="60296" y="51380"/>
                  </a:lnTo>
                  <a:lnTo>
                    <a:pt x="73163" y="73598"/>
                  </a:lnTo>
                  <a:lnTo>
                    <a:pt x="73263" y="32131"/>
                  </a:lnTo>
                  <a:close/>
                </a:path>
                <a:path w="120650" h="1134745">
                  <a:moveTo>
                    <a:pt x="49149" y="32131"/>
                  </a:moveTo>
                  <a:lnTo>
                    <a:pt x="60296" y="51380"/>
                  </a:lnTo>
                  <a:lnTo>
                    <a:pt x="71500" y="32257"/>
                  </a:lnTo>
                  <a:lnTo>
                    <a:pt x="49149" y="321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370458" y="3515487"/>
            <a:ext cx="39751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ETL</a:t>
            </a:r>
            <a:endParaRPr sz="16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864992" y="2708478"/>
            <a:ext cx="96139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Real-Time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Arial"/>
                <a:cs typeface="Arial"/>
              </a:rPr>
              <a:t>Queries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486072" y="982020"/>
            <a:ext cx="1574453" cy="86355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3865882" y="1051561"/>
            <a:ext cx="818515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550" marR="5080" indent="-70485" algn="just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Ad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ed  Anal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ti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s  (OBIA)</a:t>
            </a:r>
            <a:endParaRPr sz="14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24953" y="972531"/>
            <a:ext cx="1593422" cy="87304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677977" y="1051561"/>
            <a:ext cx="887094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Fusion  E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bedded 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Analytics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906524" y="961518"/>
            <a:ext cx="1630680" cy="932815"/>
            <a:chOff x="1926335" y="810768"/>
            <a:chExt cx="1630680" cy="932815"/>
          </a:xfrm>
        </p:grpSpPr>
        <p:sp>
          <p:nvSpPr>
            <p:cNvPr id="42" name="object 42"/>
            <p:cNvSpPr/>
            <p:nvPr/>
          </p:nvSpPr>
          <p:spPr>
            <a:xfrm>
              <a:off x="1926335" y="810768"/>
              <a:ext cx="1630680" cy="90525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171699" y="836676"/>
              <a:ext cx="1187196" cy="90677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952243" y="836676"/>
              <a:ext cx="1524000" cy="798830"/>
            </a:xfrm>
            <a:custGeom>
              <a:avLst/>
              <a:gdLst/>
              <a:ahLst/>
              <a:cxnLst/>
              <a:rect l="l" t="t" r="r" b="b"/>
              <a:pathLst>
                <a:path w="1524000" h="798830">
                  <a:moveTo>
                    <a:pt x="1390904" y="0"/>
                  </a:moveTo>
                  <a:lnTo>
                    <a:pt x="133095" y="0"/>
                  </a:lnTo>
                  <a:lnTo>
                    <a:pt x="91017" y="6782"/>
                  </a:lnTo>
                  <a:lnTo>
                    <a:pt x="54479" y="25672"/>
                  </a:lnTo>
                  <a:lnTo>
                    <a:pt x="25672" y="54479"/>
                  </a:lnTo>
                  <a:lnTo>
                    <a:pt x="6782" y="91017"/>
                  </a:lnTo>
                  <a:lnTo>
                    <a:pt x="0" y="133096"/>
                  </a:lnTo>
                  <a:lnTo>
                    <a:pt x="0" y="665479"/>
                  </a:lnTo>
                  <a:lnTo>
                    <a:pt x="6782" y="707558"/>
                  </a:lnTo>
                  <a:lnTo>
                    <a:pt x="25672" y="744096"/>
                  </a:lnTo>
                  <a:lnTo>
                    <a:pt x="54479" y="772903"/>
                  </a:lnTo>
                  <a:lnTo>
                    <a:pt x="91017" y="791793"/>
                  </a:lnTo>
                  <a:lnTo>
                    <a:pt x="133095" y="798576"/>
                  </a:lnTo>
                  <a:lnTo>
                    <a:pt x="1390904" y="798576"/>
                  </a:lnTo>
                  <a:lnTo>
                    <a:pt x="1432982" y="791793"/>
                  </a:lnTo>
                  <a:lnTo>
                    <a:pt x="1469520" y="772903"/>
                  </a:lnTo>
                  <a:lnTo>
                    <a:pt x="1498327" y="744096"/>
                  </a:lnTo>
                  <a:lnTo>
                    <a:pt x="1517217" y="707558"/>
                  </a:lnTo>
                  <a:lnTo>
                    <a:pt x="1524000" y="665479"/>
                  </a:lnTo>
                  <a:lnTo>
                    <a:pt x="1524000" y="133096"/>
                  </a:lnTo>
                  <a:lnTo>
                    <a:pt x="1517217" y="91017"/>
                  </a:lnTo>
                  <a:lnTo>
                    <a:pt x="1498327" y="54479"/>
                  </a:lnTo>
                  <a:lnTo>
                    <a:pt x="1469520" y="25672"/>
                  </a:lnTo>
                  <a:lnTo>
                    <a:pt x="1432982" y="6782"/>
                  </a:lnTo>
                  <a:lnTo>
                    <a:pt x="1390904" y="0"/>
                  </a:lnTo>
                  <a:close/>
                </a:path>
              </a:pathLst>
            </a:custGeom>
            <a:solidFill>
              <a:srgbClr val="F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272033" y="1047572"/>
            <a:ext cx="845819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ea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l-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  reporting  (OTBI)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181600" y="752856"/>
            <a:ext cx="3831590" cy="100668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320675">
              <a:lnSpc>
                <a:spcPct val="100000"/>
              </a:lnSpc>
              <a:spcBef>
                <a:spcPts val="229"/>
              </a:spcBef>
            </a:pPr>
            <a:r>
              <a:rPr sz="1400" dirty="0">
                <a:latin typeface="Arial"/>
                <a:cs typeface="Arial"/>
              </a:rPr>
              <a:t>Content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Summary:</a:t>
            </a:r>
            <a:endParaRPr sz="1400" dirty="0">
              <a:latin typeface="Arial"/>
              <a:cs typeface="Arial"/>
            </a:endParaRPr>
          </a:p>
          <a:p>
            <a:pPr marL="602615" indent="-282575">
              <a:lnSpc>
                <a:spcPct val="100000"/>
              </a:lnSpc>
              <a:spcBef>
                <a:spcPts val="340"/>
              </a:spcBef>
              <a:buFont typeface="Wingdings"/>
              <a:buChar char=""/>
              <a:tabLst>
                <a:tab pos="602615" algn="l"/>
                <a:tab pos="603250" algn="l"/>
              </a:tabLst>
            </a:pPr>
            <a:r>
              <a:rPr sz="1400" dirty="0">
                <a:latin typeface="Arial"/>
                <a:cs typeface="Arial"/>
              </a:rPr>
              <a:t>300+ embedded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analytics</a:t>
            </a:r>
            <a:endParaRPr sz="1400" dirty="0">
              <a:latin typeface="Arial"/>
              <a:cs typeface="Arial"/>
            </a:endParaRPr>
          </a:p>
          <a:p>
            <a:pPr marL="602615" indent="-282575">
              <a:lnSpc>
                <a:spcPct val="100000"/>
              </a:lnSpc>
              <a:spcBef>
                <a:spcPts val="340"/>
              </a:spcBef>
              <a:buFont typeface="Wingdings"/>
              <a:buChar char=""/>
              <a:tabLst>
                <a:tab pos="602615" algn="l"/>
                <a:tab pos="603250" algn="l"/>
              </a:tabLst>
            </a:pPr>
            <a:r>
              <a:rPr sz="1400" dirty="0">
                <a:latin typeface="Arial"/>
                <a:cs typeface="Arial"/>
              </a:rPr>
              <a:t>OBIA: 3,000+ reports, 4,000+</a:t>
            </a:r>
            <a:r>
              <a:rPr sz="1400" spc="-1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metrics</a:t>
            </a:r>
          </a:p>
          <a:p>
            <a:pPr marL="602615" indent="-282575">
              <a:lnSpc>
                <a:spcPct val="100000"/>
              </a:lnSpc>
              <a:spcBef>
                <a:spcPts val="335"/>
              </a:spcBef>
              <a:buFont typeface="Wingdings"/>
              <a:buChar char=""/>
              <a:tabLst>
                <a:tab pos="602615" algn="l"/>
                <a:tab pos="603250" algn="l"/>
              </a:tabLst>
            </a:pPr>
            <a:r>
              <a:rPr sz="1400" dirty="0">
                <a:latin typeface="Arial"/>
                <a:cs typeface="Arial"/>
              </a:rPr>
              <a:t>OTBI: </a:t>
            </a:r>
            <a:r>
              <a:rPr sz="1400" spc="-5" dirty="0">
                <a:latin typeface="Arial"/>
                <a:cs typeface="Arial"/>
              </a:rPr>
              <a:t>Covers </a:t>
            </a:r>
            <a:r>
              <a:rPr sz="1400" dirty="0">
                <a:latin typeface="Arial"/>
                <a:cs typeface="Arial"/>
              </a:rPr>
              <a:t>35+ Fusion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Products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71550"/>
            <a:ext cx="9144000" cy="4121150"/>
            <a:chOff x="0" y="676655"/>
            <a:chExt cx="9144000" cy="4121150"/>
          </a:xfrm>
        </p:grpSpPr>
        <p:sp>
          <p:nvSpPr>
            <p:cNvPr id="3" name="object 3"/>
            <p:cNvSpPr/>
            <p:nvPr/>
          </p:nvSpPr>
          <p:spPr>
            <a:xfrm>
              <a:off x="569976" y="676655"/>
              <a:ext cx="5099304" cy="33817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936997" y="1668017"/>
              <a:ext cx="1163320" cy="475615"/>
            </a:xfrm>
            <a:custGeom>
              <a:avLst/>
              <a:gdLst/>
              <a:ahLst/>
              <a:cxnLst/>
              <a:rect l="l" t="t" r="r" b="b"/>
              <a:pathLst>
                <a:path w="1163320" h="475614">
                  <a:moveTo>
                    <a:pt x="0" y="79248"/>
                  </a:moveTo>
                  <a:lnTo>
                    <a:pt x="6221" y="48381"/>
                  </a:lnTo>
                  <a:lnTo>
                    <a:pt x="23193" y="23193"/>
                  </a:lnTo>
                  <a:lnTo>
                    <a:pt x="48381" y="6221"/>
                  </a:lnTo>
                  <a:lnTo>
                    <a:pt x="79248" y="0"/>
                  </a:lnTo>
                  <a:lnTo>
                    <a:pt x="1083564" y="0"/>
                  </a:lnTo>
                  <a:lnTo>
                    <a:pt x="1114430" y="6221"/>
                  </a:lnTo>
                  <a:lnTo>
                    <a:pt x="1139618" y="23193"/>
                  </a:lnTo>
                  <a:lnTo>
                    <a:pt x="1156590" y="48381"/>
                  </a:lnTo>
                  <a:lnTo>
                    <a:pt x="1162812" y="79248"/>
                  </a:lnTo>
                  <a:lnTo>
                    <a:pt x="1162812" y="396240"/>
                  </a:lnTo>
                  <a:lnTo>
                    <a:pt x="1156590" y="427106"/>
                  </a:lnTo>
                  <a:lnTo>
                    <a:pt x="1139618" y="452294"/>
                  </a:lnTo>
                  <a:lnTo>
                    <a:pt x="1114430" y="469266"/>
                  </a:lnTo>
                  <a:lnTo>
                    <a:pt x="1083564" y="475488"/>
                  </a:lnTo>
                  <a:lnTo>
                    <a:pt x="79248" y="475488"/>
                  </a:lnTo>
                  <a:lnTo>
                    <a:pt x="48381" y="469266"/>
                  </a:lnTo>
                  <a:lnTo>
                    <a:pt x="23193" y="452294"/>
                  </a:lnTo>
                  <a:lnTo>
                    <a:pt x="6221" y="427106"/>
                  </a:lnTo>
                  <a:lnTo>
                    <a:pt x="0" y="396240"/>
                  </a:lnTo>
                  <a:lnTo>
                    <a:pt x="0" y="79248"/>
                  </a:lnTo>
                  <a:close/>
                </a:path>
              </a:pathLst>
            </a:custGeom>
            <a:ln w="25908">
              <a:solidFill>
                <a:srgbClr val="FF13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2835" y="3034283"/>
              <a:ext cx="3317748" cy="15895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28744" y="3060191"/>
              <a:ext cx="3211068" cy="148285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33400" y="285750"/>
            <a:ext cx="6648628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Common Semantic</a:t>
            </a:r>
            <a:r>
              <a:rPr sz="2800" spc="-30" dirty="0"/>
              <a:t> </a:t>
            </a:r>
            <a:r>
              <a:rPr sz="2800" spc="-10" dirty="0"/>
              <a:t>Layer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24600" y="819150"/>
            <a:ext cx="2223770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3510">
              <a:lnSpc>
                <a:spcPct val="100000"/>
              </a:lnSpc>
              <a:spcBef>
                <a:spcPts val="100"/>
              </a:spcBef>
              <a:buClr>
                <a:srgbClr val="FF1313"/>
              </a:buClr>
              <a:buChar char="•"/>
              <a:tabLst>
                <a:tab pos="156210" algn="l"/>
              </a:tabLst>
            </a:pPr>
            <a:r>
              <a:rPr sz="1800" spc="-5" dirty="0">
                <a:latin typeface="Arial"/>
                <a:cs typeface="Arial"/>
              </a:rPr>
              <a:t>Common </a:t>
            </a:r>
            <a:r>
              <a:rPr sz="1800" dirty="0">
                <a:latin typeface="Arial"/>
                <a:cs typeface="Arial"/>
              </a:rPr>
              <a:t>BI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Catalog</a:t>
            </a:r>
            <a:endParaRPr sz="1800" dirty="0">
              <a:latin typeface="Arial"/>
              <a:cs typeface="Arial"/>
            </a:endParaRPr>
          </a:p>
          <a:p>
            <a:pPr marL="155575" indent="-143510">
              <a:lnSpc>
                <a:spcPct val="100000"/>
              </a:lnSpc>
              <a:buClr>
                <a:srgbClr val="FF1313"/>
              </a:buClr>
              <a:buChar char="•"/>
              <a:tabLst>
                <a:tab pos="156210" algn="l"/>
              </a:tabLst>
            </a:pPr>
            <a:r>
              <a:rPr sz="1800" spc="-5" dirty="0">
                <a:latin typeface="Arial"/>
                <a:cs typeface="Arial"/>
              </a:rPr>
              <a:t>3 </a:t>
            </a:r>
            <a:r>
              <a:rPr sz="1800" spc="-10" dirty="0">
                <a:latin typeface="Arial"/>
                <a:cs typeface="Arial"/>
              </a:rPr>
              <a:t>layers:</a:t>
            </a:r>
            <a:endParaRPr sz="1800" dirty="0">
              <a:latin typeface="Arial"/>
              <a:cs typeface="Arial"/>
            </a:endParaRPr>
          </a:p>
          <a:p>
            <a:pPr marL="550545" lvl="1" indent="-81280">
              <a:lnSpc>
                <a:spcPct val="100000"/>
              </a:lnSpc>
              <a:buClr>
                <a:srgbClr val="FF1313"/>
              </a:buClr>
              <a:buSzPct val="94444"/>
              <a:buChar char="•"/>
              <a:tabLst>
                <a:tab pos="551180" algn="l"/>
              </a:tabLst>
            </a:pPr>
            <a:r>
              <a:rPr sz="1800" spc="-5" dirty="0">
                <a:latin typeface="Arial"/>
                <a:cs typeface="Arial"/>
              </a:rPr>
              <a:t>Presentation</a:t>
            </a:r>
            <a:endParaRPr sz="1800" dirty="0">
              <a:latin typeface="Arial"/>
              <a:cs typeface="Arial"/>
            </a:endParaRPr>
          </a:p>
          <a:p>
            <a:pPr marL="550545" lvl="1" indent="-81280">
              <a:lnSpc>
                <a:spcPct val="100000"/>
              </a:lnSpc>
              <a:buClr>
                <a:srgbClr val="FF1313"/>
              </a:buClr>
              <a:buSzPct val="94444"/>
              <a:buChar char="•"/>
              <a:tabLst>
                <a:tab pos="551180" algn="l"/>
              </a:tabLst>
            </a:pPr>
            <a:r>
              <a:rPr sz="1800" spc="-10" dirty="0">
                <a:latin typeface="Arial"/>
                <a:cs typeface="Arial"/>
              </a:rPr>
              <a:t>Logical</a:t>
            </a:r>
            <a:endParaRPr sz="1800" dirty="0">
              <a:latin typeface="Arial"/>
              <a:cs typeface="Arial"/>
            </a:endParaRPr>
          </a:p>
          <a:p>
            <a:pPr marL="550545" lvl="1" indent="-81280">
              <a:lnSpc>
                <a:spcPct val="100000"/>
              </a:lnSpc>
              <a:buClr>
                <a:srgbClr val="FF1313"/>
              </a:buClr>
              <a:buSzPct val="94444"/>
              <a:buChar char="•"/>
              <a:tabLst>
                <a:tab pos="551180" algn="l"/>
              </a:tabLst>
            </a:pPr>
            <a:r>
              <a:rPr sz="1800" spc="-10" dirty="0">
                <a:latin typeface="Arial"/>
                <a:cs typeface="Arial"/>
              </a:rPr>
              <a:t>Physical</a:t>
            </a:r>
            <a:endParaRPr sz="1800" dirty="0">
              <a:latin typeface="Arial"/>
              <a:cs typeface="Arial"/>
            </a:endParaRPr>
          </a:p>
          <a:p>
            <a:pPr marL="12700" marR="40005">
              <a:lnSpc>
                <a:spcPct val="100000"/>
              </a:lnSpc>
              <a:buClr>
                <a:srgbClr val="FF1313"/>
              </a:buClr>
              <a:buChar char="•"/>
              <a:tabLst>
                <a:tab pos="156210" algn="l"/>
              </a:tabLst>
            </a:pPr>
            <a:r>
              <a:rPr sz="1800" spc="-5" dirty="0">
                <a:latin typeface="Arial"/>
                <a:cs typeface="Arial"/>
              </a:rPr>
              <a:t>Connection pools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  </a:t>
            </a:r>
            <a:r>
              <a:rPr sz="1800" spc="-5" dirty="0">
                <a:latin typeface="Arial"/>
                <a:cs typeface="Arial"/>
              </a:rPr>
              <a:t>Fusion Application  </a:t>
            </a:r>
            <a:r>
              <a:rPr sz="1800" spc="-10" dirty="0">
                <a:latin typeface="Arial"/>
                <a:cs typeface="Arial"/>
              </a:rPr>
              <a:t>Weblogic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Servers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52400" y="757427"/>
            <a:ext cx="9144000" cy="4269105"/>
            <a:chOff x="0" y="528827"/>
            <a:chExt cx="9144000" cy="4269105"/>
          </a:xfrm>
        </p:grpSpPr>
        <p:sp>
          <p:nvSpPr>
            <p:cNvPr id="3" name="object 3"/>
            <p:cNvSpPr/>
            <p:nvPr/>
          </p:nvSpPr>
          <p:spPr>
            <a:xfrm>
              <a:off x="659891" y="528827"/>
              <a:ext cx="2919984" cy="416052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250819" y="742187"/>
              <a:ext cx="2566670" cy="379730"/>
            </a:xfrm>
            <a:custGeom>
              <a:avLst/>
              <a:gdLst/>
              <a:ahLst/>
              <a:cxnLst/>
              <a:rect l="l" t="t" r="r" b="b"/>
              <a:pathLst>
                <a:path w="2566670" h="379730">
                  <a:moveTo>
                    <a:pt x="0" y="10287"/>
                  </a:moveTo>
                  <a:lnTo>
                    <a:pt x="786257" y="158114"/>
                  </a:lnTo>
                  <a:lnTo>
                    <a:pt x="786257" y="316229"/>
                  </a:lnTo>
                  <a:lnTo>
                    <a:pt x="791227" y="340846"/>
                  </a:lnTo>
                  <a:lnTo>
                    <a:pt x="804783" y="360949"/>
                  </a:lnTo>
                  <a:lnTo>
                    <a:pt x="824886" y="374505"/>
                  </a:lnTo>
                  <a:lnTo>
                    <a:pt x="849503" y="379475"/>
                  </a:lnTo>
                  <a:lnTo>
                    <a:pt x="2503043" y="379475"/>
                  </a:lnTo>
                  <a:lnTo>
                    <a:pt x="2527659" y="374505"/>
                  </a:lnTo>
                  <a:lnTo>
                    <a:pt x="2547762" y="360949"/>
                  </a:lnTo>
                  <a:lnTo>
                    <a:pt x="2561318" y="340846"/>
                  </a:lnTo>
                  <a:lnTo>
                    <a:pt x="2566289" y="316229"/>
                  </a:lnTo>
                  <a:lnTo>
                    <a:pt x="2566289" y="63246"/>
                  </a:lnTo>
                  <a:lnTo>
                    <a:pt x="786257" y="63246"/>
                  </a:lnTo>
                  <a:lnTo>
                    <a:pt x="0" y="10287"/>
                  </a:lnTo>
                  <a:close/>
                </a:path>
                <a:path w="2566670" h="379730">
                  <a:moveTo>
                    <a:pt x="2503043" y="0"/>
                  </a:moveTo>
                  <a:lnTo>
                    <a:pt x="849503" y="0"/>
                  </a:lnTo>
                  <a:lnTo>
                    <a:pt x="824886" y="4970"/>
                  </a:lnTo>
                  <a:lnTo>
                    <a:pt x="804783" y="18526"/>
                  </a:lnTo>
                  <a:lnTo>
                    <a:pt x="791227" y="38629"/>
                  </a:lnTo>
                  <a:lnTo>
                    <a:pt x="786257" y="63246"/>
                  </a:lnTo>
                  <a:lnTo>
                    <a:pt x="2566289" y="63246"/>
                  </a:lnTo>
                  <a:lnTo>
                    <a:pt x="2561318" y="38629"/>
                  </a:lnTo>
                  <a:lnTo>
                    <a:pt x="2547762" y="18526"/>
                  </a:lnTo>
                  <a:lnTo>
                    <a:pt x="2527659" y="4970"/>
                  </a:lnTo>
                  <a:lnTo>
                    <a:pt x="2503043" y="0"/>
                  </a:lnTo>
                  <a:close/>
                </a:path>
              </a:pathLst>
            </a:custGeom>
            <a:solidFill>
              <a:srgbClr val="FF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50819" y="742187"/>
              <a:ext cx="2566670" cy="379730"/>
            </a:xfrm>
            <a:custGeom>
              <a:avLst/>
              <a:gdLst/>
              <a:ahLst/>
              <a:cxnLst/>
              <a:rect l="l" t="t" r="r" b="b"/>
              <a:pathLst>
                <a:path w="2566670" h="379730">
                  <a:moveTo>
                    <a:pt x="786257" y="63246"/>
                  </a:moveTo>
                  <a:lnTo>
                    <a:pt x="791227" y="38629"/>
                  </a:lnTo>
                  <a:lnTo>
                    <a:pt x="804783" y="18526"/>
                  </a:lnTo>
                  <a:lnTo>
                    <a:pt x="824886" y="4970"/>
                  </a:lnTo>
                  <a:lnTo>
                    <a:pt x="849503" y="0"/>
                  </a:lnTo>
                  <a:lnTo>
                    <a:pt x="1082929" y="0"/>
                  </a:lnTo>
                  <a:lnTo>
                    <a:pt x="1527936" y="0"/>
                  </a:lnTo>
                  <a:lnTo>
                    <a:pt x="2503043" y="0"/>
                  </a:lnTo>
                  <a:lnTo>
                    <a:pt x="2527659" y="4970"/>
                  </a:lnTo>
                  <a:lnTo>
                    <a:pt x="2547762" y="18526"/>
                  </a:lnTo>
                  <a:lnTo>
                    <a:pt x="2561318" y="38629"/>
                  </a:lnTo>
                  <a:lnTo>
                    <a:pt x="2566289" y="63246"/>
                  </a:lnTo>
                  <a:lnTo>
                    <a:pt x="2566289" y="158114"/>
                  </a:lnTo>
                  <a:lnTo>
                    <a:pt x="2566289" y="316229"/>
                  </a:lnTo>
                  <a:lnTo>
                    <a:pt x="2561318" y="340846"/>
                  </a:lnTo>
                  <a:lnTo>
                    <a:pt x="2547762" y="360949"/>
                  </a:lnTo>
                  <a:lnTo>
                    <a:pt x="2527659" y="374505"/>
                  </a:lnTo>
                  <a:lnTo>
                    <a:pt x="2503043" y="379475"/>
                  </a:lnTo>
                  <a:lnTo>
                    <a:pt x="1527936" y="379475"/>
                  </a:lnTo>
                  <a:lnTo>
                    <a:pt x="1082929" y="379475"/>
                  </a:lnTo>
                  <a:lnTo>
                    <a:pt x="849503" y="379475"/>
                  </a:lnTo>
                  <a:lnTo>
                    <a:pt x="824886" y="374505"/>
                  </a:lnTo>
                  <a:lnTo>
                    <a:pt x="804783" y="360949"/>
                  </a:lnTo>
                  <a:lnTo>
                    <a:pt x="791227" y="340846"/>
                  </a:lnTo>
                  <a:lnTo>
                    <a:pt x="786257" y="316229"/>
                  </a:lnTo>
                  <a:lnTo>
                    <a:pt x="786257" y="158114"/>
                  </a:lnTo>
                  <a:lnTo>
                    <a:pt x="0" y="10287"/>
                  </a:lnTo>
                  <a:lnTo>
                    <a:pt x="786257" y="63246"/>
                  </a:lnTo>
                  <a:close/>
                </a:path>
              </a:pathLst>
            </a:custGeom>
            <a:ln w="9143">
              <a:solidFill>
                <a:srgbClr val="E4E4E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444806" y="147480"/>
            <a:ext cx="7175194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OTBI </a:t>
            </a:r>
            <a:r>
              <a:rPr sz="2800" spc="-5" dirty="0"/>
              <a:t>Presentation</a:t>
            </a:r>
            <a:r>
              <a:rPr sz="2800" spc="25" dirty="0"/>
              <a:t> </a:t>
            </a:r>
            <a:r>
              <a:rPr sz="2800" spc="-5" dirty="0"/>
              <a:t>Catalog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5819649" y="1310807"/>
            <a:ext cx="2968625" cy="293734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9230" marR="5080" indent="-177165">
              <a:lnSpc>
                <a:spcPct val="100000"/>
              </a:lnSpc>
              <a:spcBef>
                <a:spcPts val="105"/>
              </a:spcBef>
              <a:buClr>
                <a:srgbClr val="FF1313"/>
              </a:buClr>
              <a:buChar char="•"/>
              <a:tabLst>
                <a:tab pos="189865" algn="l"/>
              </a:tabLst>
            </a:pP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Presentation Catalog  organizes Fusion data</a:t>
            </a:r>
            <a:r>
              <a:rPr sz="2000" spc="-120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in  easy-to-understand  functional subject</a:t>
            </a:r>
            <a:r>
              <a:rPr sz="2000" spc="-95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areas</a:t>
            </a:r>
            <a:endParaRPr sz="2000" dirty="0">
              <a:latin typeface="Arial"/>
              <a:cs typeface="Arial"/>
            </a:endParaRPr>
          </a:p>
          <a:p>
            <a:pPr marL="189230" indent="-177165">
              <a:lnSpc>
                <a:spcPct val="100000"/>
              </a:lnSpc>
              <a:spcBef>
                <a:spcPts val="600"/>
              </a:spcBef>
              <a:buClr>
                <a:srgbClr val="FF1313"/>
              </a:buClr>
              <a:buChar char="•"/>
              <a:tabLst>
                <a:tab pos="189865" algn="l"/>
              </a:tabLst>
            </a:pP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OTBI Subject Areas</a:t>
            </a:r>
            <a:r>
              <a:rPr sz="2000" spc="-195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all</a:t>
            </a:r>
            <a:endParaRPr sz="2000" dirty="0">
              <a:latin typeface="Arial"/>
              <a:cs typeface="Arial"/>
            </a:endParaRPr>
          </a:p>
          <a:p>
            <a:pPr marL="18923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solidFill>
                  <a:srgbClr val="424545"/>
                </a:solidFill>
                <a:latin typeface="Arial"/>
                <a:cs typeface="Arial"/>
              </a:rPr>
              <a:t>end with</a:t>
            </a:r>
            <a:r>
              <a:rPr sz="2000" spc="-25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24545"/>
                </a:solidFill>
                <a:latin typeface="Arial"/>
                <a:cs typeface="Arial"/>
              </a:rPr>
              <a:t>‘Real-Time’</a:t>
            </a:r>
            <a:endParaRPr sz="2000" dirty="0">
              <a:latin typeface="Arial"/>
              <a:cs typeface="Arial"/>
            </a:endParaRPr>
          </a:p>
          <a:p>
            <a:pPr marL="189230" marR="605790" indent="-177165">
              <a:lnSpc>
                <a:spcPct val="100000"/>
              </a:lnSpc>
              <a:spcBef>
                <a:spcPts val="600"/>
              </a:spcBef>
              <a:buClr>
                <a:srgbClr val="FF1313"/>
              </a:buClr>
              <a:buChar char="•"/>
              <a:tabLst>
                <a:tab pos="189865" algn="l"/>
              </a:tabLst>
            </a:pP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Subject areas are  secured by Fusion  application</a:t>
            </a:r>
            <a:r>
              <a:rPr sz="2000" spc="-65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security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509016" y="742950"/>
            <a:ext cx="4984243" cy="3967479"/>
            <a:chOff x="661416" y="571501"/>
            <a:chExt cx="4984243" cy="3967479"/>
          </a:xfrm>
        </p:grpSpPr>
        <p:sp>
          <p:nvSpPr>
            <p:cNvPr id="8" name="object 8"/>
            <p:cNvSpPr txBox="1"/>
            <p:nvPr/>
          </p:nvSpPr>
          <p:spPr>
            <a:xfrm>
              <a:off x="4211194" y="760858"/>
              <a:ext cx="1434465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" dirty="0">
                  <a:solidFill>
                    <a:srgbClr val="FFFFFF"/>
                  </a:solidFill>
                  <a:latin typeface="Arial"/>
                  <a:cs typeface="Arial"/>
                </a:rPr>
                <a:t>Subject</a:t>
              </a:r>
              <a:r>
                <a:rPr sz="1800" spc="-150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800" spc="-5" dirty="0">
                  <a:solidFill>
                    <a:srgbClr val="FFFFFF"/>
                  </a:solidFill>
                  <a:latin typeface="Arial"/>
                  <a:cs typeface="Arial"/>
                </a:rPr>
                <a:t>Areas</a:t>
              </a:r>
              <a:endParaRPr sz="1800">
                <a:latin typeface="Arial"/>
                <a:cs typeface="Arial"/>
              </a:endParaRPr>
            </a:p>
          </p:txBody>
        </p:sp>
        <p:grpSp>
          <p:nvGrpSpPr>
            <p:cNvPr id="9" name="object 9"/>
            <p:cNvGrpSpPr/>
            <p:nvPr/>
          </p:nvGrpSpPr>
          <p:grpSpPr>
            <a:xfrm>
              <a:off x="2866326" y="1417130"/>
              <a:ext cx="2481580" cy="389255"/>
              <a:chOff x="2866326" y="1417129"/>
              <a:chExt cx="2481580" cy="389255"/>
            </a:xfrm>
          </p:grpSpPr>
          <p:sp>
            <p:nvSpPr>
              <p:cNvPr id="10" name="object 10"/>
              <p:cNvSpPr/>
              <p:nvPr/>
            </p:nvSpPr>
            <p:spPr>
              <a:xfrm>
                <a:off x="2871089" y="1421891"/>
                <a:ext cx="2472055" cy="379730"/>
              </a:xfrm>
              <a:custGeom>
                <a:avLst/>
                <a:gdLst/>
                <a:ahLst/>
                <a:cxnLst/>
                <a:rect l="l" t="t" r="r" b="b"/>
                <a:pathLst>
                  <a:path w="2472054" h="379730">
                    <a:moveTo>
                      <a:pt x="0" y="19304"/>
                    </a:moveTo>
                    <a:lnTo>
                      <a:pt x="990726" y="158115"/>
                    </a:lnTo>
                    <a:lnTo>
                      <a:pt x="990726" y="316230"/>
                    </a:lnTo>
                    <a:lnTo>
                      <a:pt x="995697" y="340846"/>
                    </a:lnTo>
                    <a:lnTo>
                      <a:pt x="1009253" y="360949"/>
                    </a:lnTo>
                    <a:lnTo>
                      <a:pt x="1029356" y="374505"/>
                    </a:lnTo>
                    <a:lnTo>
                      <a:pt x="1053973" y="379475"/>
                    </a:lnTo>
                    <a:lnTo>
                      <a:pt x="2408809" y="379475"/>
                    </a:lnTo>
                    <a:lnTo>
                      <a:pt x="2433425" y="374505"/>
                    </a:lnTo>
                    <a:lnTo>
                      <a:pt x="2453528" y="360949"/>
                    </a:lnTo>
                    <a:lnTo>
                      <a:pt x="2467084" y="340846"/>
                    </a:lnTo>
                    <a:lnTo>
                      <a:pt x="2472055" y="316230"/>
                    </a:lnTo>
                    <a:lnTo>
                      <a:pt x="2472055" y="63246"/>
                    </a:lnTo>
                    <a:lnTo>
                      <a:pt x="990726" y="63246"/>
                    </a:lnTo>
                    <a:lnTo>
                      <a:pt x="0" y="19304"/>
                    </a:lnTo>
                    <a:close/>
                  </a:path>
                  <a:path w="2472054" h="379730">
                    <a:moveTo>
                      <a:pt x="2408809" y="0"/>
                    </a:moveTo>
                    <a:lnTo>
                      <a:pt x="1053973" y="0"/>
                    </a:lnTo>
                    <a:lnTo>
                      <a:pt x="1029356" y="4970"/>
                    </a:lnTo>
                    <a:lnTo>
                      <a:pt x="1009253" y="18526"/>
                    </a:lnTo>
                    <a:lnTo>
                      <a:pt x="995697" y="38629"/>
                    </a:lnTo>
                    <a:lnTo>
                      <a:pt x="990726" y="63246"/>
                    </a:lnTo>
                    <a:lnTo>
                      <a:pt x="2472055" y="63246"/>
                    </a:lnTo>
                    <a:lnTo>
                      <a:pt x="2467084" y="38629"/>
                    </a:lnTo>
                    <a:lnTo>
                      <a:pt x="2453528" y="18526"/>
                    </a:lnTo>
                    <a:lnTo>
                      <a:pt x="2433425" y="4970"/>
                    </a:lnTo>
                    <a:lnTo>
                      <a:pt x="2408809" y="0"/>
                    </a:lnTo>
                    <a:close/>
                  </a:path>
                </a:pathLst>
              </a:custGeom>
              <a:solidFill>
                <a:srgbClr val="FF131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2871089" y="1421891"/>
                <a:ext cx="2472055" cy="379730"/>
              </a:xfrm>
              <a:custGeom>
                <a:avLst/>
                <a:gdLst/>
                <a:ahLst/>
                <a:cxnLst/>
                <a:rect l="l" t="t" r="r" b="b"/>
                <a:pathLst>
                  <a:path w="2472054" h="379730">
                    <a:moveTo>
                      <a:pt x="990726" y="63246"/>
                    </a:moveTo>
                    <a:lnTo>
                      <a:pt x="995697" y="38629"/>
                    </a:lnTo>
                    <a:lnTo>
                      <a:pt x="1009253" y="18526"/>
                    </a:lnTo>
                    <a:lnTo>
                      <a:pt x="1029356" y="4970"/>
                    </a:lnTo>
                    <a:lnTo>
                      <a:pt x="1053973" y="0"/>
                    </a:lnTo>
                    <a:lnTo>
                      <a:pt x="1237614" y="0"/>
                    </a:lnTo>
                    <a:lnTo>
                      <a:pt x="1607947" y="0"/>
                    </a:lnTo>
                    <a:lnTo>
                      <a:pt x="2408809" y="0"/>
                    </a:lnTo>
                    <a:lnTo>
                      <a:pt x="2433425" y="4970"/>
                    </a:lnTo>
                    <a:lnTo>
                      <a:pt x="2453528" y="18526"/>
                    </a:lnTo>
                    <a:lnTo>
                      <a:pt x="2467084" y="38629"/>
                    </a:lnTo>
                    <a:lnTo>
                      <a:pt x="2472055" y="63246"/>
                    </a:lnTo>
                    <a:lnTo>
                      <a:pt x="2472055" y="158115"/>
                    </a:lnTo>
                    <a:lnTo>
                      <a:pt x="2472055" y="316230"/>
                    </a:lnTo>
                    <a:lnTo>
                      <a:pt x="2467084" y="340846"/>
                    </a:lnTo>
                    <a:lnTo>
                      <a:pt x="2453528" y="360949"/>
                    </a:lnTo>
                    <a:lnTo>
                      <a:pt x="2433425" y="374505"/>
                    </a:lnTo>
                    <a:lnTo>
                      <a:pt x="2408809" y="379475"/>
                    </a:lnTo>
                    <a:lnTo>
                      <a:pt x="1607947" y="379475"/>
                    </a:lnTo>
                    <a:lnTo>
                      <a:pt x="1237614" y="379475"/>
                    </a:lnTo>
                    <a:lnTo>
                      <a:pt x="1053973" y="379475"/>
                    </a:lnTo>
                    <a:lnTo>
                      <a:pt x="1029356" y="374505"/>
                    </a:lnTo>
                    <a:lnTo>
                      <a:pt x="1009253" y="360949"/>
                    </a:lnTo>
                    <a:lnTo>
                      <a:pt x="995697" y="340846"/>
                    </a:lnTo>
                    <a:lnTo>
                      <a:pt x="990726" y="316230"/>
                    </a:lnTo>
                    <a:lnTo>
                      <a:pt x="990726" y="158115"/>
                    </a:lnTo>
                    <a:lnTo>
                      <a:pt x="0" y="19304"/>
                    </a:lnTo>
                    <a:lnTo>
                      <a:pt x="990726" y="63246"/>
                    </a:lnTo>
                    <a:close/>
                  </a:path>
                </a:pathLst>
              </a:custGeom>
              <a:ln w="9143">
                <a:solidFill>
                  <a:srgbClr val="E4E4E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2" name="object 12"/>
            <p:cNvSpPr txBox="1"/>
            <p:nvPr/>
          </p:nvSpPr>
          <p:spPr>
            <a:xfrm>
              <a:off x="3994784" y="1441197"/>
              <a:ext cx="1216660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" dirty="0">
                  <a:solidFill>
                    <a:srgbClr val="FFFFFF"/>
                  </a:solidFill>
                  <a:latin typeface="Arial"/>
                  <a:cs typeface="Arial"/>
                </a:rPr>
                <a:t>D</a:t>
              </a:r>
              <a:r>
                <a:rPr sz="1800" spc="-15" dirty="0">
                  <a:solidFill>
                    <a:srgbClr val="FFFFFF"/>
                  </a:solidFill>
                  <a:latin typeface="Arial"/>
                  <a:cs typeface="Arial"/>
                </a:rPr>
                <a:t>i</a:t>
              </a:r>
              <a:r>
                <a:rPr sz="1800" spc="-5" dirty="0">
                  <a:solidFill>
                    <a:srgbClr val="FFFFFF"/>
                  </a:solidFill>
                  <a:latin typeface="Arial"/>
                  <a:cs typeface="Arial"/>
                </a:rPr>
                <a:t>me</a:t>
              </a:r>
              <a:r>
                <a:rPr sz="1800" spc="-15" dirty="0">
                  <a:solidFill>
                    <a:srgbClr val="FFFFFF"/>
                  </a:solidFill>
                  <a:latin typeface="Arial"/>
                  <a:cs typeface="Arial"/>
                </a:rPr>
                <a:t>n</a:t>
              </a:r>
              <a:r>
                <a:rPr sz="1800" spc="-5" dirty="0">
                  <a:solidFill>
                    <a:srgbClr val="FFFFFF"/>
                  </a:solidFill>
                  <a:latin typeface="Arial"/>
                  <a:cs typeface="Arial"/>
                </a:rPr>
                <a:t>si</a:t>
              </a:r>
              <a:r>
                <a:rPr sz="1800" spc="-15" dirty="0">
                  <a:solidFill>
                    <a:srgbClr val="FFFFFF"/>
                  </a:solidFill>
                  <a:latin typeface="Arial"/>
                  <a:cs typeface="Arial"/>
                </a:rPr>
                <a:t>o</a:t>
              </a:r>
              <a:r>
                <a:rPr sz="1800" spc="-5" dirty="0">
                  <a:solidFill>
                    <a:srgbClr val="FFFFFF"/>
                  </a:solidFill>
                  <a:latin typeface="Arial"/>
                  <a:cs typeface="Arial"/>
                </a:rPr>
                <a:t>ns</a:t>
              </a:r>
              <a:endParaRPr sz="1800">
                <a:latin typeface="Arial"/>
                <a:cs typeface="Arial"/>
              </a:endParaRPr>
            </a:p>
          </p:txBody>
        </p:sp>
        <p:grpSp>
          <p:nvGrpSpPr>
            <p:cNvPr id="13" name="object 13"/>
            <p:cNvGrpSpPr/>
            <p:nvPr/>
          </p:nvGrpSpPr>
          <p:grpSpPr>
            <a:xfrm>
              <a:off x="2822767" y="2224850"/>
              <a:ext cx="2723515" cy="389255"/>
              <a:chOff x="2822765" y="2224849"/>
              <a:chExt cx="2723515" cy="389255"/>
            </a:xfrm>
          </p:grpSpPr>
          <p:sp>
            <p:nvSpPr>
              <p:cNvPr id="14" name="object 14"/>
              <p:cNvSpPr/>
              <p:nvPr/>
            </p:nvSpPr>
            <p:spPr>
              <a:xfrm>
                <a:off x="2827527" y="2229611"/>
                <a:ext cx="2713990" cy="379730"/>
              </a:xfrm>
              <a:custGeom>
                <a:avLst/>
                <a:gdLst/>
                <a:ahLst/>
                <a:cxnLst/>
                <a:rect l="l" t="t" r="r" b="b"/>
                <a:pathLst>
                  <a:path w="2713990" h="379730">
                    <a:moveTo>
                      <a:pt x="0" y="193420"/>
                    </a:moveTo>
                    <a:lnTo>
                      <a:pt x="1110488" y="316230"/>
                    </a:lnTo>
                    <a:lnTo>
                      <a:pt x="1115458" y="340846"/>
                    </a:lnTo>
                    <a:lnTo>
                      <a:pt x="1129014" y="360949"/>
                    </a:lnTo>
                    <a:lnTo>
                      <a:pt x="1149117" y="374505"/>
                    </a:lnTo>
                    <a:lnTo>
                      <a:pt x="1173734" y="379475"/>
                    </a:lnTo>
                    <a:lnTo>
                      <a:pt x="2650490" y="379475"/>
                    </a:lnTo>
                    <a:lnTo>
                      <a:pt x="2675106" y="374505"/>
                    </a:lnTo>
                    <a:lnTo>
                      <a:pt x="2695209" y="360949"/>
                    </a:lnTo>
                    <a:lnTo>
                      <a:pt x="2708765" y="340846"/>
                    </a:lnTo>
                    <a:lnTo>
                      <a:pt x="2713736" y="316230"/>
                    </a:lnTo>
                    <a:lnTo>
                      <a:pt x="2713736" y="221361"/>
                    </a:lnTo>
                    <a:lnTo>
                      <a:pt x="1110488" y="221361"/>
                    </a:lnTo>
                    <a:lnTo>
                      <a:pt x="0" y="193420"/>
                    </a:lnTo>
                    <a:close/>
                  </a:path>
                  <a:path w="2713990" h="379730">
                    <a:moveTo>
                      <a:pt x="2650490" y="0"/>
                    </a:moveTo>
                    <a:lnTo>
                      <a:pt x="1173734" y="0"/>
                    </a:lnTo>
                    <a:lnTo>
                      <a:pt x="1149117" y="4970"/>
                    </a:lnTo>
                    <a:lnTo>
                      <a:pt x="1129014" y="18526"/>
                    </a:lnTo>
                    <a:lnTo>
                      <a:pt x="1115458" y="38629"/>
                    </a:lnTo>
                    <a:lnTo>
                      <a:pt x="1110488" y="63245"/>
                    </a:lnTo>
                    <a:lnTo>
                      <a:pt x="1110488" y="221361"/>
                    </a:lnTo>
                    <a:lnTo>
                      <a:pt x="2713736" y="221361"/>
                    </a:lnTo>
                    <a:lnTo>
                      <a:pt x="2713736" y="63245"/>
                    </a:lnTo>
                    <a:lnTo>
                      <a:pt x="2708765" y="38629"/>
                    </a:lnTo>
                    <a:lnTo>
                      <a:pt x="2695209" y="18526"/>
                    </a:lnTo>
                    <a:lnTo>
                      <a:pt x="2675106" y="4970"/>
                    </a:lnTo>
                    <a:lnTo>
                      <a:pt x="2650490" y="0"/>
                    </a:lnTo>
                    <a:close/>
                  </a:path>
                </a:pathLst>
              </a:custGeom>
              <a:solidFill>
                <a:srgbClr val="FF131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2827527" y="2229611"/>
                <a:ext cx="2713990" cy="379730"/>
              </a:xfrm>
              <a:custGeom>
                <a:avLst/>
                <a:gdLst/>
                <a:ahLst/>
                <a:cxnLst/>
                <a:rect l="l" t="t" r="r" b="b"/>
                <a:pathLst>
                  <a:path w="2713990" h="379730">
                    <a:moveTo>
                      <a:pt x="1110488" y="63245"/>
                    </a:moveTo>
                    <a:lnTo>
                      <a:pt x="1115458" y="38629"/>
                    </a:lnTo>
                    <a:lnTo>
                      <a:pt x="1129014" y="18526"/>
                    </a:lnTo>
                    <a:lnTo>
                      <a:pt x="1149117" y="4970"/>
                    </a:lnTo>
                    <a:lnTo>
                      <a:pt x="1173734" y="0"/>
                    </a:lnTo>
                    <a:lnTo>
                      <a:pt x="1377696" y="0"/>
                    </a:lnTo>
                    <a:lnTo>
                      <a:pt x="1778508" y="0"/>
                    </a:lnTo>
                    <a:lnTo>
                      <a:pt x="2650490" y="0"/>
                    </a:lnTo>
                    <a:lnTo>
                      <a:pt x="2675106" y="4970"/>
                    </a:lnTo>
                    <a:lnTo>
                      <a:pt x="2695209" y="18526"/>
                    </a:lnTo>
                    <a:lnTo>
                      <a:pt x="2708765" y="38629"/>
                    </a:lnTo>
                    <a:lnTo>
                      <a:pt x="2713736" y="63245"/>
                    </a:lnTo>
                    <a:lnTo>
                      <a:pt x="2713736" y="221361"/>
                    </a:lnTo>
                    <a:lnTo>
                      <a:pt x="2713736" y="316230"/>
                    </a:lnTo>
                    <a:lnTo>
                      <a:pt x="2708765" y="340846"/>
                    </a:lnTo>
                    <a:lnTo>
                      <a:pt x="2695209" y="360949"/>
                    </a:lnTo>
                    <a:lnTo>
                      <a:pt x="2675106" y="374505"/>
                    </a:lnTo>
                    <a:lnTo>
                      <a:pt x="2650490" y="379475"/>
                    </a:lnTo>
                    <a:lnTo>
                      <a:pt x="1778508" y="379475"/>
                    </a:lnTo>
                    <a:lnTo>
                      <a:pt x="1377696" y="379475"/>
                    </a:lnTo>
                    <a:lnTo>
                      <a:pt x="1173734" y="379475"/>
                    </a:lnTo>
                    <a:lnTo>
                      <a:pt x="1149117" y="374505"/>
                    </a:lnTo>
                    <a:lnTo>
                      <a:pt x="1129014" y="360949"/>
                    </a:lnTo>
                    <a:lnTo>
                      <a:pt x="1115458" y="340846"/>
                    </a:lnTo>
                    <a:lnTo>
                      <a:pt x="1110488" y="316230"/>
                    </a:lnTo>
                    <a:lnTo>
                      <a:pt x="0" y="193420"/>
                    </a:lnTo>
                    <a:lnTo>
                      <a:pt x="1110488" y="221361"/>
                    </a:lnTo>
                    <a:lnTo>
                      <a:pt x="1110488" y="63245"/>
                    </a:lnTo>
                    <a:close/>
                  </a:path>
                </a:pathLst>
              </a:custGeom>
              <a:ln w="9144">
                <a:solidFill>
                  <a:srgbClr val="E4E4E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6" name="object 16"/>
            <p:cNvSpPr txBox="1"/>
            <p:nvPr/>
          </p:nvSpPr>
          <p:spPr>
            <a:xfrm>
              <a:off x="4245102" y="2249170"/>
              <a:ext cx="990600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" dirty="0">
                  <a:solidFill>
                    <a:srgbClr val="FFFFFF"/>
                  </a:solidFill>
                  <a:latin typeface="Arial"/>
                  <a:cs typeface="Arial"/>
                </a:rPr>
                <a:t>Attributes</a:t>
              </a:r>
              <a:endParaRPr sz="1800">
                <a:latin typeface="Arial"/>
                <a:cs typeface="Arial"/>
              </a:endParaRPr>
            </a:p>
          </p:txBody>
        </p:sp>
        <p:grpSp>
          <p:nvGrpSpPr>
            <p:cNvPr id="17" name="object 17"/>
            <p:cNvGrpSpPr/>
            <p:nvPr/>
          </p:nvGrpSpPr>
          <p:grpSpPr>
            <a:xfrm>
              <a:off x="2543238" y="3312986"/>
              <a:ext cx="2463800" cy="511809"/>
              <a:chOff x="2543238" y="3312985"/>
              <a:chExt cx="2463800" cy="511809"/>
            </a:xfrm>
          </p:grpSpPr>
          <p:sp>
            <p:nvSpPr>
              <p:cNvPr id="18" name="object 18"/>
              <p:cNvSpPr/>
              <p:nvPr/>
            </p:nvSpPr>
            <p:spPr>
              <a:xfrm>
                <a:off x="2548001" y="3317747"/>
                <a:ext cx="2454275" cy="502284"/>
              </a:xfrm>
              <a:custGeom>
                <a:avLst/>
                <a:gdLst/>
                <a:ahLst/>
                <a:cxnLst/>
                <a:rect l="l" t="t" r="r" b="b"/>
                <a:pathLst>
                  <a:path w="2454275" h="502285">
                    <a:moveTo>
                      <a:pt x="2390775" y="0"/>
                    </a:moveTo>
                    <a:lnTo>
                      <a:pt x="1142111" y="0"/>
                    </a:lnTo>
                    <a:lnTo>
                      <a:pt x="1117588" y="4949"/>
                    </a:lnTo>
                    <a:lnTo>
                      <a:pt x="1097565" y="18446"/>
                    </a:lnTo>
                    <a:lnTo>
                      <a:pt x="1084068" y="38469"/>
                    </a:lnTo>
                    <a:lnTo>
                      <a:pt x="1079119" y="62991"/>
                    </a:lnTo>
                    <a:lnTo>
                      <a:pt x="1079119" y="220471"/>
                    </a:lnTo>
                    <a:lnTo>
                      <a:pt x="0" y="501776"/>
                    </a:lnTo>
                    <a:lnTo>
                      <a:pt x="1079119" y="314959"/>
                    </a:lnTo>
                    <a:lnTo>
                      <a:pt x="2453766" y="314959"/>
                    </a:lnTo>
                    <a:lnTo>
                      <a:pt x="2453766" y="62991"/>
                    </a:lnTo>
                    <a:lnTo>
                      <a:pt x="2448817" y="38469"/>
                    </a:lnTo>
                    <a:lnTo>
                      <a:pt x="2435320" y="18446"/>
                    </a:lnTo>
                    <a:lnTo>
                      <a:pt x="2415297" y="4949"/>
                    </a:lnTo>
                    <a:lnTo>
                      <a:pt x="2390775" y="0"/>
                    </a:lnTo>
                    <a:close/>
                  </a:path>
                  <a:path w="2454275" h="502285">
                    <a:moveTo>
                      <a:pt x="2453766" y="314959"/>
                    </a:moveTo>
                    <a:lnTo>
                      <a:pt x="1079119" y="314959"/>
                    </a:lnTo>
                    <a:lnTo>
                      <a:pt x="1084068" y="339482"/>
                    </a:lnTo>
                    <a:lnTo>
                      <a:pt x="1097565" y="359505"/>
                    </a:lnTo>
                    <a:lnTo>
                      <a:pt x="1117588" y="373002"/>
                    </a:lnTo>
                    <a:lnTo>
                      <a:pt x="1142111" y="377951"/>
                    </a:lnTo>
                    <a:lnTo>
                      <a:pt x="2390775" y="377951"/>
                    </a:lnTo>
                    <a:lnTo>
                      <a:pt x="2415297" y="373002"/>
                    </a:lnTo>
                    <a:lnTo>
                      <a:pt x="2435320" y="359505"/>
                    </a:lnTo>
                    <a:lnTo>
                      <a:pt x="2448817" y="339482"/>
                    </a:lnTo>
                    <a:lnTo>
                      <a:pt x="2453766" y="314959"/>
                    </a:lnTo>
                    <a:close/>
                  </a:path>
                </a:pathLst>
              </a:custGeom>
              <a:solidFill>
                <a:srgbClr val="FF131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19"/>
              <p:cNvSpPr/>
              <p:nvPr/>
            </p:nvSpPr>
            <p:spPr>
              <a:xfrm>
                <a:off x="2548001" y="3317747"/>
                <a:ext cx="2454275" cy="502284"/>
              </a:xfrm>
              <a:custGeom>
                <a:avLst/>
                <a:gdLst/>
                <a:ahLst/>
                <a:cxnLst/>
                <a:rect l="l" t="t" r="r" b="b"/>
                <a:pathLst>
                  <a:path w="2454275" h="502285">
                    <a:moveTo>
                      <a:pt x="1079119" y="62991"/>
                    </a:moveTo>
                    <a:lnTo>
                      <a:pt x="1084068" y="38469"/>
                    </a:lnTo>
                    <a:lnTo>
                      <a:pt x="1097565" y="18446"/>
                    </a:lnTo>
                    <a:lnTo>
                      <a:pt x="1117588" y="4949"/>
                    </a:lnTo>
                    <a:lnTo>
                      <a:pt x="1142111" y="0"/>
                    </a:lnTo>
                    <a:lnTo>
                      <a:pt x="1308227" y="0"/>
                    </a:lnTo>
                    <a:lnTo>
                      <a:pt x="1651889" y="0"/>
                    </a:lnTo>
                    <a:lnTo>
                      <a:pt x="2390775" y="0"/>
                    </a:lnTo>
                    <a:lnTo>
                      <a:pt x="2415297" y="4949"/>
                    </a:lnTo>
                    <a:lnTo>
                      <a:pt x="2435320" y="18446"/>
                    </a:lnTo>
                    <a:lnTo>
                      <a:pt x="2448817" y="38469"/>
                    </a:lnTo>
                    <a:lnTo>
                      <a:pt x="2453766" y="62991"/>
                    </a:lnTo>
                    <a:lnTo>
                      <a:pt x="2453766" y="220471"/>
                    </a:lnTo>
                    <a:lnTo>
                      <a:pt x="2453766" y="314959"/>
                    </a:lnTo>
                    <a:lnTo>
                      <a:pt x="2448817" y="339482"/>
                    </a:lnTo>
                    <a:lnTo>
                      <a:pt x="2435320" y="359505"/>
                    </a:lnTo>
                    <a:lnTo>
                      <a:pt x="2415297" y="373002"/>
                    </a:lnTo>
                    <a:lnTo>
                      <a:pt x="2390775" y="377951"/>
                    </a:lnTo>
                    <a:lnTo>
                      <a:pt x="1651889" y="377951"/>
                    </a:lnTo>
                    <a:lnTo>
                      <a:pt x="1308227" y="377951"/>
                    </a:lnTo>
                    <a:lnTo>
                      <a:pt x="1142111" y="377951"/>
                    </a:lnTo>
                    <a:lnTo>
                      <a:pt x="1117588" y="373002"/>
                    </a:lnTo>
                    <a:lnTo>
                      <a:pt x="1097565" y="359505"/>
                    </a:lnTo>
                    <a:lnTo>
                      <a:pt x="1084068" y="339482"/>
                    </a:lnTo>
                    <a:lnTo>
                      <a:pt x="1079119" y="314959"/>
                    </a:lnTo>
                    <a:lnTo>
                      <a:pt x="0" y="501776"/>
                    </a:lnTo>
                    <a:lnTo>
                      <a:pt x="1079119" y="220471"/>
                    </a:lnTo>
                    <a:lnTo>
                      <a:pt x="1079119" y="62991"/>
                    </a:lnTo>
                    <a:close/>
                  </a:path>
                </a:pathLst>
              </a:custGeom>
              <a:ln w="9144">
                <a:solidFill>
                  <a:srgbClr val="E4E4E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0" name="object 20"/>
            <p:cNvSpPr txBox="1"/>
            <p:nvPr/>
          </p:nvSpPr>
          <p:spPr>
            <a:xfrm>
              <a:off x="4079875" y="3336417"/>
              <a:ext cx="470534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dirty="0">
                  <a:solidFill>
                    <a:srgbClr val="FFFFFF"/>
                  </a:solidFill>
                  <a:latin typeface="Arial"/>
                  <a:cs typeface="Arial"/>
                </a:rPr>
                <a:t>Fact</a:t>
              </a:r>
              <a:endParaRPr sz="1800">
                <a:latin typeface="Arial"/>
                <a:cs typeface="Arial"/>
              </a:endParaRPr>
            </a:p>
          </p:txBody>
        </p:sp>
        <p:grpSp>
          <p:nvGrpSpPr>
            <p:cNvPr id="21" name="object 21"/>
            <p:cNvGrpSpPr/>
            <p:nvPr/>
          </p:nvGrpSpPr>
          <p:grpSpPr>
            <a:xfrm>
              <a:off x="2533079" y="3785426"/>
              <a:ext cx="3057525" cy="389255"/>
              <a:chOff x="2533078" y="3785425"/>
              <a:chExt cx="3057525" cy="389255"/>
            </a:xfrm>
          </p:grpSpPr>
          <p:sp>
            <p:nvSpPr>
              <p:cNvPr id="22" name="object 22"/>
              <p:cNvSpPr/>
              <p:nvPr/>
            </p:nvSpPr>
            <p:spPr>
              <a:xfrm>
                <a:off x="2537841" y="3790188"/>
                <a:ext cx="3048000" cy="379730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379729">
                    <a:moveTo>
                      <a:pt x="3047619" y="316230"/>
                    </a:moveTo>
                    <a:lnTo>
                      <a:pt x="1419986" y="316230"/>
                    </a:lnTo>
                    <a:lnTo>
                      <a:pt x="1424957" y="340846"/>
                    </a:lnTo>
                    <a:lnTo>
                      <a:pt x="1438513" y="360949"/>
                    </a:lnTo>
                    <a:lnTo>
                      <a:pt x="1458616" y="374505"/>
                    </a:lnTo>
                    <a:lnTo>
                      <a:pt x="1483233" y="379475"/>
                    </a:lnTo>
                    <a:lnTo>
                      <a:pt x="2984372" y="379475"/>
                    </a:lnTo>
                    <a:lnTo>
                      <a:pt x="3008989" y="374505"/>
                    </a:lnTo>
                    <a:lnTo>
                      <a:pt x="3029092" y="360949"/>
                    </a:lnTo>
                    <a:lnTo>
                      <a:pt x="3042648" y="340846"/>
                    </a:lnTo>
                    <a:lnTo>
                      <a:pt x="3047619" y="316230"/>
                    </a:lnTo>
                    <a:close/>
                  </a:path>
                  <a:path w="3048000" h="379729">
                    <a:moveTo>
                      <a:pt x="2984372" y="0"/>
                    </a:moveTo>
                    <a:lnTo>
                      <a:pt x="1483233" y="0"/>
                    </a:lnTo>
                    <a:lnTo>
                      <a:pt x="1458616" y="4970"/>
                    </a:lnTo>
                    <a:lnTo>
                      <a:pt x="1438513" y="18526"/>
                    </a:lnTo>
                    <a:lnTo>
                      <a:pt x="1424957" y="38629"/>
                    </a:lnTo>
                    <a:lnTo>
                      <a:pt x="1419986" y="63246"/>
                    </a:lnTo>
                    <a:lnTo>
                      <a:pt x="1419986" y="221361"/>
                    </a:lnTo>
                    <a:lnTo>
                      <a:pt x="0" y="330161"/>
                    </a:lnTo>
                    <a:lnTo>
                      <a:pt x="3047619" y="316230"/>
                    </a:lnTo>
                    <a:lnTo>
                      <a:pt x="3047619" y="63246"/>
                    </a:lnTo>
                    <a:lnTo>
                      <a:pt x="3042648" y="38629"/>
                    </a:lnTo>
                    <a:lnTo>
                      <a:pt x="3029092" y="18526"/>
                    </a:lnTo>
                    <a:lnTo>
                      <a:pt x="3008989" y="4970"/>
                    </a:lnTo>
                    <a:lnTo>
                      <a:pt x="2984372" y="0"/>
                    </a:lnTo>
                    <a:close/>
                  </a:path>
                </a:pathLst>
              </a:custGeom>
              <a:solidFill>
                <a:srgbClr val="FF131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3"/>
              <p:cNvSpPr/>
              <p:nvPr/>
            </p:nvSpPr>
            <p:spPr>
              <a:xfrm>
                <a:off x="2537841" y="3790188"/>
                <a:ext cx="3048000" cy="379730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379729">
                    <a:moveTo>
                      <a:pt x="1419986" y="63246"/>
                    </a:moveTo>
                    <a:lnTo>
                      <a:pt x="1424957" y="38629"/>
                    </a:lnTo>
                    <a:lnTo>
                      <a:pt x="1438513" y="18526"/>
                    </a:lnTo>
                    <a:lnTo>
                      <a:pt x="1458616" y="4970"/>
                    </a:lnTo>
                    <a:lnTo>
                      <a:pt x="1483233" y="0"/>
                    </a:lnTo>
                    <a:lnTo>
                      <a:pt x="1691258" y="0"/>
                    </a:lnTo>
                    <a:lnTo>
                      <a:pt x="2098167" y="0"/>
                    </a:lnTo>
                    <a:lnTo>
                      <a:pt x="2984372" y="0"/>
                    </a:lnTo>
                    <a:lnTo>
                      <a:pt x="3008989" y="4970"/>
                    </a:lnTo>
                    <a:lnTo>
                      <a:pt x="3029092" y="18526"/>
                    </a:lnTo>
                    <a:lnTo>
                      <a:pt x="3042648" y="38629"/>
                    </a:lnTo>
                    <a:lnTo>
                      <a:pt x="3047619" y="63246"/>
                    </a:lnTo>
                    <a:lnTo>
                      <a:pt x="3047619" y="221361"/>
                    </a:lnTo>
                    <a:lnTo>
                      <a:pt x="3047619" y="316230"/>
                    </a:lnTo>
                    <a:lnTo>
                      <a:pt x="3042648" y="340846"/>
                    </a:lnTo>
                    <a:lnTo>
                      <a:pt x="3029092" y="360949"/>
                    </a:lnTo>
                    <a:lnTo>
                      <a:pt x="3008989" y="374505"/>
                    </a:lnTo>
                    <a:lnTo>
                      <a:pt x="2984372" y="379475"/>
                    </a:lnTo>
                    <a:lnTo>
                      <a:pt x="2098167" y="379475"/>
                    </a:lnTo>
                    <a:lnTo>
                      <a:pt x="1691258" y="379475"/>
                    </a:lnTo>
                    <a:lnTo>
                      <a:pt x="1483233" y="379475"/>
                    </a:lnTo>
                    <a:lnTo>
                      <a:pt x="1458616" y="374505"/>
                    </a:lnTo>
                    <a:lnTo>
                      <a:pt x="1438513" y="360949"/>
                    </a:lnTo>
                    <a:lnTo>
                      <a:pt x="1424957" y="340846"/>
                    </a:lnTo>
                    <a:lnTo>
                      <a:pt x="1419986" y="316230"/>
                    </a:lnTo>
                    <a:lnTo>
                      <a:pt x="0" y="330161"/>
                    </a:lnTo>
                    <a:lnTo>
                      <a:pt x="1419986" y="221361"/>
                    </a:lnTo>
                    <a:lnTo>
                      <a:pt x="1419986" y="63246"/>
                    </a:lnTo>
                    <a:close/>
                  </a:path>
                </a:pathLst>
              </a:custGeom>
              <a:ln w="9143">
                <a:solidFill>
                  <a:srgbClr val="E4E4E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4" name="object 24"/>
            <p:cNvSpPr txBox="1"/>
            <p:nvPr/>
          </p:nvSpPr>
          <p:spPr>
            <a:xfrm>
              <a:off x="4259071" y="3810406"/>
              <a:ext cx="1026794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" dirty="0">
                  <a:solidFill>
                    <a:srgbClr val="FFFFFF"/>
                  </a:solidFill>
                  <a:latin typeface="Arial"/>
                  <a:cs typeface="Arial"/>
                </a:rPr>
                <a:t>Me</a:t>
              </a:r>
              <a:r>
                <a:rPr sz="1800" spc="-15" dirty="0">
                  <a:solidFill>
                    <a:srgbClr val="FFFFFF"/>
                  </a:solidFill>
                  <a:latin typeface="Arial"/>
                  <a:cs typeface="Arial"/>
                </a:rPr>
                <a:t>a</a:t>
              </a:r>
              <a:r>
                <a:rPr sz="1800" spc="-5" dirty="0">
                  <a:solidFill>
                    <a:srgbClr val="FFFFFF"/>
                  </a:solidFill>
                  <a:latin typeface="Arial"/>
                  <a:cs typeface="Arial"/>
                </a:rPr>
                <a:t>sur</a:t>
              </a:r>
              <a:r>
                <a:rPr sz="1800" spc="-15" dirty="0">
                  <a:solidFill>
                    <a:srgbClr val="FFFFFF"/>
                  </a:solidFill>
                  <a:latin typeface="Arial"/>
                  <a:cs typeface="Arial"/>
                </a:rPr>
                <a:t>e</a:t>
              </a:r>
              <a:r>
                <a:rPr sz="1800" dirty="0">
                  <a:solidFill>
                    <a:srgbClr val="FFFFFF"/>
                  </a:solidFill>
                  <a:latin typeface="Arial"/>
                  <a:cs typeface="Arial"/>
                </a:rPr>
                <a:t>s</a:t>
              </a:r>
              <a:endParaRPr sz="1800">
                <a:latin typeface="Arial"/>
                <a:cs typeface="Arial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661416" y="571501"/>
              <a:ext cx="2545080" cy="3967479"/>
            </a:xfrm>
            <a:custGeom>
              <a:avLst/>
              <a:gdLst/>
              <a:ahLst/>
              <a:cxnLst/>
              <a:rect l="l" t="t" r="r" b="b"/>
              <a:pathLst>
                <a:path w="2545080" h="3967479">
                  <a:moveTo>
                    <a:pt x="0" y="166115"/>
                  </a:moveTo>
                  <a:lnTo>
                    <a:pt x="36093" y="126686"/>
                  </a:lnTo>
                  <a:lnTo>
                    <a:pt x="79613" y="108172"/>
                  </a:lnTo>
                  <a:lnTo>
                    <a:pt x="138694" y="90645"/>
                  </a:lnTo>
                  <a:lnTo>
                    <a:pt x="212273" y="74245"/>
                  </a:lnTo>
                  <a:lnTo>
                    <a:pt x="254167" y="66510"/>
                  </a:lnTo>
                  <a:lnTo>
                    <a:pt x="299285" y="59109"/>
                  </a:lnTo>
                  <a:lnTo>
                    <a:pt x="347495" y="52060"/>
                  </a:lnTo>
                  <a:lnTo>
                    <a:pt x="398663" y="45379"/>
                  </a:lnTo>
                  <a:lnTo>
                    <a:pt x="452658" y="39084"/>
                  </a:lnTo>
                  <a:lnTo>
                    <a:pt x="509345" y="33193"/>
                  </a:lnTo>
                  <a:lnTo>
                    <a:pt x="568591" y="27722"/>
                  </a:lnTo>
                  <a:lnTo>
                    <a:pt x="630264" y="22690"/>
                  </a:lnTo>
                  <a:lnTo>
                    <a:pt x="694230" y="18114"/>
                  </a:lnTo>
                  <a:lnTo>
                    <a:pt x="760356" y="14010"/>
                  </a:lnTo>
                  <a:lnTo>
                    <a:pt x="828509" y="10398"/>
                  </a:lnTo>
                  <a:lnTo>
                    <a:pt x="898556" y="7293"/>
                  </a:lnTo>
                  <a:lnTo>
                    <a:pt x="970363" y="4714"/>
                  </a:lnTo>
                  <a:lnTo>
                    <a:pt x="1043799" y="2677"/>
                  </a:lnTo>
                  <a:lnTo>
                    <a:pt x="1118728" y="1201"/>
                  </a:lnTo>
                  <a:lnTo>
                    <a:pt x="1195020" y="303"/>
                  </a:lnTo>
                  <a:lnTo>
                    <a:pt x="1272540" y="0"/>
                  </a:lnTo>
                  <a:lnTo>
                    <a:pt x="1350060" y="303"/>
                  </a:lnTo>
                  <a:lnTo>
                    <a:pt x="1426353" y="1201"/>
                  </a:lnTo>
                  <a:lnTo>
                    <a:pt x="1501284" y="2677"/>
                  </a:lnTo>
                  <a:lnTo>
                    <a:pt x="1574720" y="4714"/>
                  </a:lnTo>
                  <a:lnTo>
                    <a:pt x="1646528" y="7293"/>
                  </a:lnTo>
                  <a:lnTo>
                    <a:pt x="1716575" y="10398"/>
                  </a:lnTo>
                  <a:lnTo>
                    <a:pt x="1784729" y="14010"/>
                  </a:lnTo>
                  <a:lnTo>
                    <a:pt x="1850855" y="18114"/>
                  </a:lnTo>
                  <a:lnTo>
                    <a:pt x="1914821" y="22690"/>
                  </a:lnTo>
                  <a:lnTo>
                    <a:pt x="1976493" y="27722"/>
                  </a:lnTo>
                  <a:lnTo>
                    <a:pt x="2035740" y="33193"/>
                  </a:lnTo>
                  <a:lnTo>
                    <a:pt x="2092426" y="39084"/>
                  </a:lnTo>
                  <a:lnTo>
                    <a:pt x="2146421" y="45379"/>
                  </a:lnTo>
                  <a:lnTo>
                    <a:pt x="2197589" y="52060"/>
                  </a:lnTo>
                  <a:lnTo>
                    <a:pt x="2245799" y="59109"/>
                  </a:lnTo>
                  <a:lnTo>
                    <a:pt x="2290916" y="66510"/>
                  </a:lnTo>
                  <a:lnTo>
                    <a:pt x="2332809" y="74245"/>
                  </a:lnTo>
                  <a:lnTo>
                    <a:pt x="2371344" y="82296"/>
                  </a:lnTo>
                  <a:lnTo>
                    <a:pt x="2437806" y="99277"/>
                  </a:lnTo>
                  <a:lnTo>
                    <a:pt x="2489239" y="117314"/>
                  </a:lnTo>
                  <a:lnTo>
                    <a:pt x="2524578" y="136269"/>
                  </a:lnTo>
                  <a:lnTo>
                    <a:pt x="2545079" y="166115"/>
                  </a:lnTo>
                  <a:lnTo>
                    <a:pt x="2542757" y="176230"/>
                  </a:lnTo>
                  <a:lnTo>
                    <a:pt x="2508987" y="205545"/>
                  </a:lnTo>
                  <a:lnTo>
                    <a:pt x="2465468" y="224059"/>
                  </a:lnTo>
                  <a:lnTo>
                    <a:pt x="2406387" y="241586"/>
                  </a:lnTo>
                  <a:lnTo>
                    <a:pt x="2332809" y="257986"/>
                  </a:lnTo>
                  <a:lnTo>
                    <a:pt x="2290916" y="265721"/>
                  </a:lnTo>
                  <a:lnTo>
                    <a:pt x="2245799" y="273122"/>
                  </a:lnTo>
                  <a:lnTo>
                    <a:pt x="2197589" y="280171"/>
                  </a:lnTo>
                  <a:lnTo>
                    <a:pt x="2146421" y="286852"/>
                  </a:lnTo>
                  <a:lnTo>
                    <a:pt x="2092426" y="293147"/>
                  </a:lnTo>
                  <a:lnTo>
                    <a:pt x="2035740" y="299038"/>
                  </a:lnTo>
                  <a:lnTo>
                    <a:pt x="1976493" y="304509"/>
                  </a:lnTo>
                  <a:lnTo>
                    <a:pt x="1914821" y="309541"/>
                  </a:lnTo>
                  <a:lnTo>
                    <a:pt x="1850855" y="314117"/>
                  </a:lnTo>
                  <a:lnTo>
                    <a:pt x="1784729" y="318221"/>
                  </a:lnTo>
                  <a:lnTo>
                    <a:pt x="1716575" y="321833"/>
                  </a:lnTo>
                  <a:lnTo>
                    <a:pt x="1646528" y="324938"/>
                  </a:lnTo>
                  <a:lnTo>
                    <a:pt x="1574720" y="327517"/>
                  </a:lnTo>
                  <a:lnTo>
                    <a:pt x="1501284" y="329554"/>
                  </a:lnTo>
                  <a:lnTo>
                    <a:pt x="1426353" y="331030"/>
                  </a:lnTo>
                  <a:lnTo>
                    <a:pt x="1350060" y="331928"/>
                  </a:lnTo>
                  <a:lnTo>
                    <a:pt x="1272540" y="332232"/>
                  </a:lnTo>
                  <a:lnTo>
                    <a:pt x="1195020" y="331928"/>
                  </a:lnTo>
                  <a:lnTo>
                    <a:pt x="1118728" y="331030"/>
                  </a:lnTo>
                  <a:lnTo>
                    <a:pt x="1043799" y="329554"/>
                  </a:lnTo>
                  <a:lnTo>
                    <a:pt x="970363" y="327517"/>
                  </a:lnTo>
                  <a:lnTo>
                    <a:pt x="898556" y="324938"/>
                  </a:lnTo>
                  <a:lnTo>
                    <a:pt x="828509" y="321833"/>
                  </a:lnTo>
                  <a:lnTo>
                    <a:pt x="760356" y="318221"/>
                  </a:lnTo>
                  <a:lnTo>
                    <a:pt x="694230" y="314117"/>
                  </a:lnTo>
                  <a:lnTo>
                    <a:pt x="630264" y="309541"/>
                  </a:lnTo>
                  <a:lnTo>
                    <a:pt x="568591" y="304509"/>
                  </a:lnTo>
                  <a:lnTo>
                    <a:pt x="509345" y="299038"/>
                  </a:lnTo>
                  <a:lnTo>
                    <a:pt x="452658" y="293147"/>
                  </a:lnTo>
                  <a:lnTo>
                    <a:pt x="398663" y="286852"/>
                  </a:lnTo>
                  <a:lnTo>
                    <a:pt x="347495" y="280171"/>
                  </a:lnTo>
                  <a:lnTo>
                    <a:pt x="299285" y="273122"/>
                  </a:lnTo>
                  <a:lnTo>
                    <a:pt x="254167" y="265721"/>
                  </a:lnTo>
                  <a:lnTo>
                    <a:pt x="212273" y="257986"/>
                  </a:lnTo>
                  <a:lnTo>
                    <a:pt x="173738" y="249935"/>
                  </a:lnTo>
                  <a:lnTo>
                    <a:pt x="107275" y="232954"/>
                  </a:lnTo>
                  <a:lnTo>
                    <a:pt x="55841" y="214917"/>
                  </a:lnTo>
                  <a:lnTo>
                    <a:pt x="20502" y="195962"/>
                  </a:lnTo>
                  <a:lnTo>
                    <a:pt x="0" y="166115"/>
                  </a:lnTo>
                  <a:close/>
                </a:path>
                <a:path w="2545080" h="3967479">
                  <a:moveTo>
                    <a:pt x="44196" y="897636"/>
                  </a:moveTo>
                  <a:lnTo>
                    <a:pt x="50694" y="826030"/>
                  </a:lnTo>
                  <a:lnTo>
                    <a:pt x="69725" y="756753"/>
                  </a:lnTo>
                  <a:lnTo>
                    <a:pt x="100588" y="690232"/>
                  </a:lnTo>
                  <a:lnTo>
                    <a:pt x="142584" y="626898"/>
                  </a:lnTo>
                  <a:lnTo>
                    <a:pt x="167538" y="596559"/>
                  </a:lnTo>
                  <a:lnTo>
                    <a:pt x="195013" y="567178"/>
                  </a:lnTo>
                  <a:lnTo>
                    <a:pt x="224922" y="538807"/>
                  </a:lnTo>
                  <a:lnTo>
                    <a:pt x="257177" y="511501"/>
                  </a:lnTo>
                  <a:lnTo>
                    <a:pt x="291691" y="485314"/>
                  </a:lnTo>
                  <a:lnTo>
                    <a:pt x="328376" y="460298"/>
                  </a:lnTo>
                  <a:lnTo>
                    <a:pt x="367144" y="436507"/>
                  </a:lnTo>
                  <a:lnTo>
                    <a:pt x="407909" y="413996"/>
                  </a:lnTo>
                  <a:lnTo>
                    <a:pt x="450583" y="392817"/>
                  </a:lnTo>
                  <a:lnTo>
                    <a:pt x="495079" y="373024"/>
                  </a:lnTo>
                  <a:lnTo>
                    <a:pt x="541309" y="354671"/>
                  </a:lnTo>
                  <a:lnTo>
                    <a:pt x="589186" y="337812"/>
                  </a:lnTo>
                  <a:lnTo>
                    <a:pt x="638622" y="322499"/>
                  </a:lnTo>
                  <a:lnTo>
                    <a:pt x="689529" y="308787"/>
                  </a:lnTo>
                  <a:lnTo>
                    <a:pt x="741822" y="296730"/>
                  </a:lnTo>
                  <a:lnTo>
                    <a:pt x="795411" y="286380"/>
                  </a:lnTo>
                  <a:lnTo>
                    <a:pt x="850210" y="277792"/>
                  </a:lnTo>
                  <a:lnTo>
                    <a:pt x="906131" y="271019"/>
                  </a:lnTo>
                  <a:lnTo>
                    <a:pt x="963087" y="266115"/>
                  </a:lnTo>
                  <a:lnTo>
                    <a:pt x="1020990" y="263133"/>
                  </a:lnTo>
                  <a:lnTo>
                    <a:pt x="1079754" y="262127"/>
                  </a:lnTo>
                  <a:lnTo>
                    <a:pt x="1138513" y="263133"/>
                  </a:lnTo>
                  <a:lnTo>
                    <a:pt x="1196413" y="266115"/>
                  </a:lnTo>
                  <a:lnTo>
                    <a:pt x="1253366" y="271019"/>
                  </a:lnTo>
                  <a:lnTo>
                    <a:pt x="1309285" y="277792"/>
                  </a:lnTo>
                  <a:lnTo>
                    <a:pt x="1364083" y="286380"/>
                  </a:lnTo>
                  <a:lnTo>
                    <a:pt x="1417670" y="296730"/>
                  </a:lnTo>
                  <a:lnTo>
                    <a:pt x="1469962" y="308787"/>
                  </a:lnTo>
                  <a:lnTo>
                    <a:pt x="1520869" y="322499"/>
                  </a:lnTo>
                  <a:lnTo>
                    <a:pt x="1570305" y="337812"/>
                  </a:lnTo>
                  <a:lnTo>
                    <a:pt x="1618181" y="354671"/>
                  </a:lnTo>
                  <a:lnTo>
                    <a:pt x="1664411" y="373024"/>
                  </a:lnTo>
                  <a:lnTo>
                    <a:pt x="1708907" y="392817"/>
                  </a:lnTo>
                  <a:lnTo>
                    <a:pt x="1751582" y="413996"/>
                  </a:lnTo>
                  <a:lnTo>
                    <a:pt x="1792348" y="436507"/>
                  </a:lnTo>
                  <a:lnTo>
                    <a:pt x="1831118" y="460298"/>
                  </a:lnTo>
                  <a:lnTo>
                    <a:pt x="1867804" y="485314"/>
                  </a:lnTo>
                  <a:lnTo>
                    <a:pt x="1902318" y="511501"/>
                  </a:lnTo>
                  <a:lnTo>
                    <a:pt x="1934575" y="538807"/>
                  </a:lnTo>
                  <a:lnTo>
                    <a:pt x="1964485" y="567178"/>
                  </a:lnTo>
                  <a:lnTo>
                    <a:pt x="1991961" y="596559"/>
                  </a:lnTo>
                  <a:lnTo>
                    <a:pt x="2016917" y="626898"/>
                  </a:lnTo>
                  <a:lnTo>
                    <a:pt x="2039264" y="658140"/>
                  </a:lnTo>
                  <a:lnTo>
                    <a:pt x="2075783" y="723121"/>
                  </a:lnTo>
                  <a:lnTo>
                    <a:pt x="2100819" y="791074"/>
                  </a:lnTo>
                  <a:lnTo>
                    <a:pt x="2113672" y="861569"/>
                  </a:lnTo>
                  <a:lnTo>
                    <a:pt x="2115312" y="897636"/>
                  </a:lnTo>
                  <a:lnTo>
                    <a:pt x="2113672" y="933702"/>
                  </a:lnTo>
                  <a:lnTo>
                    <a:pt x="2100819" y="1004197"/>
                  </a:lnTo>
                  <a:lnTo>
                    <a:pt x="2075783" y="1072150"/>
                  </a:lnTo>
                  <a:lnTo>
                    <a:pt x="2039264" y="1137131"/>
                  </a:lnTo>
                  <a:lnTo>
                    <a:pt x="2016917" y="1168373"/>
                  </a:lnTo>
                  <a:lnTo>
                    <a:pt x="1991961" y="1198712"/>
                  </a:lnTo>
                  <a:lnTo>
                    <a:pt x="1964485" y="1228093"/>
                  </a:lnTo>
                  <a:lnTo>
                    <a:pt x="1934575" y="1256464"/>
                  </a:lnTo>
                  <a:lnTo>
                    <a:pt x="1902318" y="1283770"/>
                  </a:lnTo>
                  <a:lnTo>
                    <a:pt x="1867804" y="1309957"/>
                  </a:lnTo>
                  <a:lnTo>
                    <a:pt x="1831118" y="1334973"/>
                  </a:lnTo>
                  <a:lnTo>
                    <a:pt x="1792348" y="1358764"/>
                  </a:lnTo>
                  <a:lnTo>
                    <a:pt x="1751582" y="1381275"/>
                  </a:lnTo>
                  <a:lnTo>
                    <a:pt x="1708907" y="1402454"/>
                  </a:lnTo>
                  <a:lnTo>
                    <a:pt x="1664411" y="1422247"/>
                  </a:lnTo>
                  <a:lnTo>
                    <a:pt x="1618181" y="1440600"/>
                  </a:lnTo>
                  <a:lnTo>
                    <a:pt x="1570305" y="1457459"/>
                  </a:lnTo>
                  <a:lnTo>
                    <a:pt x="1520869" y="1472772"/>
                  </a:lnTo>
                  <a:lnTo>
                    <a:pt x="1469962" y="1486484"/>
                  </a:lnTo>
                  <a:lnTo>
                    <a:pt x="1417670" y="1498541"/>
                  </a:lnTo>
                  <a:lnTo>
                    <a:pt x="1364083" y="1508891"/>
                  </a:lnTo>
                  <a:lnTo>
                    <a:pt x="1309285" y="1517479"/>
                  </a:lnTo>
                  <a:lnTo>
                    <a:pt x="1253366" y="1524252"/>
                  </a:lnTo>
                  <a:lnTo>
                    <a:pt x="1196413" y="1529156"/>
                  </a:lnTo>
                  <a:lnTo>
                    <a:pt x="1138513" y="1532138"/>
                  </a:lnTo>
                  <a:lnTo>
                    <a:pt x="1079754" y="1533144"/>
                  </a:lnTo>
                  <a:lnTo>
                    <a:pt x="1020990" y="1532138"/>
                  </a:lnTo>
                  <a:lnTo>
                    <a:pt x="963087" y="1529156"/>
                  </a:lnTo>
                  <a:lnTo>
                    <a:pt x="906131" y="1524252"/>
                  </a:lnTo>
                  <a:lnTo>
                    <a:pt x="850210" y="1517479"/>
                  </a:lnTo>
                  <a:lnTo>
                    <a:pt x="795411" y="1508891"/>
                  </a:lnTo>
                  <a:lnTo>
                    <a:pt x="741822" y="1498541"/>
                  </a:lnTo>
                  <a:lnTo>
                    <a:pt x="689529" y="1486484"/>
                  </a:lnTo>
                  <a:lnTo>
                    <a:pt x="638622" y="1472772"/>
                  </a:lnTo>
                  <a:lnTo>
                    <a:pt x="589186" y="1457459"/>
                  </a:lnTo>
                  <a:lnTo>
                    <a:pt x="541309" y="1440600"/>
                  </a:lnTo>
                  <a:lnTo>
                    <a:pt x="495079" y="1422247"/>
                  </a:lnTo>
                  <a:lnTo>
                    <a:pt x="450583" y="1402454"/>
                  </a:lnTo>
                  <a:lnTo>
                    <a:pt x="407909" y="1381275"/>
                  </a:lnTo>
                  <a:lnTo>
                    <a:pt x="367144" y="1358764"/>
                  </a:lnTo>
                  <a:lnTo>
                    <a:pt x="328376" y="1334973"/>
                  </a:lnTo>
                  <a:lnTo>
                    <a:pt x="291691" y="1309957"/>
                  </a:lnTo>
                  <a:lnTo>
                    <a:pt x="257177" y="1283770"/>
                  </a:lnTo>
                  <a:lnTo>
                    <a:pt x="224922" y="1256464"/>
                  </a:lnTo>
                  <a:lnTo>
                    <a:pt x="195013" y="1228093"/>
                  </a:lnTo>
                  <a:lnTo>
                    <a:pt x="167538" y="1198712"/>
                  </a:lnTo>
                  <a:lnTo>
                    <a:pt x="142584" y="1168373"/>
                  </a:lnTo>
                  <a:lnTo>
                    <a:pt x="120238" y="1137131"/>
                  </a:lnTo>
                  <a:lnTo>
                    <a:pt x="83721" y="1072150"/>
                  </a:lnTo>
                  <a:lnTo>
                    <a:pt x="58687" y="1004197"/>
                  </a:lnTo>
                  <a:lnTo>
                    <a:pt x="45835" y="933702"/>
                  </a:lnTo>
                  <a:lnTo>
                    <a:pt x="44196" y="897636"/>
                  </a:lnTo>
                  <a:close/>
                </a:path>
                <a:path w="2545080" h="3967479">
                  <a:moveTo>
                    <a:pt x="120396" y="1959864"/>
                  </a:moveTo>
                  <a:lnTo>
                    <a:pt x="130240" y="1914380"/>
                  </a:lnTo>
                  <a:lnTo>
                    <a:pt x="158880" y="1870854"/>
                  </a:lnTo>
                  <a:lnTo>
                    <a:pt x="204972" y="1829721"/>
                  </a:lnTo>
                  <a:lnTo>
                    <a:pt x="267175" y="1791417"/>
                  </a:lnTo>
                  <a:lnTo>
                    <a:pt x="303899" y="1773461"/>
                  </a:lnTo>
                  <a:lnTo>
                    <a:pt x="344147" y="1756377"/>
                  </a:lnTo>
                  <a:lnTo>
                    <a:pt x="387752" y="1740217"/>
                  </a:lnTo>
                  <a:lnTo>
                    <a:pt x="434545" y="1725038"/>
                  </a:lnTo>
                  <a:lnTo>
                    <a:pt x="484360" y="1710892"/>
                  </a:lnTo>
                  <a:lnTo>
                    <a:pt x="537028" y="1697835"/>
                  </a:lnTo>
                  <a:lnTo>
                    <a:pt x="592381" y="1685921"/>
                  </a:lnTo>
                  <a:lnTo>
                    <a:pt x="650252" y="1675205"/>
                  </a:lnTo>
                  <a:lnTo>
                    <a:pt x="710474" y="1665741"/>
                  </a:lnTo>
                  <a:lnTo>
                    <a:pt x="772877" y="1657583"/>
                  </a:lnTo>
                  <a:lnTo>
                    <a:pt x="837295" y="1650786"/>
                  </a:lnTo>
                  <a:lnTo>
                    <a:pt x="903560" y="1645405"/>
                  </a:lnTo>
                  <a:lnTo>
                    <a:pt x="971504" y="1641494"/>
                  </a:lnTo>
                  <a:lnTo>
                    <a:pt x="1040959" y="1639107"/>
                  </a:lnTo>
                  <a:lnTo>
                    <a:pt x="1111758" y="1638300"/>
                  </a:lnTo>
                  <a:lnTo>
                    <a:pt x="1182554" y="1639107"/>
                  </a:lnTo>
                  <a:lnTo>
                    <a:pt x="1252008" y="1641494"/>
                  </a:lnTo>
                  <a:lnTo>
                    <a:pt x="1319951" y="1645405"/>
                  </a:lnTo>
                  <a:lnTo>
                    <a:pt x="1386215" y="1650786"/>
                  </a:lnTo>
                  <a:lnTo>
                    <a:pt x="1450633" y="1657583"/>
                  </a:lnTo>
                  <a:lnTo>
                    <a:pt x="1513036" y="1665741"/>
                  </a:lnTo>
                  <a:lnTo>
                    <a:pt x="1573257" y="1675205"/>
                  </a:lnTo>
                  <a:lnTo>
                    <a:pt x="1631128" y="1685921"/>
                  </a:lnTo>
                  <a:lnTo>
                    <a:pt x="1686482" y="1697835"/>
                  </a:lnTo>
                  <a:lnTo>
                    <a:pt x="1739150" y="1710892"/>
                  </a:lnTo>
                  <a:lnTo>
                    <a:pt x="1788965" y="1725038"/>
                  </a:lnTo>
                  <a:lnTo>
                    <a:pt x="1835759" y="1740217"/>
                  </a:lnTo>
                  <a:lnTo>
                    <a:pt x="1879364" y="1756377"/>
                  </a:lnTo>
                  <a:lnTo>
                    <a:pt x="1919612" y="1773461"/>
                  </a:lnTo>
                  <a:lnTo>
                    <a:pt x="1956337" y="1791417"/>
                  </a:lnTo>
                  <a:lnTo>
                    <a:pt x="2018541" y="1829721"/>
                  </a:lnTo>
                  <a:lnTo>
                    <a:pt x="2064634" y="1870854"/>
                  </a:lnTo>
                  <a:lnTo>
                    <a:pt x="2093274" y="1914380"/>
                  </a:lnTo>
                  <a:lnTo>
                    <a:pt x="2103120" y="1959864"/>
                  </a:lnTo>
                  <a:lnTo>
                    <a:pt x="2100630" y="1982822"/>
                  </a:lnTo>
                  <a:lnTo>
                    <a:pt x="2081220" y="2027382"/>
                  </a:lnTo>
                  <a:lnTo>
                    <a:pt x="2043685" y="2069766"/>
                  </a:lnTo>
                  <a:lnTo>
                    <a:pt x="1989369" y="2109539"/>
                  </a:lnTo>
                  <a:lnTo>
                    <a:pt x="1919612" y="2146266"/>
                  </a:lnTo>
                  <a:lnTo>
                    <a:pt x="1879364" y="2163350"/>
                  </a:lnTo>
                  <a:lnTo>
                    <a:pt x="1835759" y="2179510"/>
                  </a:lnTo>
                  <a:lnTo>
                    <a:pt x="1788965" y="2194689"/>
                  </a:lnTo>
                  <a:lnTo>
                    <a:pt x="1739150" y="2208835"/>
                  </a:lnTo>
                  <a:lnTo>
                    <a:pt x="1686482" y="2221892"/>
                  </a:lnTo>
                  <a:lnTo>
                    <a:pt x="1631128" y="2233806"/>
                  </a:lnTo>
                  <a:lnTo>
                    <a:pt x="1573257" y="2244522"/>
                  </a:lnTo>
                  <a:lnTo>
                    <a:pt x="1513036" y="2253986"/>
                  </a:lnTo>
                  <a:lnTo>
                    <a:pt x="1450633" y="2262144"/>
                  </a:lnTo>
                  <a:lnTo>
                    <a:pt x="1386215" y="2268941"/>
                  </a:lnTo>
                  <a:lnTo>
                    <a:pt x="1319951" y="2274322"/>
                  </a:lnTo>
                  <a:lnTo>
                    <a:pt x="1252008" y="2278233"/>
                  </a:lnTo>
                  <a:lnTo>
                    <a:pt x="1182554" y="2280620"/>
                  </a:lnTo>
                  <a:lnTo>
                    <a:pt x="1111758" y="2281428"/>
                  </a:lnTo>
                  <a:lnTo>
                    <a:pt x="1040959" y="2280620"/>
                  </a:lnTo>
                  <a:lnTo>
                    <a:pt x="971504" y="2278233"/>
                  </a:lnTo>
                  <a:lnTo>
                    <a:pt x="903560" y="2274322"/>
                  </a:lnTo>
                  <a:lnTo>
                    <a:pt x="837295" y="2268941"/>
                  </a:lnTo>
                  <a:lnTo>
                    <a:pt x="772877" y="2262144"/>
                  </a:lnTo>
                  <a:lnTo>
                    <a:pt x="710474" y="2253986"/>
                  </a:lnTo>
                  <a:lnTo>
                    <a:pt x="650252" y="2244522"/>
                  </a:lnTo>
                  <a:lnTo>
                    <a:pt x="592381" y="2233806"/>
                  </a:lnTo>
                  <a:lnTo>
                    <a:pt x="537028" y="2221892"/>
                  </a:lnTo>
                  <a:lnTo>
                    <a:pt x="484360" y="2208835"/>
                  </a:lnTo>
                  <a:lnTo>
                    <a:pt x="434545" y="2194689"/>
                  </a:lnTo>
                  <a:lnTo>
                    <a:pt x="387752" y="2179510"/>
                  </a:lnTo>
                  <a:lnTo>
                    <a:pt x="344147" y="2163350"/>
                  </a:lnTo>
                  <a:lnTo>
                    <a:pt x="303899" y="2146266"/>
                  </a:lnTo>
                  <a:lnTo>
                    <a:pt x="267175" y="2128310"/>
                  </a:lnTo>
                  <a:lnTo>
                    <a:pt x="204972" y="2090006"/>
                  </a:lnTo>
                  <a:lnTo>
                    <a:pt x="158880" y="2048873"/>
                  </a:lnTo>
                  <a:lnTo>
                    <a:pt x="130240" y="2005347"/>
                  </a:lnTo>
                  <a:lnTo>
                    <a:pt x="120396" y="1959864"/>
                  </a:lnTo>
                  <a:close/>
                </a:path>
                <a:path w="2545080" h="3967479">
                  <a:moveTo>
                    <a:pt x="109728" y="3507486"/>
                  </a:moveTo>
                  <a:lnTo>
                    <a:pt x="118482" y="3442484"/>
                  </a:lnTo>
                  <a:lnTo>
                    <a:pt x="143952" y="3380282"/>
                  </a:lnTo>
                  <a:lnTo>
                    <a:pt x="184942" y="3321503"/>
                  </a:lnTo>
                  <a:lnTo>
                    <a:pt x="210884" y="3293591"/>
                  </a:lnTo>
                  <a:lnTo>
                    <a:pt x="240259" y="3266768"/>
                  </a:lnTo>
                  <a:lnTo>
                    <a:pt x="272918" y="3241112"/>
                  </a:lnTo>
                  <a:lnTo>
                    <a:pt x="308711" y="3216701"/>
                  </a:lnTo>
                  <a:lnTo>
                    <a:pt x="347488" y="3193612"/>
                  </a:lnTo>
                  <a:lnTo>
                    <a:pt x="389102" y="3171923"/>
                  </a:lnTo>
                  <a:lnTo>
                    <a:pt x="433403" y="3151712"/>
                  </a:lnTo>
                  <a:lnTo>
                    <a:pt x="480241" y="3133057"/>
                  </a:lnTo>
                  <a:lnTo>
                    <a:pt x="529468" y="3116035"/>
                  </a:lnTo>
                  <a:lnTo>
                    <a:pt x="580934" y="3100724"/>
                  </a:lnTo>
                  <a:lnTo>
                    <a:pt x="634490" y="3087203"/>
                  </a:lnTo>
                  <a:lnTo>
                    <a:pt x="689986" y="3075548"/>
                  </a:lnTo>
                  <a:lnTo>
                    <a:pt x="747275" y="3065838"/>
                  </a:lnTo>
                  <a:lnTo>
                    <a:pt x="806206" y="3058150"/>
                  </a:lnTo>
                  <a:lnTo>
                    <a:pt x="866630" y="3052563"/>
                  </a:lnTo>
                  <a:lnTo>
                    <a:pt x="928398" y="3049153"/>
                  </a:lnTo>
                  <a:lnTo>
                    <a:pt x="991361" y="3048000"/>
                  </a:lnTo>
                  <a:lnTo>
                    <a:pt x="1054325" y="3049153"/>
                  </a:lnTo>
                  <a:lnTo>
                    <a:pt x="1116093" y="3052563"/>
                  </a:lnTo>
                  <a:lnTo>
                    <a:pt x="1176517" y="3058150"/>
                  </a:lnTo>
                  <a:lnTo>
                    <a:pt x="1235448" y="3065838"/>
                  </a:lnTo>
                  <a:lnTo>
                    <a:pt x="1292737" y="3075548"/>
                  </a:lnTo>
                  <a:lnTo>
                    <a:pt x="1348233" y="3087203"/>
                  </a:lnTo>
                  <a:lnTo>
                    <a:pt x="1401789" y="3100724"/>
                  </a:lnTo>
                  <a:lnTo>
                    <a:pt x="1453255" y="3116035"/>
                  </a:lnTo>
                  <a:lnTo>
                    <a:pt x="1502482" y="3133057"/>
                  </a:lnTo>
                  <a:lnTo>
                    <a:pt x="1549320" y="3151712"/>
                  </a:lnTo>
                  <a:lnTo>
                    <a:pt x="1593621" y="3171923"/>
                  </a:lnTo>
                  <a:lnTo>
                    <a:pt x="1635235" y="3193612"/>
                  </a:lnTo>
                  <a:lnTo>
                    <a:pt x="1674012" y="3216701"/>
                  </a:lnTo>
                  <a:lnTo>
                    <a:pt x="1709805" y="3241112"/>
                  </a:lnTo>
                  <a:lnTo>
                    <a:pt x="1742464" y="3266768"/>
                  </a:lnTo>
                  <a:lnTo>
                    <a:pt x="1771839" y="3293591"/>
                  </a:lnTo>
                  <a:lnTo>
                    <a:pt x="1797781" y="3321503"/>
                  </a:lnTo>
                  <a:lnTo>
                    <a:pt x="1838771" y="3380282"/>
                  </a:lnTo>
                  <a:lnTo>
                    <a:pt x="1864241" y="3442484"/>
                  </a:lnTo>
                  <a:lnTo>
                    <a:pt x="1872996" y="3507486"/>
                  </a:lnTo>
                  <a:lnTo>
                    <a:pt x="1870782" y="3540301"/>
                  </a:lnTo>
                  <a:lnTo>
                    <a:pt x="1853521" y="3603985"/>
                  </a:lnTo>
                  <a:lnTo>
                    <a:pt x="1820142" y="3664556"/>
                  </a:lnTo>
                  <a:lnTo>
                    <a:pt x="1771839" y="3721391"/>
                  </a:lnTo>
                  <a:lnTo>
                    <a:pt x="1742464" y="3748214"/>
                  </a:lnTo>
                  <a:lnTo>
                    <a:pt x="1709805" y="3773870"/>
                  </a:lnTo>
                  <a:lnTo>
                    <a:pt x="1674012" y="3798280"/>
                  </a:lnTo>
                  <a:lnTo>
                    <a:pt x="1635235" y="3821369"/>
                  </a:lnTo>
                  <a:lnTo>
                    <a:pt x="1593621" y="3843057"/>
                  </a:lnTo>
                  <a:lnTo>
                    <a:pt x="1549320" y="3863267"/>
                  </a:lnTo>
                  <a:lnTo>
                    <a:pt x="1502482" y="3881921"/>
                  </a:lnTo>
                  <a:lnTo>
                    <a:pt x="1453255" y="3898942"/>
                  </a:lnTo>
                  <a:lnTo>
                    <a:pt x="1401789" y="3914251"/>
                  </a:lnTo>
                  <a:lnTo>
                    <a:pt x="1348233" y="3927772"/>
                  </a:lnTo>
                  <a:lnTo>
                    <a:pt x="1292737" y="3939426"/>
                  </a:lnTo>
                  <a:lnTo>
                    <a:pt x="1235448" y="3949135"/>
                  </a:lnTo>
                  <a:lnTo>
                    <a:pt x="1176517" y="3956822"/>
                  </a:lnTo>
                  <a:lnTo>
                    <a:pt x="1116093" y="3962409"/>
                  </a:lnTo>
                  <a:lnTo>
                    <a:pt x="1054325" y="3965818"/>
                  </a:lnTo>
                  <a:lnTo>
                    <a:pt x="991361" y="3966972"/>
                  </a:lnTo>
                  <a:lnTo>
                    <a:pt x="928398" y="3965818"/>
                  </a:lnTo>
                  <a:lnTo>
                    <a:pt x="866630" y="3962409"/>
                  </a:lnTo>
                  <a:lnTo>
                    <a:pt x="806206" y="3956822"/>
                  </a:lnTo>
                  <a:lnTo>
                    <a:pt x="747275" y="3949135"/>
                  </a:lnTo>
                  <a:lnTo>
                    <a:pt x="689986" y="3939426"/>
                  </a:lnTo>
                  <a:lnTo>
                    <a:pt x="634490" y="3927772"/>
                  </a:lnTo>
                  <a:lnTo>
                    <a:pt x="580934" y="3914251"/>
                  </a:lnTo>
                  <a:lnTo>
                    <a:pt x="529468" y="3898942"/>
                  </a:lnTo>
                  <a:lnTo>
                    <a:pt x="480241" y="3881921"/>
                  </a:lnTo>
                  <a:lnTo>
                    <a:pt x="433403" y="3863267"/>
                  </a:lnTo>
                  <a:lnTo>
                    <a:pt x="389102" y="3843057"/>
                  </a:lnTo>
                  <a:lnTo>
                    <a:pt x="347488" y="3821369"/>
                  </a:lnTo>
                  <a:lnTo>
                    <a:pt x="308711" y="3798280"/>
                  </a:lnTo>
                  <a:lnTo>
                    <a:pt x="272918" y="3773870"/>
                  </a:lnTo>
                  <a:lnTo>
                    <a:pt x="240259" y="3748214"/>
                  </a:lnTo>
                  <a:lnTo>
                    <a:pt x="210884" y="3721391"/>
                  </a:lnTo>
                  <a:lnTo>
                    <a:pt x="184942" y="3693479"/>
                  </a:lnTo>
                  <a:lnTo>
                    <a:pt x="143952" y="3634698"/>
                  </a:lnTo>
                  <a:lnTo>
                    <a:pt x="118482" y="3572493"/>
                  </a:lnTo>
                  <a:lnTo>
                    <a:pt x="109728" y="3507486"/>
                  </a:lnTo>
                  <a:close/>
                </a:path>
              </a:pathLst>
            </a:custGeom>
            <a:ln w="12192">
              <a:solidFill>
                <a:srgbClr val="A2A2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63066" y="110439"/>
            <a:ext cx="10257334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OTBI - Extensive Reporting</a:t>
            </a:r>
            <a:r>
              <a:rPr sz="2800" spc="50" dirty="0"/>
              <a:t> </a:t>
            </a:r>
            <a:r>
              <a:rPr sz="2800" spc="-5" dirty="0"/>
              <a:t>Content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516124"/>
              </p:ext>
            </p:extLst>
          </p:nvPr>
        </p:nvGraphicFramePr>
        <p:xfrm>
          <a:off x="593420" y="795454"/>
          <a:ext cx="2519045" cy="38761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19045"/>
              </a:tblGrid>
              <a:tr h="28188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HCM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1313"/>
                    </a:solidFill>
                  </a:tcPr>
                </a:tc>
              </a:tr>
              <a:tr h="2014562">
                <a:tc>
                  <a:txBody>
                    <a:bodyPr/>
                    <a:lstStyle/>
                    <a:p>
                      <a:pPr marL="287655" indent="-177165">
                        <a:lnSpc>
                          <a:spcPct val="100000"/>
                        </a:lnSpc>
                        <a:spcBef>
                          <a:spcPts val="235"/>
                        </a:spcBef>
                        <a:buFont typeface="Wingdings"/>
                        <a:buChar char=""/>
                        <a:tabLst>
                          <a:tab pos="288290" algn="l"/>
                        </a:tabLst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Benefits</a:t>
                      </a:r>
                    </a:p>
                    <a:p>
                      <a:pPr marL="287655" indent="-177165">
                        <a:lnSpc>
                          <a:spcPct val="100000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288290" algn="l"/>
                        </a:tabLst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Compensation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 marL="287655" indent="-177165">
                        <a:lnSpc>
                          <a:spcPct val="100000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288290" algn="l"/>
                        </a:tabLst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Payroll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 marL="287655" indent="-177165">
                        <a:lnSpc>
                          <a:spcPct val="100000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288290" algn="l"/>
                        </a:tabLst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Workforce 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Talent</a:t>
                      </a:r>
                      <a:r>
                        <a:rPr sz="12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Review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 marL="287655" indent="-177165">
                        <a:lnSpc>
                          <a:spcPct val="100000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288290" algn="l"/>
                        </a:tabLst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Workforce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Goals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 marL="287655" indent="-177165">
                        <a:lnSpc>
                          <a:spcPct val="100000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288290" algn="l"/>
                        </a:tabLst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Workforce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Performance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 marL="287655" indent="-177165">
                        <a:lnSpc>
                          <a:spcPct val="100000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288290" algn="l"/>
                        </a:tabLst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Workforce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Profiles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 marL="287655" indent="-177165">
                        <a:lnSpc>
                          <a:spcPct val="100000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288290" algn="l"/>
                        </a:tabLst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Workforce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Management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</a:tr>
              <a:tr h="31639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Projects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4135" marB="0">
                    <a:lnT w="762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1313"/>
                    </a:solidFill>
                  </a:tcPr>
                </a:tc>
              </a:tr>
              <a:tr h="1263281">
                <a:tc>
                  <a:txBody>
                    <a:bodyPr/>
                    <a:lstStyle/>
                    <a:p>
                      <a:pPr marL="287655" indent="-177165">
                        <a:lnSpc>
                          <a:spcPct val="100000"/>
                        </a:lnSpc>
                        <a:spcBef>
                          <a:spcPts val="240"/>
                        </a:spcBef>
                        <a:buFont typeface="Wingdings"/>
                        <a:buChar char=""/>
                        <a:tabLst>
                          <a:tab pos="288290" algn="l"/>
                        </a:tabLst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Project</a:t>
                      </a:r>
                      <a:r>
                        <a:rPr sz="12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Billing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87655" indent="-177165">
                        <a:lnSpc>
                          <a:spcPct val="100000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288290" algn="l"/>
                        </a:tabLst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Project</a:t>
                      </a:r>
                      <a:r>
                        <a:rPr sz="12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Costing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87655" indent="-177165">
                        <a:lnSpc>
                          <a:spcPct val="100000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288290" algn="l"/>
                        </a:tabLst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Project</a:t>
                      </a:r>
                      <a:r>
                        <a:rPr sz="12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Control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4E4E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068189"/>
              </p:ext>
            </p:extLst>
          </p:nvPr>
        </p:nvGraphicFramePr>
        <p:xfrm>
          <a:off x="5939155" y="795454"/>
          <a:ext cx="2519045" cy="41384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19045"/>
              </a:tblGrid>
              <a:tr h="28188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CRM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1313"/>
                    </a:solidFill>
                  </a:tcPr>
                </a:tc>
              </a:tr>
              <a:tr h="1854415">
                <a:tc>
                  <a:txBody>
                    <a:bodyPr/>
                    <a:lstStyle/>
                    <a:p>
                      <a:pPr marL="288925" indent="-177165">
                        <a:lnSpc>
                          <a:spcPct val="100000"/>
                        </a:lnSpc>
                        <a:spcBef>
                          <a:spcPts val="235"/>
                        </a:spcBef>
                        <a:buFont typeface="Wingdings"/>
                        <a:buChar char=""/>
                        <a:tabLst>
                          <a:tab pos="289560" algn="l"/>
                        </a:tabLst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Incentive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Compensation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88925" indent="-177165">
                        <a:lnSpc>
                          <a:spcPct val="100000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289560" algn="l"/>
                        </a:tabLst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Marketing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88925" indent="-177165">
                        <a:lnSpc>
                          <a:spcPct val="100000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289560" algn="l"/>
                        </a:tabLst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Marketing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Segmentation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88925" indent="-177165">
                        <a:lnSpc>
                          <a:spcPct val="100000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289560" algn="l"/>
                        </a:tabLst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Partners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88925" indent="-177165">
                        <a:lnSpc>
                          <a:spcPct val="100000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289560" algn="l"/>
                        </a:tabLst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Sales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</a:tr>
              <a:tr h="317538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SCM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4769" marB="0">
                    <a:lnT w="762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1313"/>
                    </a:solidFill>
                  </a:tcPr>
                </a:tc>
              </a:tr>
              <a:tr h="1684654">
                <a:tc>
                  <a:txBody>
                    <a:bodyPr/>
                    <a:lstStyle/>
                    <a:p>
                      <a:pPr marL="288925" indent="-177165">
                        <a:lnSpc>
                          <a:spcPct val="100000"/>
                        </a:lnSpc>
                        <a:spcBef>
                          <a:spcPts val="244"/>
                        </a:spcBef>
                        <a:buFont typeface="Wingdings"/>
                        <a:buChar char=""/>
                        <a:tabLst>
                          <a:tab pos="289560" algn="l"/>
                        </a:tabLst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Inventory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88925" indent="-177165">
                        <a:lnSpc>
                          <a:spcPct val="100000"/>
                        </a:lnSpc>
                        <a:spcBef>
                          <a:spcPts val="500"/>
                        </a:spcBef>
                        <a:buFont typeface="Wingdings"/>
                        <a:buChar char=""/>
                        <a:tabLst>
                          <a:tab pos="289560" algn="l"/>
                        </a:tabLst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Distributed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Order</a:t>
                      </a:r>
                      <a:r>
                        <a:rPr sz="12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Orchestration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88925" indent="-177165">
                        <a:lnSpc>
                          <a:spcPct val="100000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289560" algn="l"/>
                        </a:tabLst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Costing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88925" marR="890269" indent="-177165">
                        <a:lnSpc>
                          <a:spcPct val="100000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289560" algn="l"/>
                        </a:tabLst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Product</a:t>
                      </a:r>
                      <a:r>
                        <a:rPr sz="120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Information 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Management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88925" indent="-177165">
                        <a:lnSpc>
                          <a:spcPct val="100000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289560" algn="l"/>
                        </a:tabLst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Shipping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1114" marB="0"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4E4E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299548"/>
              </p:ext>
            </p:extLst>
          </p:nvPr>
        </p:nvGraphicFramePr>
        <p:xfrm>
          <a:off x="3274441" y="795454"/>
          <a:ext cx="2519045" cy="38761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19045"/>
              </a:tblGrid>
              <a:tr h="28188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Financials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1313"/>
                    </a:solidFill>
                  </a:tcPr>
                </a:tc>
              </a:tr>
              <a:tr h="2014562">
                <a:tc>
                  <a:txBody>
                    <a:bodyPr/>
                    <a:lstStyle/>
                    <a:p>
                      <a:pPr marL="288290" indent="-177165">
                        <a:lnSpc>
                          <a:spcPct val="100000"/>
                        </a:lnSpc>
                        <a:spcBef>
                          <a:spcPts val="235"/>
                        </a:spcBef>
                        <a:buFont typeface="Wingdings"/>
                        <a:buChar char=""/>
                        <a:tabLst>
                          <a:tab pos="288925" algn="l"/>
                        </a:tabLst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General</a:t>
                      </a:r>
                      <a:r>
                        <a:rPr sz="12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Ledger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88290" indent="-177165">
                        <a:lnSpc>
                          <a:spcPct val="100000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288925" algn="l"/>
                        </a:tabLst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Sub Ledger</a:t>
                      </a:r>
                      <a:r>
                        <a:rPr sz="120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Accounting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88290" indent="-177165">
                        <a:lnSpc>
                          <a:spcPct val="100000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288925" algn="l"/>
                        </a:tabLst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Intercompany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88290" indent="-177165">
                        <a:lnSpc>
                          <a:spcPct val="100000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288925" algn="l"/>
                        </a:tabLst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Payable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88290" indent="-177165">
                        <a:lnSpc>
                          <a:spcPct val="100000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288925" algn="l"/>
                        </a:tabLst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Receivable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88290" indent="-177165">
                        <a:lnSpc>
                          <a:spcPct val="100000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288925" algn="l"/>
                        </a:tabLst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Fixed</a:t>
                      </a:r>
                      <a:r>
                        <a:rPr sz="12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Assets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88290" indent="-177165">
                        <a:lnSpc>
                          <a:spcPct val="100000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288925" algn="l"/>
                        </a:tabLst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Cash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Management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</a:tr>
              <a:tr h="31639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Procurement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4135" marB="0">
                    <a:lnT w="762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1313"/>
                    </a:solidFill>
                  </a:tcPr>
                </a:tc>
              </a:tr>
              <a:tr h="1263281">
                <a:tc>
                  <a:txBody>
                    <a:bodyPr/>
                    <a:lstStyle/>
                    <a:p>
                      <a:pPr marL="288290" indent="-177165">
                        <a:lnSpc>
                          <a:spcPct val="100000"/>
                        </a:lnSpc>
                        <a:spcBef>
                          <a:spcPts val="240"/>
                        </a:spcBef>
                        <a:buFont typeface="Wingdings"/>
                        <a:buChar char=""/>
                        <a:tabLst>
                          <a:tab pos="288925" algn="l"/>
                        </a:tabLst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Purchasing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88290" indent="-177165">
                        <a:lnSpc>
                          <a:spcPct val="100000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288925" algn="l"/>
                        </a:tabLst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Self-Service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Procurement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88290" indent="-177165">
                        <a:lnSpc>
                          <a:spcPct val="100000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288925" algn="l"/>
                        </a:tabLst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Sourcing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88290" indent="-177165">
                        <a:lnSpc>
                          <a:spcPct val="100000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288925" algn="l"/>
                        </a:tabLst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iSupplier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Portal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4E4E4"/>
                    </a:solidFill>
                  </a:tcPr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367" y="209550"/>
            <a:ext cx="5647233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OTBI Reporting </a:t>
            </a:r>
            <a:r>
              <a:rPr sz="2800" spc="-50" dirty="0"/>
              <a:t>Tools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213603" y="898399"/>
            <a:ext cx="2890520" cy="867410"/>
            <a:chOff x="5213603" y="594360"/>
            <a:chExt cx="2890520" cy="867410"/>
          </a:xfrm>
        </p:grpSpPr>
        <p:sp>
          <p:nvSpPr>
            <p:cNvPr id="4" name="object 4"/>
            <p:cNvSpPr/>
            <p:nvPr/>
          </p:nvSpPr>
          <p:spPr>
            <a:xfrm>
              <a:off x="5282214" y="630049"/>
              <a:ext cx="2821640" cy="77596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13603" y="594360"/>
              <a:ext cx="1972055" cy="86715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979420" y="819150"/>
            <a:ext cx="2505710" cy="2613660"/>
            <a:chOff x="2979420" y="515112"/>
            <a:chExt cx="2505710" cy="2613660"/>
          </a:xfrm>
        </p:grpSpPr>
        <p:sp>
          <p:nvSpPr>
            <p:cNvPr id="7" name="object 7"/>
            <p:cNvSpPr/>
            <p:nvPr/>
          </p:nvSpPr>
          <p:spPr>
            <a:xfrm>
              <a:off x="2979420" y="515112"/>
              <a:ext cx="2147316" cy="131978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14472" y="550164"/>
              <a:ext cx="2022348" cy="119481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09900" y="545592"/>
              <a:ext cx="2032000" cy="1203960"/>
            </a:xfrm>
            <a:custGeom>
              <a:avLst/>
              <a:gdLst/>
              <a:ahLst/>
              <a:cxnLst/>
              <a:rect l="l" t="t" r="r" b="b"/>
              <a:pathLst>
                <a:path w="2032000" h="1203960">
                  <a:moveTo>
                    <a:pt x="0" y="1203960"/>
                  </a:moveTo>
                  <a:lnTo>
                    <a:pt x="2031492" y="1203960"/>
                  </a:lnTo>
                  <a:lnTo>
                    <a:pt x="2031492" y="0"/>
                  </a:lnTo>
                  <a:lnTo>
                    <a:pt x="0" y="0"/>
                  </a:lnTo>
                  <a:lnTo>
                    <a:pt x="0" y="120396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60776" y="1851659"/>
              <a:ext cx="2324100" cy="127711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95828" y="1886712"/>
              <a:ext cx="2199131" cy="115214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91256" y="1882140"/>
              <a:ext cx="2208530" cy="1161415"/>
            </a:xfrm>
            <a:custGeom>
              <a:avLst/>
              <a:gdLst/>
              <a:ahLst/>
              <a:cxnLst/>
              <a:rect l="l" t="t" r="r" b="b"/>
              <a:pathLst>
                <a:path w="2208529" h="1161414">
                  <a:moveTo>
                    <a:pt x="0" y="1161288"/>
                  </a:moveTo>
                  <a:lnTo>
                    <a:pt x="2208275" y="1161288"/>
                  </a:lnTo>
                  <a:lnTo>
                    <a:pt x="2208275" y="0"/>
                  </a:lnTo>
                  <a:lnTo>
                    <a:pt x="0" y="0"/>
                  </a:lnTo>
                  <a:lnTo>
                    <a:pt x="0" y="1161288"/>
                  </a:lnTo>
                  <a:close/>
                </a:path>
              </a:pathLst>
            </a:custGeom>
            <a:ln w="9143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269991" y="941070"/>
            <a:ext cx="2772410" cy="655949"/>
          </a:xfrm>
          <a:prstGeom prst="rect">
            <a:avLst/>
          </a:prstGeom>
          <a:solidFill>
            <a:srgbClr val="FFD0D0">
              <a:alpha val="50195"/>
            </a:srgbClr>
          </a:solidFill>
        </p:spPr>
        <p:txBody>
          <a:bodyPr vert="horz" wrap="square" lIns="0" tIns="4000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15"/>
              </a:spcBef>
            </a:pPr>
            <a:r>
              <a:rPr sz="1600" spc="-5" dirty="0">
                <a:solidFill>
                  <a:srgbClr val="424545"/>
                </a:solidFill>
                <a:latin typeface="Arial"/>
                <a:cs typeface="Arial"/>
              </a:rPr>
              <a:t>Casual</a:t>
            </a:r>
            <a:r>
              <a:rPr sz="1600" spc="-15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424545"/>
                </a:solidFill>
                <a:latin typeface="Arial"/>
                <a:cs typeface="Arial"/>
              </a:rPr>
              <a:t>Users</a:t>
            </a:r>
            <a:endParaRPr sz="1600">
              <a:latin typeface="Arial"/>
              <a:cs typeface="Arial"/>
            </a:endParaRPr>
          </a:p>
          <a:p>
            <a:pPr marL="205104" indent="-113030">
              <a:lnSpc>
                <a:spcPct val="100000"/>
              </a:lnSpc>
              <a:spcBef>
                <a:spcPts val="5"/>
              </a:spcBef>
              <a:buClr>
                <a:srgbClr val="FF1313"/>
              </a:buClr>
              <a:buChar char="•"/>
              <a:tabLst>
                <a:tab pos="205740" algn="l"/>
              </a:tabLst>
            </a:pPr>
            <a:r>
              <a:rPr sz="1200" spc="-5" dirty="0">
                <a:solidFill>
                  <a:srgbClr val="424545"/>
                </a:solidFill>
                <a:latin typeface="Arial"/>
                <a:cs typeface="Arial"/>
              </a:rPr>
              <a:t>Run</a:t>
            </a:r>
            <a:r>
              <a:rPr sz="1200" spc="-25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24545"/>
                </a:solidFill>
                <a:latin typeface="Arial"/>
                <a:cs typeface="Arial"/>
              </a:rPr>
              <a:t>Report</a:t>
            </a:r>
            <a:endParaRPr sz="1200">
              <a:latin typeface="Arial"/>
              <a:cs typeface="Arial"/>
            </a:endParaRPr>
          </a:p>
          <a:p>
            <a:pPr marL="205104" indent="-113030">
              <a:lnSpc>
                <a:spcPct val="100000"/>
              </a:lnSpc>
              <a:buClr>
                <a:srgbClr val="FF1313"/>
              </a:buClr>
              <a:buChar char="•"/>
              <a:tabLst>
                <a:tab pos="205740" algn="l"/>
              </a:tabLst>
            </a:pPr>
            <a:r>
              <a:rPr sz="1200" spc="-5" dirty="0">
                <a:solidFill>
                  <a:srgbClr val="424545"/>
                </a:solidFill>
                <a:latin typeface="Arial"/>
                <a:cs typeface="Arial"/>
              </a:rPr>
              <a:t>Create Simple</a:t>
            </a:r>
            <a:r>
              <a:rPr sz="1200" spc="-55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24545"/>
                </a:solidFill>
                <a:latin typeface="Arial"/>
                <a:cs typeface="Arial"/>
              </a:rPr>
              <a:t>Reports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3851" y="1107643"/>
            <a:ext cx="234442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Fusion </a:t>
            </a:r>
            <a:r>
              <a:rPr sz="2000" spc="-5" dirty="0">
                <a:solidFill>
                  <a:srgbClr val="424545"/>
                </a:solidFill>
                <a:latin typeface="Arial"/>
                <a:cs typeface="Arial"/>
              </a:rPr>
              <a:t>BI</a:t>
            </a:r>
            <a:r>
              <a:rPr sz="2000" spc="-70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Composer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18047" y="1852422"/>
            <a:ext cx="3202940" cy="1598930"/>
            <a:chOff x="5718047" y="1548383"/>
            <a:chExt cx="3202940" cy="1598930"/>
          </a:xfrm>
        </p:grpSpPr>
        <p:sp>
          <p:nvSpPr>
            <p:cNvPr id="16" name="object 16"/>
            <p:cNvSpPr/>
            <p:nvPr/>
          </p:nvSpPr>
          <p:spPr>
            <a:xfrm>
              <a:off x="5786519" y="1584086"/>
              <a:ext cx="3134269" cy="151507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18047" y="1548383"/>
              <a:ext cx="2773679" cy="159867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774435" y="1895093"/>
            <a:ext cx="3084830" cy="1395254"/>
          </a:xfrm>
          <a:prstGeom prst="rect">
            <a:avLst/>
          </a:prstGeom>
          <a:solidFill>
            <a:srgbClr val="FFD0D0">
              <a:alpha val="50195"/>
            </a:srgbClr>
          </a:solidFill>
        </p:spPr>
        <p:txBody>
          <a:bodyPr vert="horz" wrap="square" lIns="0" tIns="4064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20"/>
              </a:spcBef>
            </a:pPr>
            <a:r>
              <a:rPr sz="1600" spc="-5" dirty="0">
                <a:solidFill>
                  <a:srgbClr val="424545"/>
                </a:solidFill>
                <a:latin typeface="Arial"/>
                <a:cs typeface="Arial"/>
              </a:rPr>
              <a:t>Report</a:t>
            </a:r>
            <a:r>
              <a:rPr sz="1600" spc="-80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424545"/>
                </a:solidFill>
                <a:latin typeface="Arial"/>
                <a:cs typeface="Arial"/>
              </a:rPr>
              <a:t>Authors</a:t>
            </a:r>
            <a:endParaRPr sz="1600">
              <a:latin typeface="Arial"/>
              <a:cs typeface="Arial"/>
            </a:endParaRPr>
          </a:p>
          <a:p>
            <a:pPr marL="265430" indent="-172720">
              <a:lnSpc>
                <a:spcPct val="100000"/>
              </a:lnSpc>
              <a:spcBef>
                <a:spcPts val="5"/>
              </a:spcBef>
              <a:buClr>
                <a:srgbClr val="FF1313"/>
              </a:buClr>
              <a:buChar char="•"/>
              <a:tabLst>
                <a:tab pos="265430" algn="l"/>
              </a:tabLst>
            </a:pPr>
            <a:r>
              <a:rPr sz="1200" spc="-5" dirty="0">
                <a:solidFill>
                  <a:srgbClr val="424545"/>
                </a:solidFill>
                <a:latin typeface="Arial"/>
                <a:cs typeface="Arial"/>
              </a:rPr>
              <a:t>Create full-featured</a:t>
            </a:r>
            <a:r>
              <a:rPr sz="1200" spc="-60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24545"/>
                </a:solidFill>
                <a:latin typeface="Arial"/>
                <a:cs typeface="Arial"/>
              </a:rPr>
              <a:t>reports</a:t>
            </a:r>
            <a:endParaRPr sz="1200">
              <a:latin typeface="Arial"/>
              <a:cs typeface="Arial"/>
            </a:endParaRPr>
          </a:p>
          <a:p>
            <a:pPr marL="264795" marR="573405" indent="-172720">
              <a:lnSpc>
                <a:spcPct val="100000"/>
              </a:lnSpc>
              <a:buClr>
                <a:srgbClr val="FF1313"/>
              </a:buClr>
              <a:buChar char="•"/>
              <a:tabLst>
                <a:tab pos="265430" algn="l"/>
              </a:tabLst>
            </a:pPr>
            <a:r>
              <a:rPr sz="1200" spc="-5" dirty="0">
                <a:solidFill>
                  <a:srgbClr val="424545"/>
                </a:solidFill>
                <a:latin typeface="Arial"/>
                <a:cs typeface="Arial"/>
              </a:rPr>
              <a:t>More graph options, action Links,  conditional</a:t>
            </a:r>
            <a:r>
              <a:rPr sz="1200" spc="-45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24545"/>
                </a:solidFill>
                <a:latin typeface="Arial"/>
                <a:cs typeface="Arial"/>
              </a:rPr>
              <a:t>format</a:t>
            </a:r>
            <a:endParaRPr sz="1200">
              <a:latin typeface="Arial"/>
              <a:cs typeface="Arial"/>
            </a:endParaRPr>
          </a:p>
          <a:p>
            <a:pPr marL="265430" indent="-172720">
              <a:lnSpc>
                <a:spcPct val="100000"/>
              </a:lnSpc>
              <a:buClr>
                <a:srgbClr val="FF1313"/>
              </a:buClr>
              <a:buChar char="•"/>
              <a:tabLst>
                <a:tab pos="265430" algn="l"/>
              </a:tabLst>
            </a:pPr>
            <a:r>
              <a:rPr sz="1200" spc="-5" dirty="0">
                <a:solidFill>
                  <a:srgbClr val="424545"/>
                </a:solidFill>
                <a:latin typeface="Arial"/>
                <a:cs typeface="Arial"/>
              </a:rPr>
              <a:t>Create</a:t>
            </a:r>
            <a:r>
              <a:rPr sz="1200" spc="-25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424545"/>
                </a:solidFill>
                <a:latin typeface="Arial"/>
                <a:cs typeface="Arial"/>
              </a:rPr>
              <a:t>dashboards</a:t>
            </a:r>
            <a:endParaRPr sz="1200">
              <a:latin typeface="Arial"/>
              <a:cs typeface="Arial"/>
            </a:endParaRPr>
          </a:p>
          <a:p>
            <a:pPr marL="265430" indent="-172720">
              <a:lnSpc>
                <a:spcPct val="100000"/>
              </a:lnSpc>
              <a:buClr>
                <a:srgbClr val="FF1313"/>
              </a:buClr>
              <a:buChar char="•"/>
              <a:tabLst>
                <a:tab pos="265430" algn="l"/>
              </a:tabLst>
            </a:pPr>
            <a:r>
              <a:rPr sz="1200" spc="-5" dirty="0">
                <a:solidFill>
                  <a:srgbClr val="424545"/>
                </a:solidFill>
                <a:latin typeface="Arial"/>
                <a:cs typeface="Arial"/>
              </a:rPr>
              <a:t>Schedule</a:t>
            </a:r>
            <a:r>
              <a:rPr sz="1200" spc="-40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24545"/>
                </a:solidFill>
                <a:latin typeface="Arial"/>
                <a:cs typeface="Arial"/>
              </a:rPr>
              <a:t>Reports</a:t>
            </a:r>
            <a:endParaRPr sz="1200">
              <a:latin typeface="Arial"/>
              <a:cs typeface="Arial"/>
            </a:endParaRPr>
          </a:p>
          <a:p>
            <a:pPr marL="265430" indent="-172720">
              <a:lnSpc>
                <a:spcPct val="100000"/>
              </a:lnSpc>
              <a:buClr>
                <a:srgbClr val="FF1313"/>
              </a:buClr>
              <a:buChar char="•"/>
              <a:tabLst>
                <a:tab pos="265430" algn="l"/>
              </a:tabLst>
            </a:pPr>
            <a:r>
              <a:rPr sz="1200" spc="-5" dirty="0">
                <a:solidFill>
                  <a:srgbClr val="424545"/>
                </a:solidFill>
                <a:latin typeface="Arial"/>
                <a:cs typeface="Arial"/>
              </a:rPr>
              <a:t>Leverage </a:t>
            </a:r>
            <a:r>
              <a:rPr sz="1200" dirty="0">
                <a:solidFill>
                  <a:srgbClr val="424545"/>
                </a:solidFill>
                <a:latin typeface="Arial"/>
                <a:cs typeface="Arial"/>
              </a:rPr>
              <a:t>OBIEE</a:t>
            </a:r>
            <a:r>
              <a:rPr sz="1200" spc="-40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424545"/>
                </a:solidFill>
                <a:latin typeface="Arial"/>
                <a:cs typeface="Arial"/>
              </a:rPr>
              <a:t>technology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268981" y="3536442"/>
            <a:ext cx="2659379" cy="132435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00785" y="3906012"/>
            <a:ext cx="221361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Oracle BI</a:t>
            </a:r>
            <a:r>
              <a:rPr sz="2000" spc="-105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Publisher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038088" y="3548634"/>
            <a:ext cx="3044190" cy="1233170"/>
            <a:chOff x="6038088" y="3244595"/>
            <a:chExt cx="3044190" cy="1233170"/>
          </a:xfrm>
        </p:grpSpPr>
        <p:sp>
          <p:nvSpPr>
            <p:cNvPr id="22" name="object 22"/>
            <p:cNvSpPr/>
            <p:nvPr/>
          </p:nvSpPr>
          <p:spPr>
            <a:xfrm>
              <a:off x="6106715" y="3278935"/>
              <a:ext cx="2975538" cy="114594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38088" y="3244595"/>
              <a:ext cx="2668523" cy="1232915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094476" y="3589783"/>
            <a:ext cx="2926080" cy="1027204"/>
          </a:xfrm>
          <a:prstGeom prst="rect">
            <a:avLst/>
          </a:prstGeom>
          <a:solidFill>
            <a:srgbClr val="FFD0D0">
              <a:alpha val="50195"/>
            </a:srgbClr>
          </a:solidFill>
        </p:spPr>
        <p:txBody>
          <a:bodyPr vert="horz" wrap="square" lIns="0" tIns="4191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30"/>
              </a:spcBef>
            </a:pPr>
            <a:r>
              <a:rPr sz="1600" spc="-5" dirty="0">
                <a:solidFill>
                  <a:srgbClr val="424545"/>
                </a:solidFill>
                <a:latin typeface="Arial"/>
                <a:cs typeface="Arial"/>
              </a:rPr>
              <a:t>Report</a:t>
            </a:r>
            <a:r>
              <a:rPr sz="1600" spc="-80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424545"/>
                </a:solidFill>
                <a:latin typeface="Arial"/>
                <a:cs typeface="Arial"/>
              </a:rPr>
              <a:t>Authors</a:t>
            </a:r>
            <a:endParaRPr sz="1600">
              <a:latin typeface="Arial"/>
              <a:cs typeface="Arial"/>
            </a:endParaRPr>
          </a:p>
          <a:p>
            <a:pPr marL="207010" indent="-114300">
              <a:lnSpc>
                <a:spcPct val="100000"/>
              </a:lnSpc>
              <a:spcBef>
                <a:spcPts val="5"/>
              </a:spcBef>
              <a:buClr>
                <a:srgbClr val="FF1313"/>
              </a:buClr>
              <a:buChar char="•"/>
              <a:tabLst>
                <a:tab pos="207010" algn="l"/>
              </a:tabLst>
            </a:pPr>
            <a:r>
              <a:rPr sz="1200" spc="-5" dirty="0">
                <a:solidFill>
                  <a:srgbClr val="424545"/>
                </a:solidFill>
                <a:latin typeface="Arial"/>
                <a:cs typeface="Arial"/>
              </a:rPr>
              <a:t>Create </a:t>
            </a:r>
            <a:r>
              <a:rPr sz="1200" dirty="0">
                <a:solidFill>
                  <a:srgbClr val="424545"/>
                </a:solidFill>
                <a:latin typeface="Arial"/>
                <a:cs typeface="Arial"/>
              </a:rPr>
              <a:t>fixed-format</a:t>
            </a:r>
            <a:r>
              <a:rPr sz="1200" spc="-60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24545"/>
                </a:solidFill>
                <a:latin typeface="Arial"/>
                <a:cs typeface="Arial"/>
              </a:rPr>
              <a:t>reports</a:t>
            </a:r>
            <a:endParaRPr sz="1200">
              <a:latin typeface="Arial"/>
              <a:cs typeface="Arial"/>
            </a:endParaRPr>
          </a:p>
          <a:p>
            <a:pPr marL="207010" marR="517525" indent="-114300">
              <a:lnSpc>
                <a:spcPct val="100000"/>
              </a:lnSpc>
              <a:buClr>
                <a:srgbClr val="FF1313"/>
              </a:buClr>
              <a:buChar char="•"/>
              <a:tabLst>
                <a:tab pos="207010" algn="l"/>
              </a:tabLst>
            </a:pPr>
            <a:r>
              <a:rPr sz="1200" spc="-5" dirty="0">
                <a:solidFill>
                  <a:srgbClr val="424545"/>
                </a:solidFill>
                <a:latin typeface="Arial"/>
                <a:cs typeface="Arial"/>
              </a:rPr>
              <a:t>Use </a:t>
            </a:r>
            <a:r>
              <a:rPr sz="1200" dirty="0">
                <a:solidFill>
                  <a:srgbClr val="424545"/>
                </a:solidFill>
                <a:latin typeface="Arial"/>
                <a:cs typeface="Arial"/>
              </a:rPr>
              <a:t>OTBI </a:t>
            </a:r>
            <a:r>
              <a:rPr sz="1200" spc="-5" dirty="0">
                <a:solidFill>
                  <a:srgbClr val="424545"/>
                </a:solidFill>
                <a:latin typeface="Arial"/>
                <a:cs typeface="Arial"/>
              </a:rPr>
              <a:t>Subject Areas as</a:t>
            </a:r>
            <a:r>
              <a:rPr sz="1200" spc="-114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24545"/>
                </a:solidFill>
                <a:latin typeface="Arial"/>
                <a:cs typeface="Arial"/>
              </a:rPr>
              <a:t>data  </a:t>
            </a:r>
            <a:r>
              <a:rPr sz="1200" spc="-5" dirty="0">
                <a:solidFill>
                  <a:srgbClr val="424545"/>
                </a:solidFill>
                <a:latin typeface="Arial"/>
                <a:cs typeface="Arial"/>
              </a:rPr>
              <a:t>source</a:t>
            </a:r>
            <a:endParaRPr sz="1200">
              <a:latin typeface="Arial"/>
              <a:cs typeface="Arial"/>
            </a:endParaRPr>
          </a:p>
          <a:p>
            <a:pPr marL="207010" indent="-114300">
              <a:lnSpc>
                <a:spcPct val="100000"/>
              </a:lnSpc>
              <a:buClr>
                <a:srgbClr val="FF1313"/>
              </a:buClr>
              <a:buChar char="•"/>
              <a:tabLst>
                <a:tab pos="207010" algn="l"/>
              </a:tabLst>
            </a:pPr>
            <a:r>
              <a:rPr sz="1200" spc="-5" dirty="0">
                <a:solidFill>
                  <a:srgbClr val="424545"/>
                </a:solidFill>
                <a:latin typeface="Arial"/>
                <a:cs typeface="Arial"/>
              </a:rPr>
              <a:t>Schedule, </a:t>
            </a:r>
            <a:r>
              <a:rPr sz="1200" dirty="0">
                <a:solidFill>
                  <a:srgbClr val="424545"/>
                </a:solidFill>
                <a:latin typeface="Arial"/>
                <a:cs typeface="Arial"/>
              </a:rPr>
              <a:t>FTP Reports,</a:t>
            </a:r>
            <a:r>
              <a:rPr sz="1200" spc="-80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424545"/>
                </a:solidFill>
                <a:latin typeface="Arial"/>
                <a:cs typeface="Arial"/>
              </a:rPr>
              <a:t>Bursting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4009" y="1130047"/>
            <a:ext cx="283845" cy="292735"/>
            <a:chOff x="64007" y="826008"/>
            <a:chExt cx="283845" cy="292735"/>
          </a:xfrm>
        </p:grpSpPr>
        <p:sp>
          <p:nvSpPr>
            <p:cNvPr id="26" name="object 26"/>
            <p:cNvSpPr/>
            <p:nvPr/>
          </p:nvSpPr>
          <p:spPr>
            <a:xfrm>
              <a:off x="76961" y="838962"/>
              <a:ext cx="257810" cy="266700"/>
            </a:xfrm>
            <a:custGeom>
              <a:avLst/>
              <a:gdLst/>
              <a:ahLst/>
              <a:cxnLst/>
              <a:rect l="l" t="t" r="r" b="b"/>
              <a:pathLst>
                <a:path w="257810" h="266700">
                  <a:moveTo>
                    <a:pt x="128778" y="0"/>
                  </a:moveTo>
                  <a:lnTo>
                    <a:pt x="78652" y="10477"/>
                  </a:lnTo>
                  <a:lnTo>
                    <a:pt x="37719" y="39052"/>
                  </a:lnTo>
                  <a:lnTo>
                    <a:pt x="10120" y="81438"/>
                  </a:lnTo>
                  <a:lnTo>
                    <a:pt x="0" y="133350"/>
                  </a:lnTo>
                  <a:lnTo>
                    <a:pt x="10120" y="185261"/>
                  </a:lnTo>
                  <a:lnTo>
                    <a:pt x="37719" y="227647"/>
                  </a:lnTo>
                  <a:lnTo>
                    <a:pt x="78652" y="256222"/>
                  </a:lnTo>
                  <a:lnTo>
                    <a:pt x="128778" y="266700"/>
                  </a:lnTo>
                  <a:lnTo>
                    <a:pt x="178903" y="256222"/>
                  </a:lnTo>
                  <a:lnTo>
                    <a:pt x="219837" y="227647"/>
                  </a:lnTo>
                  <a:lnTo>
                    <a:pt x="247435" y="185261"/>
                  </a:lnTo>
                  <a:lnTo>
                    <a:pt x="257556" y="133350"/>
                  </a:lnTo>
                  <a:lnTo>
                    <a:pt x="247435" y="81438"/>
                  </a:lnTo>
                  <a:lnTo>
                    <a:pt x="219837" y="39052"/>
                  </a:lnTo>
                  <a:lnTo>
                    <a:pt x="178903" y="10477"/>
                  </a:lnTo>
                  <a:lnTo>
                    <a:pt x="128778" y="0"/>
                  </a:lnTo>
                  <a:close/>
                </a:path>
              </a:pathLst>
            </a:custGeom>
            <a:solidFill>
              <a:srgbClr val="FF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6961" y="838962"/>
              <a:ext cx="257810" cy="266700"/>
            </a:xfrm>
            <a:custGeom>
              <a:avLst/>
              <a:gdLst/>
              <a:ahLst/>
              <a:cxnLst/>
              <a:rect l="l" t="t" r="r" b="b"/>
              <a:pathLst>
                <a:path w="257810" h="266700">
                  <a:moveTo>
                    <a:pt x="0" y="133350"/>
                  </a:moveTo>
                  <a:lnTo>
                    <a:pt x="10120" y="81438"/>
                  </a:lnTo>
                  <a:lnTo>
                    <a:pt x="37719" y="39052"/>
                  </a:lnTo>
                  <a:lnTo>
                    <a:pt x="78652" y="10477"/>
                  </a:lnTo>
                  <a:lnTo>
                    <a:pt x="128778" y="0"/>
                  </a:lnTo>
                  <a:lnTo>
                    <a:pt x="178903" y="10477"/>
                  </a:lnTo>
                  <a:lnTo>
                    <a:pt x="219837" y="39052"/>
                  </a:lnTo>
                  <a:lnTo>
                    <a:pt x="247435" y="81438"/>
                  </a:lnTo>
                  <a:lnTo>
                    <a:pt x="257556" y="133350"/>
                  </a:lnTo>
                  <a:lnTo>
                    <a:pt x="247435" y="185261"/>
                  </a:lnTo>
                  <a:lnTo>
                    <a:pt x="219837" y="227647"/>
                  </a:lnTo>
                  <a:lnTo>
                    <a:pt x="178903" y="256222"/>
                  </a:lnTo>
                  <a:lnTo>
                    <a:pt x="128778" y="266700"/>
                  </a:lnTo>
                  <a:lnTo>
                    <a:pt x="78652" y="256222"/>
                  </a:lnTo>
                  <a:lnTo>
                    <a:pt x="37719" y="227647"/>
                  </a:lnTo>
                  <a:lnTo>
                    <a:pt x="10120" y="185261"/>
                  </a:lnTo>
                  <a:lnTo>
                    <a:pt x="0" y="133350"/>
                  </a:lnTo>
                  <a:close/>
                </a:path>
              </a:pathLst>
            </a:custGeom>
            <a:ln w="25908">
              <a:solidFill>
                <a:srgbClr val="FF13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28729" y="1120141"/>
            <a:ext cx="15303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07265" y="2530603"/>
            <a:ext cx="283845" cy="292735"/>
            <a:chOff x="207263" y="2226564"/>
            <a:chExt cx="283845" cy="292735"/>
          </a:xfrm>
        </p:grpSpPr>
        <p:sp>
          <p:nvSpPr>
            <p:cNvPr id="30" name="object 30"/>
            <p:cNvSpPr/>
            <p:nvPr/>
          </p:nvSpPr>
          <p:spPr>
            <a:xfrm>
              <a:off x="220217" y="2239518"/>
              <a:ext cx="257810" cy="266700"/>
            </a:xfrm>
            <a:custGeom>
              <a:avLst/>
              <a:gdLst/>
              <a:ahLst/>
              <a:cxnLst/>
              <a:rect l="l" t="t" r="r" b="b"/>
              <a:pathLst>
                <a:path w="257809" h="266700">
                  <a:moveTo>
                    <a:pt x="128778" y="0"/>
                  </a:moveTo>
                  <a:lnTo>
                    <a:pt x="78652" y="10477"/>
                  </a:lnTo>
                  <a:lnTo>
                    <a:pt x="37718" y="39052"/>
                  </a:lnTo>
                  <a:lnTo>
                    <a:pt x="10120" y="81438"/>
                  </a:lnTo>
                  <a:lnTo>
                    <a:pt x="0" y="133350"/>
                  </a:lnTo>
                  <a:lnTo>
                    <a:pt x="10120" y="185261"/>
                  </a:lnTo>
                  <a:lnTo>
                    <a:pt x="37718" y="227647"/>
                  </a:lnTo>
                  <a:lnTo>
                    <a:pt x="78652" y="256222"/>
                  </a:lnTo>
                  <a:lnTo>
                    <a:pt x="128778" y="266700"/>
                  </a:lnTo>
                  <a:lnTo>
                    <a:pt x="178903" y="256222"/>
                  </a:lnTo>
                  <a:lnTo>
                    <a:pt x="219836" y="227647"/>
                  </a:lnTo>
                  <a:lnTo>
                    <a:pt x="247435" y="185261"/>
                  </a:lnTo>
                  <a:lnTo>
                    <a:pt x="257555" y="133350"/>
                  </a:lnTo>
                  <a:lnTo>
                    <a:pt x="247435" y="81438"/>
                  </a:lnTo>
                  <a:lnTo>
                    <a:pt x="219836" y="39052"/>
                  </a:lnTo>
                  <a:lnTo>
                    <a:pt x="178903" y="10477"/>
                  </a:lnTo>
                  <a:lnTo>
                    <a:pt x="128778" y="0"/>
                  </a:lnTo>
                  <a:close/>
                </a:path>
              </a:pathLst>
            </a:custGeom>
            <a:solidFill>
              <a:srgbClr val="FF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20217" y="2239518"/>
              <a:ext cx="257810" cy="266700"/>
            </a:xfrm>
            <a:custGeom>
              <a:avLst/>
              <a:gdLst/>
              <a:ahLst/>
              <a:cxnLst/>
              <a:rect l="l" t="t" r="r" b="b"/>
              <a:pathLst>
                <a:path w="257809" h="266700">
                  <a:moveTo>
                    <a:pt x="0" y="133350"/>
                  </a:moveTo>
                  <a:lnTo>
                    <a:pt x="10120" y="81438"/>
                  </a:lnTo>
                  <a:lnTo>
                    <a:pt x="37718" y="39052"/>
                  </a:lnTo>
                  <a:lnTo>
                    <a:pt x="78652" y="10477"/>
                  </a:lnTo>
                  <a:lnTo>
                    <a:pt x="128778" y="0"/>
                  </a:lnTo>
                  <a:lnTo>
                    <a:pt x="178903" y="10477"/>
                  </a:lnTo>
                  <a:lnTo>
                    <a:pt x="219836" y="39052"/>
                  </a:lnTo>
                  <a:lnTo>
                    <a:pt x="247435" y="81438"/>
                  </a:lnTo>
                  <a:lnTo>
                    <a:pt x="257555" y="133350"/>
                  </a:lnTo>
                  <a:lnTo>
                    <a:pt x="247435" y="185261"/>
                  </a:lnTo>
                  <a:lnTo>
                    <a:pt x="219836" y="227647"/>
                  </a:lnTo>
                  <a:lnTo>
                    <a:pt x="178903" y="256222"/>
                  </a:lnTo>
                  <a:lnTo>
                    <a:pt x="128778" y="266700"/>
                  </a:lnTo>
                  <a:lnTo>
                    <a:pt x="78652" y="256222"/>
                  </a:lnTo>
                  <a:lnTo>
                    <a:pt x="37718" y="227647"/>
                  </a:lnTo>
                  <a:lnTo>
                    <a:pt x="10120" y="185261"/>
                  </a:lnTo>
                  <a:lnTo>
                    <a:pt x="0" y="133350"/>
                  </a:lnTo>
                  <a:close/>
                </a:path>
              </a:pathLst>
            </a:custGeom>
            <a:ln w="25908">
              <a:solidFill>
                <a:srgbClr val="FF13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71373" y="2502409"/>
            <a:ext cx="251206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9575" algn="l"/>
              </a:tabLst>
            </a:pPr>
            <a:r>
              <a:rPr sz="2700" spc="-7" baseline="1543" dirty="0">
                <a:solidFill>
                  <a:srgbClr val="FFFFFF"/>
                </a:solidFill>
                <a:latin typeface="Arial"/>
                <a:cs typeface="Arial"/>
              </a:rPr>
              <a:t>2	</a:t>
            </a: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Oracle BI</a:t>
            </a:r>
            <a:r>
              <a:rPr sz="2000" spc="-220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Answers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92253" y="3902203"/>
            <a:ext cx="283845" cy="292735"/>
            <a:chOff x="492251" y="3598164"/>
            <a:chExt cx="283845" cy="292735"/>
          </a:xfrm>
        </p:grpSpPr>
        <p:sp>
          <p:nvSpPr>
            <p:cNvPr id="34" name="object 34"/>
            <p:cNvSpPr/>
            <p:nvPr/>
          </p:nvSpPr>
          <p:spPr>
            <a:xfrm>
              <a:off x="505205" y="3611118"/>
              <a:ext cx="257810" cy="266700"/>
            </a:xfrm>
            <a:custGeom>
              <a:avLst/>
              <a:gdLst/>
              <a:ahLst/>
              <a:cxnLst/>
              <a:rect l="l" t="t" r="r" b="b"/>
              <a:pathLst>
                <a:path w="257809" h="266700">
                  <a:moveTo>
                    <a:pt x="128778" y="0"/>
                  </a:moveTo>
                  <a:lnTo>
                    <a:pt x="78652" y="10477"/>
                  </a:lnTo>
                  <a:lnTo>
                    <a:pt x="37718" y="39052"/>
                  </a:lnTo>
                  <a:lnTo>
                    <a:pt x="10120" y="81438"/>
                  </a:lnTo>
                  <a:lnTo>
                    <a:pt x="0" y="133349"/>
                  </a:lnTo>
                  <a:lnTo>
                    <a:pt x="10120" y="185261"/>
                  </a:lnTo>
                  <a:lnTo>
                    <a:pt x="37718" y="227647"/>
                  </a:lnTo>
                  <a:lnTo>
                    <a:pt x="78652" y="256222"/>
                  </a:lnTo>
                  <a:lnTo>
                    <a:pt x="128778" y="266699"/>
                  </a:lnTo>
                  <a:lnTo>
                    <a:pt x="178903" y="256222"/>
                  </a:lnTo>
                  <a:lnTo>
                    <a:pt x="219837" y="227647"/>
                  </a:lnTo>
                  <a:lnTo>
                    <a:pt x="247435" y="185261"/>
                  </a:lnTo>
                  <a:lnTo>
                    <a:pt x="257556" y="133349"/>
                  </a:lnTo>
                  <a:lnTo>
                    <a:pt x="247435" y="81438"/>
                  </a:lnTo>
                  <a:lnTo>
                    <a:pt x="219837" y="39052"/>
                  </a:lnTo>
                  <a:lnTo>
                    <a:pt x="178903" y="10477"/>
                  </a:lnTo>
                  <a:lnTo>
                    <a:pt x="128778" y="0"/>
                  </a:lnTo>
                  <a:close/>
                </a:path>
              </a:pathLst>
            </a:custGeom>
            <a:solidFill>
              <a:srgbClr val="FF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05205" y="3611118"/>
              <a:ext cx="257810" cy="266700"/>
            </a:xfrm>
            <a:custGeom>
              <a:avLst/>
              <a:gdLst/>
              <a:ahLst/>
              <a:cxnLst/>
              <a:rect l="l" t="t" r="r" b="b"/>
              <a:pathLst>
                <a:path w="257809" h="266700">
                  <a:moveTo>
                    <a:pt x="0" y="133349"/>
                  </a:moveTo>
                  <a:lnTo>
                    <a:pt x="10120" y="81438"/>
                  </a:lnTo>
                  <a:lnTo>
                    <a:pt x="37718" y="39052"/>
                  </a:lnTo>
                  <a:lnTo>
                    <a:pt x="78652" y="10477"/>
                  </a:lnTo>
                  <a:lnTo>
                    <a:pt x="128778" y="0"/>
                  </a:lnTo>
                  <a:lnTo>
                    <a:pt x="178903" y="10477"/>
                  </a:lnTo>
                  <a:lnTo>
                    <a:pt x="219837" y="39052"/>
                  </a:lnTo>
                  <a:lnTo>
                    <a:pt x="247435" y="81438"/>
                  </a:lnTo>
                  <a:lnTo>
                    <a:pt x="257556" y="133349"/>
                  </a:lnTo>
                  <a:lnTo>
                    <a:pt x="247435" y="185261"/>
                  </a:lnTo>
                  <a:lnTo>
                    <a:pt x="219837" y="227647"/>
                  </a:lnTo>
                  <a:lnTo>
                    <a:pt x="178903" y="256222"/>
                  </a:lnTo>
                  <a:lnTo>
                    <a:pt x="128778" y="266699"/>
                  </a:lnTo>
                  <a:lnTo>
                    <a:pt x="78652" y="256222"/>
                  </a:lnTo>
                  <a:lnTo>
                    <a:pt x="37718" y="227647"/>
                  </a:lnTo>
                  <a:lnTo>
                    <a:pt x="10120" y="185261"/>
                  </a:lnTo>
                  <a:lnTo>
                    <a:pt x="0" y="133349"/>
                  </a:lnTo>
                  <a:close/>
                </a:path>
              </a:pathLst>
            </a:custGeom>
            <a:ln w="25908">
              <a:solidFill>
                <a:srgbClr val="FF13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57278" y="3892549"/>
            <a:ext cx="15303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381000" y="1123950"/>
            <a:ext cx="6591300" cy="2612390"/>
            <a:chOff x="437387" y="824483"/>
            <a:chExt cx="6591300" cy="2612390"/>
          </a:xfrm>
        </p:grpSpPr>
        <p:sp>
          <p:nvSpPr>
            <p:cNvPr id="6" name="object 6"/>
            <p:cNvSpPr/>
            <p:nvPr/>
          </p:nvSpPr>
          <p:spPr>
            <a:xfrm>
              <a:off x="4951476" y="1536191"/>
              <a:ext cx="2077212" cy="163829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86528" y="1571243"/>
              <a:ext cx="1952244" cy="15133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81955" y="1566671"/>
              <a:ext cx="1961514" cy="1522730"/>
            </a:xfrm>
            <a:custGeom>
              <a:avLst/>
              <a:gdLst/>
              <a:ahLst/>
              <a:cxnLst/>
              <a:rect l="l" t="t" r="r" b="b"/>
              <a:pathLst>
                <a:path w="1961515" h="1522730">
                  <a:moveTo>
                    <a:pt x="0" y="1522476"/>
                  </a:moveTo>
                  <a:lnTo>
                    <a:pt x="1961388" y="1522476"/>
                  </a:lnTo>
                  <a:lnTo>
                    <a:pt x="1961388" y="0"/>
                  </a:lnTo>
                  <a:lnTo>
                    <a:pt x="0" y="0"/>
                  </a:lnTo>
                  <a:lnTo>
                    <a:pt x="0" y="1522476"/>
                  </a:lnTo>
                  <a:close/>
                </a:path>
              </a:pathLst>
            </a:custGeom>
            <a:ln w="91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7387" y="824483"/>
              <a:ext cx="4331208" cy="261213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2439" y="859535"/>
              <a:ext cx="4206240" cy="248716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7867" y="854963"/>
              <a:ext cx="4215765" cy="2496820"/>
            </a:xfrm>
            <a:custGeom>
              <a:avLst/>
              <a:gdLst/>
              <a:ahLst/>
              <a:cxnLst/>
              <a:rect l="l" t="t" r="r" b="b"/>
              <a:pathLst>
                <a:path w="4215765" h="2496820">
                  <a:moveTo>
                    <a:pt x="0" y="2496312"/>
                  </a:moveTo>
                  <a:lnTo>
                    <a:pt x="4215383" y="2496312"/>
                  </a:lnTo>
                  <a:lnTo>
                    <a:pt x="4215383" y="0"/>
                  </a:lnTo>
                  <a:lnTo>
                    <a:pt x="0" y="0"/>
                  </a:lnTo>
                  <a:lnTo>
                    <a:pt x="0" y="249631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81000" y="209550"/>
            <a:ext cx="8484312" cy="7738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360"/>
              </a:lnSpc>
              <a:spcBef>
                <a:spcPts val="95"/>
              </a:spcBef>
            </a:pPr>
            <a:r>
              <a:rPr sz="2800" spc="-5" dirty="0"/>
              <a:t>Fusion Reports and </a:t>
            </a:r>
            <a:r>
              <a:rPr sz="2800" spc="-10" dirty="0"/>
              <a:t>Analytics </a:t>
            </a:r>
            <a:r>
              <a:rPr sz="2800" spc="-15" dirty="0"/>
              <a:t>Work</a:t>
            </a:r>
            <a:r>
              <a:rPr sz="2800" spc="-90" dirty="0"/>
              <a:t> </a:t>
            </a:r>
            <a:r>
              <a:rPr sz="2800" spc="-5" dirty="0"/>
              <a:t>Area</a:t>
            </a:r>
          </a:p>
          <a:p>
            <a:pPr marL="38100">
              <a:lnSpc>
                <a:spcPts val="2400"/>
              </a:lnSpc>
            </a:pPr>
            <a:r>
              <a:rPr sz="2800" dirty="0">
                <a:solidFill>
                  <a:srgbClr val="FF0000"/>
                </a:solidFill>
              </a:rPr>
              <a:t>Access BI Catalog in Fusion</a:t>
            </a:r>
            <a:r>
              <a:rPr sz="2800" spc="-17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Application</a:t>
            </a:r>
            <a:endParaRPr sz="2800" dirty="0"/>
          </a:p>
        </p:txBody>
      </p:sp>
      <p:sp>
        <p:nvSpPr>
          <p:cNvPr id="14" name="object 14"/>
          <p:cNvSpPr txBox="1"/>
          <p:nvPr/>
        </p:nvSpPr>
        <p:spPr>
          <a:xfrm>
            <a:off x="4262376" y="3508756"/>
            <a:ext cx="4384675" cy="138243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640"/>
              </a:spcBef>
              <a:buClr>
                <a:srgbClr val="FF0000"/>
              </a:buClr>
              <a:buChar char="•"/>
              <a:tabLst>
                <a:tab pos="245745" algn="l"/>
                <a:tab pos="246379" algn="l"/>
              </a:tabLst>
            </a:pPr>
            <a:r>
              <a:rPr sz="1800" spc="-10" dirty="0">
                <a:latin typeface="Arial"/>
                <a:cs typeface="Arial"/>
              </a:rPr>
              <a:t>Browse </a:t>
            </a:r>
            <a:r>
              <a:rPr sz="1800" spc="-5" dirty="0">
                <a:latin typeface="Arial"/>
                <a:cs typeface="Arial"/>
              </a:rPr>
              <a:t>and view entire </a:t>
            </a:r>
            <a:r>
              <a:rPr sz="1800" dirty="0">
                <a:latin typeface="Arial"/>
                <a:cs typeface="Arial"/>
              </a:rPr>
              <a:t>BI</a:t>
            </a:r>
            <a:r>
              <a:rPr sz="1800" spc="6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Catalog</a:t>
            </a:r>
            <a:endParaRPr sz="1800">
              <a:latin typeface="Arial"/>
              <a:cs typeface="Arial"/>
            </a:endParaRPr>
          </a:p>
          <a:p>
            <a:pPr marL="245745" indent="-233679">
              <a:lnSpc>
                <a:spcPct val="100000"/>
              </a:lnSpc>
              <a:spcBef>
                <a:spcPts val="540"/>
              </a:spcBef>
              <a:buClr>
                <a:srgbClr val="FF0000"/>
              </a:buClr>
              <a:buChar char="•"/>
              <a:tabLst>
                <a:tab pos="245745" algn="l"/>
                <a:tab pos="246379" algn="l"/>
              </a:tabLst>
            </a:pPr>
            <a:r>
              <a:rPr sz="1800" spc="-5" dirty="0">
                <a:latin typeface="Arial"/>
                <a:cs typeface="Arial"/>
              </a:rPr>
              <a:t>Access personal </a:t>
            </a:r>
            <a:r>
              <a:rPr sz="1800" dirty="0">
                <a:latin typeface="Arial"/>
                <a:cs typeface="Arial"/>
              </a:rPr>
              <a:t>&amp; </a:t>
            </a:r>
            <a:r>
              <a:rPr sz="1800" spc="-5" dirty="0">
                <a:latin typeface="Arial"/>
                <a:cs typeface="Arial"/>
              </a:rPr>
              <a:t>shared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reports</a:t>
            </a:r>
            <a:endParaRPr sz="1800">
              <a:latin typeface="Arial"/>
              <a:cs typeface="Arial"/>
            </a:endParaRPr>
          </a:p>
          <a:p>
            <a:pPr marL="245745" indent="-233679">
              <a:lnSpc>
                <a:spcPct val="100000"/>
              </a:lnSpc>
              <a:spcBef>
                <a:spcPts val="540"/>
              </a:spcBef>
              <a:buClr>
                <a:srgbClr val="FF0000"/>
              </a:buClr>
              <a:buChar char="•"/>
              <a:tabLst>
                <a:tab pos="245745" algn="l"/>
                <a:tab pos="246379" algn="l"/>
              </a:tabLst>
            </a:pPr>
            <a:r>
              <a:rPr sz="1800" spc="-5" dirty="0">
                <a:latin typeface="Arial"/>
                <a:cs typeface="Arial"/>
              </a:rPr>
              <a:t>Create new reports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BI</a:t>
            </a:r>
            <a:r>
              <a:rPr sz="1800" spc="6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Composer</a:t>
            </a:r>
            <a:endParaRPr sz="1800">
              <a:latin typeface="Arial"/>
              <a:cs typeface="Arial"/>
            </a:endParaRPr>
          </a:p>
          <a:p>
            <a:pPr marL="245745" indent="-233679">
              <a:lnSpc>
                <a:spcPct val="100000"/>
              </a:lnSpc>
              <a:spcBef>
                <a:spcPts val="540"/>
              </a:spcBef>
              <a:buClr>
                <a:srgbClr val="FF0000"/>
              </a:buClr>
              <a:buChar char="•"/>
              <a:tabLst>
                <a:tab pos="245745" algn="l"/>
                <a:tab pos="246379" algn="l"/>
              </a:tabLst>
            </a:pPr>
            <a:r>
              <a:rPr sz="1800" spc="-5" dirty="0">
                <a:latin typeface="Arial"/>
                <a:cs typeface="Arial"/>
              </a:rPr>
              <a:t>Launch </a:t>
            </a:r>
            <a:r>
              <a:rPr sz="1800" dirty="0">
                <a:latin typeface="Arial"/>
                <a:cs typeface="Arial"/>
              </a:rPr>
              <a:t>BI </a:t>
            </a:r>
            <a:r>
              <a:rPr sz="1800" spc="-10" dirty="0">
                <a:latin typeface="Arial"/>
                <a:cs typeface="Arial"/>
              </a:rPr>
              <a:t>Answers </a:t>
            </a:r>
            <a:r>
              <a:rPr sz="1800" dirty="0">
                <a:latin typeface="Arial"/>
                <a:cs typeface="Arial"/>
              </a:rPr>
              <a:t>for </a:t>
            </a:r>
            <a:r>
              <a:rPr sz="1800" spc="-5" dirty="0">
                <a:latin typeface="Arial"/>
                <a:cs typeface="Arial"/>
              </a:rPr>
              <a:t>advanced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actions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36488" y="2092961"/>
            <a:ext cx="6034405" cy="2186305"/>
            <a:chOff x="892873" y="1793494"/>
            <a:chExt cx="6034405" cy="2186305"/>
          </a:xfrm>
        </p:grpSpPr>
        <p:sp>
          <p:nvSpPr>
            <p:cNvPr id="16" name="object 16"/>
            <p:cNvSpPr/>
            <p:nvPr/>
          </p:nvSpPr>
          <p:spPr>
            <a:xfrm>
              <a:off x="4985003" y="1799844"/>
              <a:ext cx="1935480" cy="287020"/>
            </a:xfrm>
            <a:custGeom>
              <a:avLst/>
              <a:gdLst/>
              <a:ahLst/>
              <a:cxnLst/>
              <a:rect l="l" t="t" r="r" b="b"/>
              <a:pathLst>
                <a:path w="1935479" h="287019">
                  <a:moveTo>
                    <a:pt x="0" y="143255"/>
                  </a:moveTo>
                  <a:lnTo>
                    <a:pt x="25561" y="110407"/>
                  </a:lnTo>
                  <a:lnTo>
                    <a:pt x="69210" y="89953"/>
                  </a:lnTo>
                  <a:lnTo>
                    <a:pt x="132136" y="70950"/>
                  </a:lnTo>
                  <a:lnTo>
                    <a:pt x="170290" y="62073"/>
                  </a:lnTo>
                  <a:lnTo>
                    <a:pt x="212617" y="53655"/>
                  </a:lnTo>
                  <a:lnTo>
                    <a:pt x="258903" y="45727"/>
                  </a:lnTo>
                  <a:lnTo>
                    <a:pt x="308932" y="38322"/>
                  </a:lnTo>
                  <a:lnTo>
                    <a:pt x="362489" y="31470"/>
                  </a:lnTo>
                  <a:lnTo>
                    <a:pt x="419359" y="25205"/>
                  </a:lnTo>
                  <a:lnTo>
                    <a:pt x="479326" y="19557"/>
                  </a:lnTo>
                  <a:lnTo>
                    <a:pt x="542175" y="14560"/>
                  </a:lnTo>
                  <a:lnTo>
                    <a:pt x="607691" y="10243"/>
                  </a:lnTo>
                  <a:lnTo>
                    <a:pt x="675658" y="6641"/>
                  </a:lnTo>
                  <a:lnTo>
                    <a:pt x="745862" y="3783"/>
                  </a:lnTo>
                  <a:lnTo>
                    <a:pt x="818087" y="1702"/>
                  </a:lnTo>
                  <a:lnTo>
                    <a:pt x="892118" y="430"/>
                  </a:lnTo>
                  <a:lnTo>
                    <a:pt x="967740" y="0"/>
                  </a:lnTo>
                  <a:lnTo>
                    <a:pt x="1043361" y="430"/>
                  </a:lnTo>
                  <a:lnTo>
                    <a:pt x="1117392" y="1702"/>
                  </a:lnTo>
                  <a:lnTo>
                    <a:pt x="1189617" y="3783"/>
                  </a:lnTo>
                  <a:lnTo>
                    <a:pt x="1259821" y="6641"/>
                  </a:lnTo>
                  <a:lnTo>
                    <a:pt x="1327788" y="10243"/>
                  </a:lnTo>
                  <a:lnTo>
                    <a:pt x="1393304" y="14560"/>
                  </a:lnTo>
                  <a:lnTo>
                    <a:pt x="1456153" y="19558"/>
                  </a:lnTo>
                  <a:lnTo>
                    <a:pt x="1516120" y="25205"/>
                  </a:lnTo>
                  <a:lnTo>
                    <a:pt x="1572990" y="31470"/>
                  </a:lnTo>
                  <a:lnTo>
                    <a:pt x="1626547" y="38322"/>
                  </a:lnTo>
                  <a:lnTo>
                    <a:pt x="1676576" y="45727"/>
                  </a:lnTo>
                  <a:lnTo>
                    <a:pt x="1722862" y="53655"/>
                  </a:lnTo>
                  <a:lnTo>
                    <a:pt x="1765189" y="62073"/>
                  </a:lnTo>
                  <a:lnTo>
                    <a:pt x="1803343" y="70950"/>
                  </a:lnTo>
                  <a:lnTo>
                    <a:pt x="1866269" y="89953"/>
                  </a:lnTo>
                  <a:lnTo>
                    <a:pt x="1909918" y="110407"/>
                  </a:lnTo>
                  <a:lnTo>
                    <a:pt x="1935479" y="143255"/>
                  </a:lnTo>
                  <a:lnTo>
                    <a:pt x="1932568" y="154451"/>
                  </a:lnTo>
                  <a:lnTo>
                    <a:pt x="1890611" y="186497"/>
                  </a:lnTo>
                  <a:lnTo>
                    <a:pt x="1837108" y="206257"/>
                  </a:lnTo>
                  <a:lnTo>
                    <a:pt x="1765189" y="224438"/>
                  </a:lnTo>
                  <a:lnTo>
                    <a:pt x="1722862" y="232856"/>
                  </a:lnTo>
                  <a:lnTo>
                    <a:pt x="1676576" y="240784"/>
                  </a:lnTo>
                  <a:lnTo>
                    <a:pt x="1626547" y="248189"/>
                  </a:lnTo>
                  <a:lnTo>
                    <a:pt x="1572990" y="255041"/>
                  </a:lnTo>
                  <a:lnTo>
                    <a:pt x="1516120" y="261306"/>
                  </a:lnTo>
                  <a:lnTo>
                    <a:pt x="1456153" y="266953"/>
                  </a:lnTo>
                  <a:lnTo>
                    <a:pt x="1393304" y="271951"/>
                  </a:lnTo>
                  <a:lnTo>
                    <a:pt x="1327788" y="276268"/>
                  </a:lnTo>
                  <a:lnTo>
                    <a:pt x="1259821" y="279870"/>
                  </a:lnTo>
                  <a:lnTo>
                    <a:pt x="1189617" y="282728"/>
                  </a:lnTo>
                  <a:lnTo>
                    <a:pt x="1117392" y="284809"/>
                  </a:lnTo>
                  <a:lnTo>
                    <a:pt x="1043361" y="286081"/>
                  </a:lnTo>
                  <a:lnTo>
                    <a:pt x="967740" y="286511"/>
                  </a:lnTo>
                  <a:lnTo>
                    <a:pt x="892118" y="286081"/>
                  </a:lnTo>
                  <a:lnTo>
                    <a:pt x="818087" y="284809"/>
                  </a:lnTo>
                  <a:lnTo>
                    <a:pt x="745862" y="282728"/>
                  </a:lnTo>
                  <a:lnTo>
                    <a:pt x="675658" y="279870"/>
                  </a:lnTo>
                  <a:lnTo>
                    <a:pt x="607691" y="276268"/>
                  </a:lnTo>
                  <a:lnTo>
                    <a:pt x="542175" y="271951"/>
                  </a:lnTo>
                  <a:lnTo>
                    <a:pt x="479326" y="266953"/>
                  </a:lnTo>
                  <a:lnTo>
                    <a:pt x="419359" y="261306"/>
                  </a:lnTo>
                  <a:lnTo>
                    <a:pt x="362489" y="255041"/>
                  </a:lnTo>
                  <a:lnTo>
                    <a:pt x="308932" y="248189"/>
                  </a:lnTo>
                  <a:lnTo>
                    <a:pt x="258903" y="240784"/>
                  </a:lnTo>
                  <a:lnTo>
                    <a:pt x="212617" y="232856"/>
                  </a:lnTo>
                  <a:lnTo>
                    <a:pt x="170290" y="224438"/>
                  </a:lnTo>
                  <a:lnTo>
                    <a:pt x="132136" y="215561"/>
                  </a:lnTo>
                  <a:lnTo>
                    <a:pt x="69210" y="196558"/>
                  </a:lnTo>
                  <a:lnTo>
                    <a:pt x="25561" y="176104"/>
                  </a:lnTo>
                  <a:lnTo>
                    <a:pt x="0" y="143255"/>
                  </a:lnTo>
                  <a:close/>
                </a:path>
              </a:pathLst>
            </a:custGeom>
            <a:ln w="12192">
              <a:solidFill>
                <a:srgbClr val="FF13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97636" y="2387219"/>
              <a:ext cx="3067685" cy="1587500"/>
            </a:xfrm>
            <a:custGeom>
              <a:avLst/>
              <a:gdLst/>
              <a:ahLst/>
              <a:cxnLst/>
              <a:rect l="l" t="t" r="r" b="b"/>
              <a:pathLst>
                <a:path w="3067685" h="1587500">
                  <a:moveTo>
                    <a:pt x="2360167" y="1008253"/>
                  </a:moveTo>
                  <a:lnTo>
                    <a:pt x="96519" y="1008253"/>
                  </a:lnTo>
                  <a:lnTo>
                    <a:pt x="58952" y="1015833"/>
                  </a:lnTo>
                  <a:lnTo>
                    <a:pt x="28271" y="1036510"/>
                  </a:lnTo>
                  <a:lnTo>
                    <a:pt x="7585" y="1067188"/>
                  </a:lnTo>
                  <a:lnTo>
                    <a:pt x="0" y="1104773"/>
                  </a:lnTo>
                  <a:lnTo>
                    <a:pt x="0" y="1490853"/>
                  </a:lnTo>
                  <a:lnTo>
                    <a:pt x="7585" y="1528420"/>
                  </a:lnTo>
                  <a:lnTo>
                    <a:pt x="28271" y="1559101"/>
                  </a:lnTo>
                  <a:lnTo>
                    <a:pt x="58952" y="1579787"/>
                  </a:lnTo>
                  <a:lnTo>
                    <a:pt x="96519" y="1587373"/>
                  </a:lnTo>
                  <a:lnTo>
                    <a:pt x="2360167" y="1587373"/>
                  </a:lnTo>
                  <a:lnTo>
                    <a:pt x="2397752" y="1579787"/>
                  </a:lnTo>
                  <a:lnTo>
                    <a:pt x="2428430" y="1559101"/>
                  </a:lnTo>
                  <a:lnTo>
                    <a:pt x="2449107" y="1528420"/>
                  </a:lnTo>
                  <a:lnTo>
                    <a:pt x="2456688" y="1490853"/>
                  </a:lnTo>
                  <a:lnTo>
                    <a:pt x="2456688" y="1104773"/>
                  </a:lnTo>
                  <a:lnTo>
                    <a:pt x="2449107" y="1067188"/>
                  </a:lnTo>
                  <a:lnTo>
                    <a:pt x="2428430" y="1036510"/>
                  </a:lnTo>
                  <a:lnTo>
                    <a:pt x="2397752" y="1015833"/>
                  </a:lnTo>
                  <a:lnTo>
                    <a:pt x="2360167" y="1008253"/>
                  </a:lnTo>
                  <a:close/>
                </a:path>
                <a:path w="3067685" h="1587500">
                  <a:moveTo>
                    <a:pt x="3067685" y="0"/>
                  </a:moveTo>
                  <a:lnTo>
                    <a:pt x="1433068" y="1008253"/>
                  </a:lnTo>
                  <a:lnTo>
                    <a:pt x="2047239" y="1008253"/>
                  </a:lnTo>
                  <a:lnTo>
                    <a:pt x="3067685" y="0"/>
                  </a:lnTo>
                  <a:close/>
                </a:path>
              </a:pathLst>
            </a:custGeom>
            <a:solidFill>
              <a:srgbClr val="FF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97636" y="2387219"/>
              <a:ext cx="3067685" cy="1587500"/>
            </a:xfrm>
            <a:custGeom>
              <a:avLst/>
              <a:gdLst/>
              <a:ahLst/>
              <a:cxnLst/>
              <a:rect l="l" t="t" r="r" b="b"/>
              <a:pathLst>
                <a:path w="3067685" h="1587500">
                  <a:moveTo>
                    <a:pt x="0" y="1104773"/>
                  </a:moveTo>
                  <a:lnTo>
                    <a:pt x="7585" y="1067188"/>
                  </a:lnTo>
                  <a:lnTo>
                    <a:pt x="28271" y="1036510"/>
                  </a:lnTo>
                  <a:lnTo>
                    <a:pt x="58952" y="1015833"/>
                  </a:lnTo>
                  <a:lnTo>
                    <a:pt x="96519" y="1008253"/>
                  </a:lnTo>
                  <a:lnTo>
                    <a:pt x="1433068" y="1008253"/>
                  </a:lnTo>
                  <a:lnTo>
                    <a:pt x="3067685" y="0"/>
                  </a:lnTo>
                  <a:lnTo>
                    <a:pt x="2047239" y="1008253"/>
                  </a:lnTo>
                  <a:lnTo>
                    <a:pt x="2360167" y="1008253"/>
                  </a:lnTo>
                  <a:lnTo>
                    <a:pt x="2397752" y="1015833"/>
                  </a:lnTo>
                  <a:lnTo>
                    <a:pt x="2428430" y="1036510"/>
                  </a:lnTo>
                  <a:lnTo>
                    <a:pt x="2449107" y="1067188"/>
                  </a:lnTo>
                  <a:lnTo>
                    <a:pt x="2456688" y="1104773"/>
                  </a:lnTo>
                  <a:lnTo>
                    <a:pt x="2456688" y="1249553"/>
                  </a:lnTo>
                  <a:lnTo>
                    <a:pt x="2456688" y="1490853"/>
                  </a:lnTo>
                  <a:lnTo>
                    <a:pt x="2449107" y="1528420"/>
                  </a:lnTo>
                  <a:lnTo>
                    <a:pt x="2428430" y="1559101"/>
                  </a:lnTo>
                  <a:lnTo>
                    <a:pt x="2397752" y="1579787"/>
                  </a:lnTo>
                  <a:lnTo>
                    <a:pt x="2360167" y="1587373"/>
                  </a:lnTo>
                  <a:lnTo>
                    <a:pt x="2047239" y="1587373"/>
                  </a:lnTo>
                  <a:lnTo>
                    <a:pt x="1433068" y="1587373"/>
                  </a:lnTo>
                  <a:lnTo>
                    <a:pt x="96519" y="1587373"/>
                  </a:lnTo>
                  <a:lnTo>
                    <a:pt x="58952" y="1579787"/>
                  </a:lnTo>
                  <a:lnTo>
                    <a:pt x="28271" y="1559101"/>
                  </a:lnTo>
                  <a:lnTo>
                    <a:pt x="7585" y="1528420"/>
                  </a:lnTo>
                  <a:lnTo>
                    <a:pt x="0" y="1490853"/>
                  </a:lnTo>
                  <a:lnTo>
                    <a:pt x="0" y="1249553"/>
                  </a:lnTo>
                  <a:lnTo>
                    <a:pt x="0" y="1104773"/>
                  </a:lnTo>
                  <a:close/>
                </a:path>
              </a:pathLst>
            </a:custGeom>
            <a:ln w="9144">
              <a:solidFill>
                <a:srgbClr val="E4E4E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26340" y="3751708"/>
            <a:ext cx="188404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Navigator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-&gt; 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Tools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-&gt; 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Reports and</a:t>
            </a:r>
            <a:r>
              <a:rPr sz="1400" b="1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Analytics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037079" y="2606802"/>
            <a:ext cx="1580515" cy="463550"/>
            <a:chOff x="4093464" y="2307335"/>
            <a:chExt cx="1580515" cy="463550"/>
          </a:xfrm>
        </p:grpSpPr>
        <p:sp>
          <p:nvSpPr>
            <p:cNvPr id="21" name="object 21"/>
            <p:cNvSpPr/>
            <p:nvPr/>
          </p:nvSpPr>
          <p:spPr>
            <a:xfrm>
              <a:off x="4866132" y="2307335"/>
              <a:ext cx="808355" cy="463550"/>
            </a:xfrm>
            <a:custGeom>
              <a:avLst/>
              <a:gdLst/>
              <a:ahLst/>
              <a:cxnLst/>
              <a:rect l="l" t="t" r="r" b="b"/>
              <a:pathLst>
                <a:path w="808354" h="463550">
                  <a:moveTo>
                    <a:pt x="714755" y="0"/>
                  </a:moveTo>
                  <a:lnTo>
                    <a:pt x="576198" y="115824"/>
                  </a:lnTo>
                  <a:lnTo>
                    <a:pt x="634110" y="115824"/>
                  </a:lnTo>
                  <a:lnTo>
                    <a:pt x="617787" y="151031"/>
                  </a:lnTo>
                  <a:lnTo>
                    <a:pt x="597472" y="184909"/>
                  </a:lnTo>
                  <a:lnTo>
                    <a:pt x="573353" y="217354"/>
                  </a:lnTo>
                  <a:lnTo>
                    <a:pt x="545621" y="248263"/>
                  </a:lnTo>
                  <a:lnTo>
                    <a:pt x="514466" y="277532"/>
                  </a:lnTo>
                  <a:lnTo>
                    <a:pt x="480076" y="305059"/>
                  </a:lnTo>
                  <a:lnTo>
                    <a:pt x="442641" y="330740"/>
                  </a:lnTo>
                  <a:lnTo>
                    <a:pt x="402351" y="354472"/>
                  </a:lnTo>
                  <a:lnTo>
                    <a:pt x="359396" y="376152"/>
                  </a:lnTo>
                  <a:lnTo>
                    <a:pt x="313965" y="395676"/>
                  </a:lnTo>
                  <a:lnTo>
                    <a:pt x="266248" y="412941"/>
                  </a:lnTo>
                  <a:lnTo>
                    <a:pt x="216433" y="427845"/>
                  </a:lnTo>
                  <a:lnTo>
                    <a:pt x="164712" y="440282"/>
                  </a:lnTo>
                  <a:lnTo>
                    <a:pt x="111273" y="450152"/>
                  </a:lnTo>
                  <a:lnTo>
                    <a:pt x="56305" y="457349"/>
                  </a:lnTo>
                  <a:lnTo>
                    <a:pt x="0" y="461771"/>
                  </a:lnTo>
                  <a:lnTo>
                    <a:pt x="57450" y="463314"/>
                  </a:lnTo>
                  <a:lnTo>
                    <a:pt x="114139" y="461907"/>
                  </a:lnTo>
                  <a:lnTo>
                    <a:pt x="169859" y="457648"/>
                  </a:lnTo>
                  <a:lnTo>
                    <a:pt x="224406" y="450629"/>
                  </a:lnTo>
                  <a:lnTo>
                    <a:pt x="277575" y="440947"/>
                  </a:lnTo>
                  <a:lnTo>
                    <a:pt x="329160" y="428695"/>
                  </a:lnTo>
                  <a:lnTo>
                    <a:pt x="378956" y="413969"/>
                  </a:lnTo>
                  <a:lnTo>
                    <a:pt x="426758" y="396865"/>
                  </a:lnTo>
                  <a:lnTo>
                    <a:pt x="472360" y="377475"/>
                  </a:lnTo>
                  <a:lnTo>
                    <a:pt x="515558" y="355896"/>
                  </a:lnTo>
                  <a:lnTo>
                    <a:pt x="556145" y="332223"/>
                  </a:lnTo>
                  <a:lnTo>
                    <a:pt x="593917" y="306549"/>
                  </a:lnTo>
                  <a:lnTo>
                    <a:pt x="628669" y="278971"/>
                  </a:lnTo>
                  <a:lnTo>
                    <a:pt x="660195" y="249582"/>
                  </a:lnTo>
                  <a:lnTo>
                    <a:pt x="688290" y="218478"/>
                  </a:lnTo>
                  <a:lnTo>
                    <a:pt x="712748" y="185754"/>
                  </a:lnTo>
                  <a:lnTo>
                    <a:pt x="733365" y="151504"/>
                  </a:lnTo>
                  <a:lnTo>
                    <a:pt x="749934" y="115824"/>
                  </a:lnTo>
                  <a:lnTo>
                    <a:pt x="807846" y="115824"/>
                  </a:lnTo>
                  <a:lnTo>
                    <a:pt x="714755" y="0"/>
                  </a:lnTo>
                  <a:close/>
                </a:path>
              </a:pathLst>
            </a:custGeom>
            <a:solidFill>
              <a:srgbClr val="FF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093464" y="2307335"/>
              <a:ext cx="830580" cy="463550"/>
            </a:xfrm>
            <a:custGeom>
              <a:avLst/>
              <a:gdLst/>
              <a:ahLst/>
              <a:cxnLst/>
              <a:rect l="l" t="t" r="r" b="b"/>
              <a:pathLst>
                <a:path w="830579" h="463550">
                  <a:moveTo>
                    <a:pt x="115824" y="0"/>
                  </a:moveTo>
                  <a:lnTo>
                    <a:pt x="0" y="0"/>
                  </a:lnTo>
                  <a:lnTo>
                    <a:pt x="2369" y="38002"/>
                  </a:lnTo>
                  <a:lnTo>
                    <a:pt x="20774" y="111346"/>
                  </a:lnTo>
                  <a:lnTo>
                    <a:pt x="36441" y="146450"/>
                  </a:lnTo>
                  <a:lnTo>
                    <a:pt x="56173" y="180349"/>
                  </a:lnTo>
                  <a:lnTo>
                    <a:pt x="79785" y="212926"/>
                  </a:lnTo>
                  <a:lnTo>
                    <a:pt x="107094" y="244059"/>
                  </a:lnTo>
                  <a:lnTo>
                    <a:pt x="137915" y="273631"/>
                  </a:lnTo>
                  <a:lnTo>
                    <a:pt x="172065" y="301521"/>
                  </a:lnTo>
                  <a:lnTo>
                    <a:pt x="209359" y="327612"/>
                  </a:lnTo>
                  <a:lnTo>
                    <a:pt x="249613" y="351783"/>
                  </a:lnTo>
                  <a:lnTo>
                    <a:pt x="292644" y="373916"/>
                  </a:lnTo>
                  <a:lnTo>
                    <a:pt x="338267" y="393891"/>
                  </a:lnTo>
                  <a:lnTo>
                    <a:pt x="386298" y="411590"/>
                  </a:lnTo>
                  <a:lnTo>
                    <a:pt x="436554" y="426892"/>
                  </a:lnTo>
                  <a:lnTo>
                    <a:pt x="488850" y="439680"/>
                  </a:lnTo>
                  <a:lnTo>
                    <a:pt x="543002" y="449833"/>
                  </a:lnTo>
                  <a:lnTo>
                    <a:pt x="598826" y="457233"/>
                  </a:lnTo>
                  <a:lnTo>
                    <a:pt x="656139" y="461760"/>
                  </a:lnTo>
                  <a:lnTo>
                    <a:pt x="714756" y="463295"/>
                  </a:lnTo>
                  <a:lnTo>
                    <a:pt x="830580" y="463295"/>
                  </a:lnTo>
                  <a:lnTo>
                    <a:pt x="771963" y="461760"/>
                  </a:lnTo>
                  <a:lnTo>
                    <a:pt x="714650" y="457233"/>
                  </a:lnTo>
                  <a:lnTo>
                    <a:pt x="658826" y="449833"/>
                  </a:lnTo>
                  <a:lnTo>
                    <a:pt x="604674" y="439680"/>
                  </a:lnTo>
                  <a:lnTo>
                    <a:pt x="552378" y="426892"/>
                  </a:lnTo>
                  <a:lnTo>
                    <a:pt x="502122" y="411590"/>
                  </a:lnTo>
                  <a:lnTo>
                    <a:pt x="454091" y="393891"/>
                  </a:lnTo>
                  <a:lnTo>
                    <a:pt x="408468" y="373916"/>
                  </a:lnTo>
                  <a:lnTo>
                    <a:pt x="365437" y="351783"/>
                  </a:lnTo>
                  <a:lnTo>
                    <a:pt x="325183" y="327612"/>
                  </a:lnTo>
                  <a:lnTo>
                    <a:pt x="287889" y="301521"/>
                  </a:lnTo>
                  <a:lnTo>
                    <a:pt x="253739" y="273631"/>
                  </a:lnTo>
                  <a:lnTo>
                    <a:pt x="222918" y="244059"/>
                  </a:lnTo>
                  <a:lnTo>
                    <a:pt x="195609" y="212926"/>
                  </a:lnTo>
                  <a:lnTo>
                    <a:pt x="171997" y="180349"/>
                  </a:lnTo>
                  <a:lnTo>
                    <a:pt x="152265" y="146450"/>
                  </a:lnTo>
                  <a:lnTo>
                    <a:pt x="136598" y="111346"/>
                  </a:lnTo>
                  <a:lnTo>
                    <a:pt x="118193" y="38002"/>
                  </a:lnTo>
                  <a:lnTo>
                    <a:pt x="115824" y="0"/>
                  </a:lnTo>
                  <a:close/>
                </a:path>
              </a:pathLst>
            </a:custGeom>
            <a:solidFill>
              <a:srgbClr val="CD0F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716272" y="1360882"/>
            <a:ext cx="411099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Fusion Reports and Analytics </a:t>
            </a:r>
            <a:r>
              <a:rPr sz="1800" spc="-10" dirty="0">
                <a:latin typeface="Arial"/>
                <a:cs typeface="Arial"/>
              </a:rPr>
              <a:t>Work</a:t>
            </a:r>
            <a:r>
              <a:rPr sz="1800" spc="-19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Area</a:t>
            </a:r>
            <a:endParaRPr sz="1800">
              <a:latin typeface="Arial"/>
              <a:cs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45948" y="1090422"/>
            <a:ext cx="8417052" cy="36911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137347"/>
            <a:ext cx="4979110" cy="834203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800" spc="-5" dirty="0"/>
              <a:t>BI</a:t>
            </a:r>
            <a:r>
              <a:rPr sz="2800" spc="-20" dirty="0"/>
              <a:t> </a:t>
            </a:r>
            <a:r>
              <a:rPr sz="2800" spc="-5" dirty="0"/>
              <a:t>Composer</a:t>
            </a:r>
          </a:p>
          <a:p>
            <a:pPr marL="23495">
              <a:lnSpc>
                <a:spcPct val="100000"/>
              </a:lnSpc>
              <a:spcBef>
                <a:spcPts val="254"/>
              </a:spcBef>
            </a:pPr>
            <a:r>
              <a:rPr sz="2000" dirty="0">
                <a:solidFill>
                  <a:srgbClr val="FF1313"/>
                </a:solidFill>
              </a:rPr>
              <a:t>Fusion BI Report</a:t>
            </a:r>
            <a:r>
              <a:rPr sz="2000" spc="-110" dirty="0">
                <a:solidFill>
                  <a:srgbClr val="FF1313"/>
                </a:solidFill>
              </a:rPr>
              <a:t> </a:t>
            </a:r>
            <a:r>
              <a:rPr sz="2000" dirty="0">
                <a:solidFill>
                  <a:srgbClr val="FF1313"/>
                </a:solidFill>
              </a:rPr>
              <a:t>Wizard</a:t>
            </a:r>
            <a:endParaRPr sz="2000" dirty="0"/>
          </a:p>
        </p:txBody>
      </p:sp>
      <p:grpSp>
        <p:nvGrpSpPr>
          <p:cNvPr id="6" name="object 6"/>
          <p:cNvGrpSpPr/>
          <p:nvPr/>
        </p:nvGrpSpPr>
        <p:grpSpPr>
          <a:xfrm>
            <a:off x="274131" y="1984438"/>
            <a:ext cx="1409065" cy="848994"/>
            <a:chOff x="274129" y="1984438"/>
            <a:chExt cx="1409065" cy="848994"/>
          </a:xfrm>
        </p:grpSpPr>
        <p:sp>
          <p:nvSpPr>
            <p:cNvPr id="7" name="object 7"/>
            <p:cNvSpPr/>
            <p:nvPr/>
          </p:nvSpPr>
          <p:spPr>
            <a:xfrm>
              <a:off x="278891" y="1989201"/>
              <a:ext cx="1399540" cy="839469"/>
            </a:xfrm>
            <a:custGeom>
              <a:avLst/>
              <a:gdLst/>
              <a:ahLst/>
              <a:cxnLst/>
              <a:rect l="l" t="t" r="r" b="b"/>
              <a:pathLst>
                <a:path w="1399539" h="839469">
                  <a:moveTo>
                    <a:pt x="1346200" y="522350"/>
                  </a:moveTo>
                  <a:lnTo>
                    <a:pt x="52832" y="522350"/>
                  </a:lnTo>
                  <a:lnTo>
                    <a:pt x="32270" y="526498"/>
                  </a:lnTo>
                  <a:lnTo>
                    <a:pt x="15476" y="537813"/>
                  </a:lnTo>
                  <a:lnTo>
                    <a:pt x="4152" y="554605"/>
                  </a:lnTo>
                  <a:lnTo>
                    <a:pt x="0" y="575182"/>
                  </a:lnTo>
                  <a:lnTo>
                    <a:pt x="0" y="786511"/>
                  </a:lnTo>
                  <a:lnTo>
                    <a:pt x="4152" y="807088"/>
                  </a:lnTo>
                  <a:lnTo>
                    <a:pt x="15476" y="823880"/>
                  </a:lnTo>
                  <a:lnTo>
                    <a:pt x="32270" y="835195"/>
                  </a:lnTo>
                  <a:lnTo>
                    <a:pt x="52832" y="839343"/>
                  </a:lnTo>
                  <a:lnTo>
                    <a:pt x="1346200" y="839343"/>
                  </a:lnTo>
                  <a:lnTo>
                    <a:pt x="1366777" y="835195"/>
                  </a:lnTo>
                  <a:lnTo>
                    <a:pt x="1383569" y="823880"/>
                  </a:lnTo>
                  <a:lnTo>
                    <a:pt x="1394884" y="807088"/>
                  </a:lnTo>
                  <a:lnTo>
                    <a:pt x="1399032" y="786511"/>
                  </a:lnTo>
                  <a:lnTo>
                    <a:pt x="1399032" y="575182"/>
                  </a:lnTo>
                  <a:lnTo>
                    <a:pt x="1394884" y="554605"/>
                  </a:lnTo>
                  <a:lnTo>
                    <a:pt x="1383569" y="537813"/>
                  </a:lnTo>
                  <a:lnTo>
                    <a:pt x="1366777" y="526498"/>
                  </a:lnTo>
                  <a:lnTo>
                    <a:pt x="1346200" y="522350"/>
                  </a:lnTo>
                  <a:close/>
                </a:path>
                <a:path w="1399539" h="839469">
                  <a:moveTo>
                    <a:pt x="685241" y="0"/>
                  </a:moveTo>
                  <a:lnTo>
                    <a:pt x="233172" y="522350"/>
                  </a:lnTo>
                  <a:lnTo>
                    <a:pt x="582930" y="522350"/>
                  </a:lnTo>
                  <a:lnTo>
                    <a:pt x="685241" y="0"/>
                  </a:lnTo>
                  <a:close/>
                </a:path>
              </a:pathLst>
            </a:custGeom>
            <a:solidFill>
              <a:srgbClr val="FF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8891" y="1989201"/>
              <a:ext cx="1399540" cy="839469"/>
            </a:xfrm>
            <a:custGeom>
              <a:avLst/>
              <a:gdLst/>
              <a:ahLst/>
              <a:cxnLst/>
              <a:rect l="l" t="t" r="r" b="b"/>
              <a:pathLst>
                <a:path w="1399539" h="839469">
                  <a:moveTo>
                    <a:pt x="0" y="575182"/>
                  </a:moveTo>
                  <a:lnTo>
                    <a:pt x="4152" y="554605"/>
                  </a:lnTo>
                  <a:lnTo>
                    <a:pt x="15476" y="537813"/>
                  </a:lnTo>
                  <a:lnTo>
                    <a:pt x="32270" y="526498"/>
                  </a:lnTo>
                  <a:lnTo>
                    <a:pt x="52832" y="522350"/>
                  </a:lnTo>
                  <a:lnTo>
                    <a:pt x="233172" y="522350"/>
                  </a:lnTo>
                  <a:lnTo>
                    <a:pt x="685241" y="0"/>
                  </a:lnTo>
                  <a:lnTo>
                    <a:pt x="582930" y="522350"/>
                  </a:lnTo>
                  <a:lnTo>
                    <a:pt x="1346200" y="522350"/>
                  </a:lnTo>
                  <a:lnTo>
                    <a:pt x="1366777" y="526498"/>
                  </a:lnTo>
                  <a:lnTo>
                    <a:pt x="1383569" y="537813"/>
                  </a:lnTo>
                  <a:lnTo>
                    <a:pt x="1394884" y="554605"/>
                  </a:lnTo>
                  <a:lnTo>
                    <a:pt x="1399032" y="575182"/>
                  </a:lnTo>
                  <a:lnTo>
                    <a:pt x="1399032" y="654431"/>
                  </a:lnTo>
                  <a:lnTo>
                    <a:pt x="1399032" y="786511"/>
                  </a:lnTo>
                  <a:lnTo>
                    <a:pt x="1394884" y="807088"/>
                  </a:lnTo>
                  <a:lnTo>
                    <a:pt x="1383569" y="823880"/>
                  </a:lnTo>
                  <a:lnTo>
                    <a:pt x="1366777" y="835195"/>
                  </a:lnTo>
                  <a:lnTo>
                    <a:pt x="1346200" y="839343"/>
                  </a:lnTo>
                  <a:lnTo>
                    <a:pt x="582930" y="839343"/>
                  </a:lnTo>
                  <a:lnTo>
                    <a:pt x="233172" y="839343"/>
                  </a:lnTo>
                  <a:lnTo>
                    <a:pt x="52832" y="839343"/>
                  </a:lnTo>
                  <a:lnTo>
                    <a:pt x="32270" y="835195"/>
                  </a:lnTo>
                  <a:lnTo>
                    <a:pt x="15476" y="823880"/>
                  </a:lnTo>
                  <a:lnTo>
                    <a:pt x="4152" y="807088"/>
                  </a:lnTo>
                  <a:lnTo>
                    <a:pt x="0" y="786511"/>
                  </a:lnTo>
                  <a:lnTo>
                    <a:pt x="0" y="654431"/>
                  </a:lnTo>
                  <a:lnTo>
                    <a:pt x="0" y="575182"/>
                  </a:lnTo>
                  <a:close/>
                </a:path>
              </a:pathLst>
            </a:custGeom>
            <a:ln w="9143">
              <a:solidFill>
                <a:srgbClr val="E4E4E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26186" y="2533270"/>
            <a:ext cx="9055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BI</a:t>
            </a:r>
            <a:r>
              <a:rPr sz="1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Catalog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81102" y="1660905"/>
            <a:ext cx="7053580" cy="2449830"/>
            <a:chOff x="181102" y="1660905"/>
            <a:chExt cx="7053580" cy="2449830"/>
          </a:xfrm>
        </p:grpSpPr>
        <p:sp>
          <p:nvSpPr>
            <p:cNvPr id="11" name="object 11"/>
            <p:cNvSpPr/>
            <p:nvPr/>
          </p:nvSpPr>
          <p:spPr>
            <a:xfrm>
              <a:off x="187452" y="1667255"/>
              <a:ext cx="1031875" cy="344805"/>
            </a:xfrm>
            <a:custGeom>
              <a:avLst/>
              <a:gdLst/>
              <a:ahLst/>
              <a:cxnLst/>
              <a:rect l="l" t="t" r="r" b="b"/>
              <a:pathLst>
                <a:path w="1031875" h="344805">
                  <a:moveTo>
                    <a:pt x="0" y="172212"/>
                  </a:moveTo>
                  <a:lnTo>
                    <a:pt x="18427" y="126426"/>
                  </a:lnTo>
                  <a:lnTo>
                    <a:pt x="70431" y="85287"/>
                  </a:lnTo>
                  <a:lnTo>
                    <a:pt x="107488" y="66972"/>
                  </a:lnTo>
                  <a:lnTo>
                    <a:pt x="151095" y="50434"/>
                  </a:lnTo>
                  <a:lnTo>
                    <a:pt x="200637" y="35878"/>
                  </a:lnTo>
                  <a:lnTo>
                    <a:pt x="255501" y="23509"/>
                  </a:lnTo>
                  <a:lnTo>
                    <a:pt x="315071" y="13531"/>
                  </a:lnTo>
                  <a:lnTo>
                    <a:pt x="378733" y="6150"/>
                  </a:lnTo>
                  <a:lnTo>
                    <a:pt x="445872" y="1571"/>
                  </a:lnTo>
                  <a:lnTo>
                    <a:pt x="515874" y="0"/>
                  </a:lnTo>
                  <a:lnTo>
                    <a:pt x="585875" y="1571"/>
                  </a:lnTo>
                  <a:lnTo>
                    <a:pt x="653014" y="6150"/>
                  </a:lnTo>
                  <a:lnTo>
                    <a:pt x="716676" y="13531"/>
                  </a:lnTo>
                  <a:lnTo>
                    <a:pt x="776246" y="23509"/>
                  </a:lnTo>
                  <a:lnTo>
                    <a:pt x="831110" y="35878"/>
                  </a:lnTo>
                  <a:lnTo>
                    <a:pt x="880652" y="50434"/>
                  </a:lnTo>
                  <a:lnTo>
                    <a:pt x="924259" y="66972"/>
                  </a:lnTo>
                  <a:lnTo>
                    <a:pt x="961316" y="85287"/>
                  </a:lnTo>
                  <a:lnTo>
                    <a:pt x="1013320" y="126426"/>
                  </a:lnTo>
                  <a:lnTo>
                    <a:pt x="1031747" y="172212"/>
                  </a:lnTo>
                  <a:lnTo>
                    <a:pt x="1027038" y="195582"/>
                  </a:lnTo>
                  <a:lnTo>
                    <a:pt x="991208" y="239250"/>
                  </a:lnTo>
                  <a:lnTo>
                    <a:pt x="924259" y="277451"/>
                  </a:lnTo>
                  <a:lnTo>
                    <a:pt x="880652" y="293989"/>
                  </a:lnTo>
                  <a:lnTo>
                    <a:pt x="831110" y="308545"/>
                  </a:lnTo>
                  <a:lnTo>
                    <a:pt x="776246" y="320914"/>
                  </a:lnTo>
                  <a:lnTo>
                    <a:pt x="716676" y="330892"/>
                  </a:lnTo>
                  <a:lnTo>
                    <a:pt x="653014" y="338273"/>
                  </a:lnTo>
                  <a:lnTo>
                    <a:pt x="585875" y="342852"/>
                  </a:lnTo>
                  <a:lnTo>
                    <a:pt x="515874" y="344424"/>
                  </a:lnTo>
                  <a:lnTo>
                    <a:pt x="445872" y="342852"/>
                  </a:lnTo>
                  <a:lnTo>
                    <a:pt x="378733" y="338273"/>
                  </a:lnTo>
                  <a:lnTo>
                    <a:pt x="315071" y="330892"/>
                  </a:lnTo>
                  <a:lnTo>
                    <a:pt x="255501" y="320914"/>
                  </a:lnTo>
                  <a:lnTo>
                    <a:pt x="200637" y="308545"/>
                  </a:lnTo>
                  <a:lnTo>
                    <a:pt x="151095" y="293989"/>
                  </a:lnTo>
                  <a:lnTo>
                    <a:pt x="107488" y="277451"/>
                  </a:lnTo>
                  <a:lnTo>
                    <a:pt x="70431" y="259136"/>
                  </a:lnTo>
                  <a:lnTo>
                    <a:pt x="18427" y="217997"/>
                  </a:lnTo>
                  <a:lnTo>
                    <a:pt x="0" y="172212"/>
                  </a:lnTo>
                  <a:close/>
                </a:path>
              </a:pathLst>
            </a:custGeom>
            <a:ln w="12192">
              <a:solidFill>
                <a:srgbClr val="A2A2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76015" y="3526789"/>
              <a:ext cx="3554095" cy="579120"/>
            </a:xfrm>
            <a:custGeom>
              <a:avLst/>
              <a:gdLst/>
              <a:ahLst/>
              <a:cxnLst/>
              <a:rect l="l" t="t" r="r" b="b"/>
              <a:pathLst>
                <a:path w="3554095" h="579120">
                  <a:moveTo>
                    <a:pt x="3501009" y="261874"/>
                  </a:moveTo>
                  <a:lnTo>
                    <a:pt x="1281049" y="261874"/>
                  </a:lnTo>
                  <a:lnTo>
                    <a:pt x="1260471" y="266021"/>
                  </a:lnTo>
                  <a:lnTo>
                    <a:pt x="1243679" y="277336"/>
                  </a:lnTo>
                  <a:lnTo>
                    <a:pt x="1232364" y="294128"/>
                  </a:lnTo>
                  <a:lnTo>
                    <a:pt x="1228217" y="314706"/>
                  </a:lnTo>
                  <a:lnTo>
                    <a:pt x="1228217" y="526034"/>
                  </a:lnTo>
                  <a:lnTo>
                    <a:pt x="1232364" y="546595"/>
                  </a:lnTo>
                  <a:lnTo>
                    <a:pt x="1243679" y="563389"/>
                  </a:lnTo>
                  <a:lnTo>
                    <a:pt x="1260471" y="574713"/>
                  </a:lnTo>
                  <a:lnTo>
                    <a:pt x="1281049" y="578866"/>
                  </a:lnTo>
                  <a:lnTo>
                    <a:pt x="3501009" y="578866"/>
                  </a:lnTo>
                  <a:lnTo>
                    <a:pt x="3521586" y="574713"/>
                  </a:lnTo>
                  <a:lnTo>
                    <a:pt x="3538378" y="563389"/>
                  </a:lnTo>
                  <a:lnTo>
                    <a:pt x="3549693" y="546595"/>
                  </a:lnTo>
                  <a:lnTo>
                    <a:pt x="3553841" y="526034"/>
                  </a:lnTo>
                  <a:lnTo>
                    <a:pt x="3553841" y="314706"/>
                  </a:lnTo>
                  <a:lnTo>
                    <a:pt x="3549693" y="294128"/>
                  </a:lnTo>
                  <a:lnTo>
                    <a:pt x="3538378" y="277336"/>
                  </a:lnTo>
                  <a:lnTo>
                    <a:pt x="3521586" y="266021"/>
                  </a:lnTo>
                  <a:lnTo>
                    <a:pt x="3501009" y="261874"/>
                  </a:lnTo>
                  <a:close/>
                </a:path>
                <a:path w="3554095" h="579120">
                  <a:moveTo>
                    <a:pt x="0" y="0"/>
                  </a:moveTo>
                  <a:lnTo>
                    <a:pt x="1615821" y="261874"/>
                  </a:lnTo>
                  <a:lnTo>
                    <a:pt x="2197227" y="2618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76015" y="3526789"/>
              <a:ext cx="3554095" cy="579120"/>
            </a:xfrm>
            <a:custGeom>
              <a:avLst/>
              <a:gdLst/>
              <a:ahLst/>
              <a:cxnLst/>
              <a:rect l="l" t="t" r="r" b="b"/>
              <a:pathLst>
                <a:path w="3554095" h="579120">
                  <a:moveTo>
                    <a:pt x="1228217" y="314706"/>
                  </a:moveTo>
                  <a:lnTo>
                    <a:pt x="1232364" y="294128"/>
                  </a:lnTo>
                  <a:lnTo>
                    <a:pt x="1243679" y="277336"/>
                  </a:lnTo>
                  <a:lnTo>
                    <a:pt x="1260471" y="266021"/>
                  </a:lnTo>
                  <a:lnTo>
                    <a:pt x="1281049" y="261874"/>
                  </a:lnTo>
                  <a:lnTo>
                    <a:pt x="1615821" y="261874"/>
                  </a:lnTo>
                  <a:lnTo>
                    <a:pt x="0" y="0"/>
                  </a:lnTo>
                  <a:lnTo>
                    <a:pt x="2197227" y="261874"/>
                  </a:lnTo>
                  <a:lnTo>
                    <a:pt x="3501009" y="261874"/>
                  </a:lnTo>
                  <a:lnTo>
                    <a:pt x="3521586" y="266021"/>
                  </a:lnTo>
                  <a:lnTo>
                    <a:pt x="3538378" y="277336"/>
                  </a:lnTo>
                  <a:lnTo>
                    <a:pt x="3549693" y="294128"/>
                  </a:lnTo>
                  <a:lnTo>
                    <a:pt x="3553841" y="314706"/>
                  </a:lnTo>
                  <a:lnTo>
                    <a:pt x="3553841" y="393954"/>
                  </a:lnTo>
                  <a:lnTo>
                    <a:pt x="3553841" y="526034"/>
                  </a:lnTo>
                  <a:lnTo>
                    <a:pt x="3549693" y="546595"/>
                  </a:lnTo>
                  <a:lnTo>
                    <a:pt x="3538378" y="563389"/>
                  </a:lnTo>
                  <a:lnTo>
                    <a:pt x="3521586" y="574713"/>
                  </a:lnTo>
                  <a:lnTo>
                    <a:pt x="3501009" y="578866"/>
                  </a:lnTo>
                  <a:lnTo>
                    <a:pt x="2197227" y="578866"/>
                  </a:lnTo>
                  <a:lnTo>
                    <a:pt x="1615821" y="578866"/>
                  </a:lnTo>
                  <a:lnTo>
                    <a:pt x="1281049" y="578866"/>
                  </a:lnTo>
                  <a:lnTo>
                    <a:pt x="1260471" y="574713"/>
                  </a:lnTo>
                  <a:lnTo>
                    <a:pt x="1243679" y="563389"/>
                  </a:lnTo>
                  <a:lnTo>
                    <a:pt x="1232364" y="546595"/>
                  </a:lnTo>
                  <a:lnTo>
                    <a:pt x="1228217" y="526034"/>
                  </a:lnTo>
                  <a:lnTo>
                    <a:pt x="1228217" y="393954"/>
                  </a:lnTo>
                  <a:lnTo>
                    <a:pt x="1228217" y="314706"/>
                  </a:lnTo>
                  <a:close/>
                </a:path>
              </a:pathLst>
            </a:custGeom>
            <a:ln w="9144">
              <a:solidFill>
                <a:srgbClr val="E4E4E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115816" y="3811017"/>
            <a:ext cx="190118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BI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Presentation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Catalog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104447" y="1969580"/>
            <a:ext cx="2712720" cy="635635"/>
            <a:chOff x="5104447" y="1969579"/>
            <a:chExt cx="2712720" cy="635635"/>
          </a:xfrm>
        </p:grpSpPr>
        <p:sp>
          <p:nvSpPr>
            <p:cNvPr id="16" name="object 16"/>
            <p:cNvSpPr/>
            <p:nvPr/>
          </p:nvSpPr>
          <p:spPr>
            <a:xfrm>
              <a:off x="5109209" y="1974342"/>
              <a:ext cx="2703195" cy="626110"/>
            </a:xfrm>
            <a:custGeom>
              <a:avLst/>
              <a:gdLst/>
              <a:ahLst/>
              <a:cxnLst/>
              <a:rect l="l" t="t" r="r" b="b"/>
              <a:pathLst>
                <a:path w="2703195" h="626110">
                  <a:moveTo>
                    <a:pt x="2649982" y="308609"/>
                  </a:moveTo>
                  <a:lnTo>
                    <a:pt x="431545" y="308609"/>
                  </a:lnTo>
                  <a:lnTo>
                    <a:pt x="410968" y="312757"/>
                  </a:lnTo>
                  <a:lnTo>
                    <a:pt x="394176" y="324072"/>
                  </a:lnTo>
                  <a:lnTo>
                    <a:pt x="382861" y="340864"/>
                  </a:lnTo>
                  <a:lnTo>
                    <a:pt x="378713" y="361441"/>
                  </a:lnTo>
                  <a:lnTo>
                    <a:pt x="378713" y="572769"/>
                  </a:lnTo>
                  <a:lnTo>
                    <a:pt x="382861" y="593347"/>
                  </a:lnTo>
                  <a:lnTo>
                    <a:pt x="394176" y="610139"/>
                  </a:lnTo>
                  <a:lnTo>
                    <a:pt x="410968" y="621454"/>
                  </a:lnTo>
                  <a:lnTo>
                    <a:pt x="431545" y="625601"/>
                  </a:lnTo>
                  <a:lnTo>
                    <a:pt x="2649982" y="625601"/>
                  </a:lnTo>
                  <a:lnTo>
                    <a:pt x="2670559" y="621454"/>
                  </a:lnTo>
                  <a:lnTo>
                    <a:pt x="2687351" y="610139"/>
                  </a:lnTo>
                  <a:lnTo>
                    <a:pt x="2698666" y="593347"/>
                  </a:lnTo>
                  <a:lnTo>
                    <a:pt x="2702814" y="572769"/>
                  </a:lnTo>
                  <a:lnTo>
                    <a:pt x="2702814" y="361441"/>
                  </a:lnTo>
                  <a:lnTo>
                    <a:pt x="2698666" y="340864"/>
                  </a:lnTo>
                  <a:lnTo>
                    <a:pt x="2687351" y="324072"/>
                  </a:lnTo>
                  <a:lnTo>
                    <a:pt x="2670559" y="312757"/>
                  </a:lnTo>
                  <a:lnTo>
                    <a:pt x="2649982" y="308609"/>
                  </a:lnTo>
                  <a:close/>
                </a:path>
                <a:path w="2703195" h="626110">
                  <a:moveTo>
                    <a:pt x="0" y="0"/>
                  </a:moveTo>
                  <a:lnTo>
                    <a:pt x="766063" y="308609"/>
                  </a:lnTo>
                  <a:lnTo>
                    <a:pt x="1347089" y="3086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9209" y="1974342"/>
              <a:ext cx="2703195" cy="626110"/>
            </a:xfrm>
            <a:custGeom>
              <a:avLst/>
              <a:gdLst/>
              <a:ahLst/>
              <a:cxnLst/>
              <a:rect l="l" t="t" r="r" b="b"/>
              <a:pathLst>
                <a:path w="2703195" h="626110">
                  <a:moveTo>
                    <a:pt x="378713" y="361441"/>
                  </a:moveTo>
                  <a:lnTo>
                    <a:pt x="382861" y="340864"/>
                  </a:lnTo>
                  <a:lnTo>
                    <a:pt x="394176" y="324072"/>
                  </a:lnTo>
                  <a:lnTo>
                    <a:pt x="410968" y="312757"/>
                  </a:lnTo>
                  <a:lnTo>
                    <a:pt x="431545" y="308609"/>
                  </a:lnTo>
                  <a:lnTo>
                    <a:pt x="766063" y="308609"/>
                  </a:lnTo>
                  <a:lnTo>
                    <a:pt x="0" y="0"/>
                  </a:lnTo>
                  <a:lnTo>
                    <a:pt x="1347089" y="308609"/>
                  </a:lnTo>
                  <a:lnTo>
                    <a:pt x="2649982" y="308609"/>
                  </a:lnTo>
                  <a:lnTo>
                    <a:pt x="2670559" y="312757"/>
                  </a:lnTo>
                  <a:lnTo>
                    <a:pt x="2687351" y="324072"/>
                  </a:lnTo>
                  <a:lnTo>
                    <a:pt x="2698666" y="340864"/>
                  </a:lnTo>
                  <a:lnTo>
                    <a:pt x="2702814" y="361441"/>
                  </a:lnTo>
                  <a:lnTo>
                    <a:pt x="2702814" y="440689"/>
                  </a:lnTo>
                  <a:lnTo>
                    <a:pt x="2702814" y="572769"/>
                  </a:lnTo>
                  <a:lnTo>
                    <a:pt x="2698666" y="593347"/>
                  </a:lnTo>
                  <a:lnTo>
                    <a:pt x="2687351" y="610139"/>
                  </a:lnTo>
                  <a:lnTo>
                    <a:pt x="2670559" y="621454"/>
                  </a:lnTo>
                  <a:lnTo>
                    <a:pt x="2649982" y="625601"/>
                  </a:lnTo>
                  <a:lnTo>
                    <a:pt x="1347089" y="625601"/>
                  </a:lnTo>
                  <a:lnTo>
                    <a:pt x="766063" y="625601"/>
                  </a:lnTo>
                  <a:lnTo>
                    <a:pt x="431545" y="625601"/>
                  </a:lnTo>
                  <a:lnTo>
                    <a:pt x="410968" y="621454"/>
                  </a:lnTo>
                  <a:lnTo>
                    <a:pt x="394176" y="610139"/>
                  </a:lnTo>
                  <a:lnTo>
                    <a:pt x="382861" y="593347"/>
                  </a:lnTo>
                  <a:lnTo>
                    <a:pt x="378713" y="572769"/>
                  </a:lnTo>
                  <a:lnTo>
                    <a:pt x="378713" y="440689"/>
                  </a:lnTo>
                  <a:lnTo>
                    <a:pt x="378713" y="361441"/>
                  </a:lnTo>
                  <a:close/>
                </a:path>
              </a:pathLst>
            </a:custGeom>
            <a:ln w="9144">
              <a:solidFill>
                <a:srgbClr val="E4E4E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778248" y="2304670"/>
            <a:ext cx="174434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Create Report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Wizard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58951" y="1411225"/>
            <a:ext cx="5979160" cy="512445"/>
            <a:chOff x="758951" y="1411224"/>
            <a:chExt cx="5979160" cy="512445"/>
          </a:xfrm>
        </p:grpSpPr>
        <p:sp>
          <p:nvSpPr>
            <p:cNvPr id="20" name="object 20"/>
            <p:cNvSpPr/>
            <p:nvPr/>
          </p:nvSpPr>
          <p:spPr>
            <a:xfrm>
              <a:off x="3656075" y="1432560"/>
              <a:ext cx="3075940" cy="485140"/>
            </a:xfrm>
            <a:custGeom>
              <a:avLst/>
              <a:gdLst/>
              <a:ahLst/>
              <a:cxnLst/>
              <a:rect l="l" t="t" r="r" b="b"/>
              <a:pathLst>
                <a:path w="3075940" h="485139">
                  <a:moveTo>
                    <a:pt x="0" y="242315"/>
                  </a:moveTo>
                  <a:lnTo>
                    <a:pt x="16672" y="206501"/>
                  </a:lnTo>
                  <a:lnTo>
                    <a:pt x="65106" y="172320"/>
                  </a:lnTo>
                  <a:lnTo>
                    <a:pt x="113864" y="150626"/>
                  </a:lnTo>
                  <a:lnTo>
                    <a:pt x="174976" y="129935"/>
                  </a:lnTo>
                  <a:lnTo>
                    <a:pt x="247737" y="110358"/>
                  </a:lnTo>
                  <a:lnTo>
                    <a:pt x="288266" y="101023"/>
                  </a:lnTo>
                  <a:lnTo>
                    <a:pt x="331442" y="92007"/>
                  </a:lnTo>
                  <a:lnTo>
                    <a:pt x="377178" y="83326"/>
                  </a:lnTo>
                  <a:lnTo>
                    <a:pt x="425386" y="74993"/>
                  </a:lnTo>
                  <a:lnTo>
                    <a:pt x="475977" y="67021"/>
                  </a:lnTo>
                  <a:lnTo>
                    <a:pt x="528864" y="59425"/>
                  </a:lnTo>
                  <a:lnTo>
                    <a:pt x="583958" y="52219"/>
                  </a:lnTo>
                  <a:lnTo>
                    <a:pt x="641172" y="45416"/>
                  </a:lnTo>
                  <a:lnTo>
                    <a:pt x="700417" y="39030"/>
                  </a:lnTo>
                  <a:lnTo>
                    <a:pt x="761604" y="33076"/>
                  </a:lnTo>
                  <a:lnTo>
                    <a:pt x="824647" y="27567"/>
                  </a:lnTo>
                  <a:lnTo>
                    <a:pt x="889457" y="22516"/>
                  </a:lnTo>
                  <a:lnTo>
                    <a:pt x="955945" y="17938"/>
                  </a:lnTo>
                  <a:lnTo>
                    <a:pt x="1024024" y="13847"/>
                  </a:lnTo>
                  <a:lnTo>
                    <a:pt x="1093606" y="10256"/>
                  </a:lnTo>
                  <a:lnTo>
                    <a:pt x="1164602" y="7180"/>
                  </a:lnTo>
                  <a:lnTo>
                    <a:pt x="1236924" y="4632"/>
                  </a:lnTo>
                  <a:lnTo>
                    <a:pt x="1310485" y="2626"/>
                  </a:lnTo>
                  <a:lnTo>
                    <a:pt x="1385196" y="1176"/>
                  </a:lnTo>
                  <a:lnTo>
                    <a:pt x="1460969" y="296"/>
                  </a:lnTo>
                  <a:lnTo>
                    <a:pt x="1537715" y="0"/>
                  </a:lnTo>
                  <a:lnTo>
                    <a:pt x="1614462" y="296"/>
                  </a:lnTo>
                  <a:lnTo>
                    <a:pt x="1690235" y="1176"/>
                  </a:lnTo>
                  <a:lnTo>
                    <a:pt x="1764946" y="2626"/>
                  </a:lnTo>
                  <a:lnTo>
                    <a:pt x="1838507" y="4632"/>
                  </a:lnTo>
                  <a:lnTo>
                    <a:pt x="1910829" y="7180"/>
                  </a:lnTo>
                  <a:lnTo>
                    <a:pt x="1981825" y="10256"/>
                  </a:lnTo>
                  <a:lnTo>
                    <a:pt x="2051407" y="13847"/>
                  </a:lnTo>
                  <a:lnTo>
                    <a:pt x="2119486" y="17938"/>
                  </a:lnTo>
                  <a:lnTo>
                    <a:pt x="2185974" y="22516"/>
                  </a:lnTo>
                  <a:lnTo>
                    <a:pt x="2250784" y="27567"/>
                  </a:lnTo>
                  <a:lnTo>
                    <a:pt x="2313827" y="33076"/>
                  </a:lnTo>
                  <a:lnTo>
                    <a:pt x="2375014" y="39030"/>
                  </a:lnTo>
                  <a:lnTo>
                    <a:pt x="2434259" y="45416"/>
                  </a:lnTo>
                  <a:lnTo>
                    <a:pt x="2491473" y="52219"/>
                  </a:lnTo>
                  <a:lnTo>
                    <a:pt x="2546567" y="59425"/>
                  </a:lnTo>
                  <a:lnTo>
                    <a:pt x="2599454" y="67021"/>
                  </a:lnTo>
                  <a:lnTo>
                    <a:pt x="2650045" y="74993"/>
                  </a:lnTo>
                  <a:lnTo>
                    <a:pt x="2698253" y="83326"/>
                  </a:lnTo>
                  <a:lnTo>
                    <a:pt x="2743989" y="92007"/>
                  </a:lnTo>
                  <a:lnTo>
                    <a:pt x="2787165" y="101023"/>
                  </a:lnTo>
                  <a:lnTo>
                    <a:pt x="2827694" y="110358"/>
                  </a:lnTo>
                  <a:lnTo>
                    <a:pt x="2865486" y="120000"/>
                  </a:lnTo>
                  <a:lnTo>
                    <a:pt x="2932511" y="140148"/>
                  </a:lnTo>
                  <a:lnTo>
                    <a:pt x="2987534" y="161355"/>
                  </a:lnTo>
                  <a:lnTo>
                    <a:pt x="3029852" y="183509"/>
                  </a:lnTo>
                  <a:lnTo>
                    <a:pt x="3067963" y="218276"/>
                  </a:lnTo>
                  <a:lnTo>
                    <a:pt x="3075431" y="242315"/>
                  </a:lnTo>
                  <a:lnTo>
                    <a:pt x="3073550" y="254412"/>
                  </a:lnTo>
                  <a:lnTo>
                    <a:pt x="3046026" y="289724"/>
                  </a:lnTo>
                  <a:lnTo>
                    <a:pt x="3010325" y="312311"/>
                  </a:lnTo>
                  <a:lnTo>
                    <a:pt x="2961567" y="334005"/>
                  </a:lnTo>
                  <a:lnTo>
                    <a:pt x="2900455" y="354696"/>
                  </a:lnTo>
                  <a:lnTo>
                    <a:pt x="2827694" y="374273"/>
                  </a:lnTo>
                  <a:lnTo>
                    <a:pt x="2787165" y="383608"/>
                  </a:lnTo>
                  <a:lnTo>
                    <a:pt x="2743989" y="392624"/>
                  </a:lnTo>
                  <a:lnTo>
                    <a:pt x="2698253" y="401305"/>
                  </a:lnTo>
                  <a:lnTo>
                    <a:pt x="2650045" y="409638"/>
                  </a:lnTo>
                  <a:lnTo>
                    <a:pt x="2599454" y="417610"/>
                  </a:lnTo>
                  <a:lnTo>
                    <a:pt x="2546567" y="425206"/>
                  </a:lnTo>
                  <a:lnTo>
                    <a:pt x="2491473" y="432412"/>
                  </a:lnTo>
                  <a:lnTo>
                    <a:pt x="2434259" y="439215"/>
                  </a:lnTo>
                  <a:lnTo>
                    <a:pt x="2375014" y="445601"/>
                  </a:lnTo>
                  <a:lnTo>
                    <a:pt x="2313827" y="451555"/>
                  </a:lnTo>
                  <a:lnTo>
                    <a:pt x="2250784" y="457064"/>
                  </a:lnTo>
                  <a:lnTo>
                    <a:pt x="2185974" y="462115"/>
                  </a:lnTo>
                  <a:lnTo>
                    <a:pt x="2119486" y="466693"/>
                  </a:lnTo>
                  <a:lnTo>
                    <a:pt x="2051407" y="470784"/>
                  </a:lnTo>
                  <a:lnTo>
                    <a:pt x="1981825" y="474375"/>
                  </a:lnTo>
                  <a:lnTo>
                    <a:pt x="1910829" y="477451"/>
                  </a:lnTo>
                  <a:lnTo>
                    <a:pt x="1838507" y="479999"/>
                  </a:lnTo>
                  <a:lnTo>
                    <a:pt x="1764946" y="482005"/>
                  </a:lnTo>
                  <a:lnTo>
                    <a:pt x="1690235" y="483455"/>
                  </a:lnTo>
                  <a:lnTo>
                    <a:pt x="1614462" y="484335"/>
                  </a:lnTo>
                  <a:lnTo>
                    <a:pt x="1537715" y="484631"/>
                  </a:lnTo>
                  <a:lnTo>
                    <a:pt x="1460969" y="484335"/>
                  </a:lnTo>
                  <a:lnTo>
                    <a:pt x="1385196" y="483455"/>
                  </a:lnTo>
                  <a:lnTo>
                    <a:pt x="1310485" y="482005"/>
                  </a:lnTo>
                  <a:lnTo>
                    <a:pt x="1236924" y="479999"/>
                  </a:lnTo>
                  <a:lnTo>
                    <a:pt x="1164602" y="477451"/>
                  </a:lnTo>
                  <a:lnTo>
                    <a:pt x="1093606" y="474375"/>
                  </a:lnTo>
                  <a:lnTo>
                    <a:pt x="1024024" y="470784"/>
                  </a:lnTo>
                  <a:lnTo>
                    <a:pt x="955945" y="466693"/>
                  </a:lnTo>
                  <a:lnTo>
                    <a:pt x="889457" y="462115"/>
                  </a:lnTo>
                  <a:lnTo>
                    <a:pt x="824647" y="457064"/>
                  </a:lnTo>
                  <a:lnTo>
                    <a:pt x="761604" y="451555"/>
                  </a:lnTo>
                  <a:lnTo>
                    <a:pt x="700417" y="445601"/>
                  </a:lnTo>
                  <a:lnTo>
                    <a:pt x="641172" y="439215"/>
                  </a:lnTo>
                  <a:lnTo>
                    <a:pt x="583958" y="432412"/>
                  </a:lnTo>
                  <a:lnTo>
                    <a:pt x="528864" y="425206"/>
                  </a:lnTo>
                  <a:lnTo>
                    <a:pt x="475977" y="417610"/>
                  </a:lnTo>
                  <a:lnTo>
                    <a:pt x="425386" y="409638"/>
                  </a:lnTo>
                  <a:lnTo>
                    <a:pt x="377178" y="401305"/>
                  </a:lnTo>
                  <a:lnTo>
                    <a:pt x="331442" y="392624"/>
                  </a:lnTo>
                  <a:lnTo>
                    <a:pt x="288266" y="383608"/>
                  </a:lnTo>
                  <a:lnTo>
                    <a:pt x="247737" y="374273"/>
                  </a:lnTo>
                  <a:lnTo>
                    <a:pt x="209945" y="364631"/>
                  </a:lnTo>
                  <a:lnTo>
                    <a:pt x="142920" y="344483"/>
                  </a:lnTo>
                  <a:lnTo>
                    <a:pt x="87897" y="323276"/>
                  </a:lnTo>
                  <a:lnTo>
                    <a:pt x="45579" y="301122"/>
                  </a:lnTo>
                  <a:lnTo>
                    <a:pt x="7468" y="266355"/>
                  </a:lnTo>
                  <a:lnTo>
                    <a:pt x="0" y="242315"/>
                  </a:lnTo>
                  <a:close/>
                </a:path>
              </a:pathLst>
            </a:custGeom>
            <a:ln w="12192">
              <a:solidFill>
                <a:srgbClr val="A2A2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71905" y="1468374"/>
              <a:ext cx="477520" cy="218440"/>
            </a:xfrm>
            <a:custGeom>
              <a:avLst/>
              <a:gdLst/>
              <a:ahLst/>
              <a:cxnLst/>
              <a:rect l="l" t="t" r="r" b="b"/>
              <a:pathLst>
                <a:path w="477519" h="218439">
                  <a:moveTo>
                    <a:pt x="0" y="108965"/>
                  </a:moveTo>
                  <a:lnTo>
                    <a:pt x="32562" y="53960"/>
                  </a:lnTo>
                  <a:lnTo>
                    <a:pt x="69856" y="31908"/>
                  </a:lnTo>
                  <a:lnTo>
                    <a:pt x="118126" y="14873"/>
                  </a:lnTo>
                  <a:lnTo>
                    <a:pt x="175101" y="3891"/>
                  </a:lnTo>
                  <a:lnTo>
                    <a:pt x="238506" y="0"/>
                  </a:lnTo>
                  <a:lnTo>
                    <a:pt x="301910" y="3891"/>
                  </a:lnTo>
                  <a:lnTo>
                    <a:pt x="358885" y="14873"/>
                  </a:lnTo>
                  <a:lnTo>
                    <a:pt x="407155" y="31908"/>
                  </a:lnTo>
                  <a:lnTo>
                    <a:pt x="444449" y="53960"/>
                  </a:lnTo>
                  <a:lnTo>
                    <a:pt x="477012" y="108965"/>
                  </a:lnTo>
                  <a:lnTo>
                    <a:pt x="468492" y="137939"/>
                  </a:lnTo>
                  <a:lnTo>
                    <a:pt x="407155" y="186023"/>
                  </a:lnTo>
                  <a:lnTo>
                    <a:pt x="358885" y="203058"/>
                  </a:lnTo>
                  <a:lnTo>
                    <a:pt x="301910" y="214040"/>
                  </a:lnTo>
                  <a:lnTo>
                    <a:pt x="238506" y="217931"/>
                  </a:lnTo>
                  <a:lnTo>
                    <a:pt x="175101" y="214040"/>
                  </a:lnTo>
                  <a:lnTo>
                    <a:pt x="118126" y="203058"/>
                  </a:lnTo>
                  <a:lnTo>
                    <a:pt x="69856" y="186023"/>
                  </a:lnTo>
                  <a:lnTo>
                    <a:pt x="32562" y="163971"/>
                  </a:lnTo>
                  <a:lnTo>
                    <a:pt x="0" y="108965"/>
                  </a:lnTo>
                  <a:close/>
                </a:path>
              </a:pathLst>
            </a:custGeom>
            <a:ln w="25908">
              <a:solidFill>
                <a:srgbClr val="FF13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87310" y="1415796"/>
              <a:ext cx="2465705" cy="317500"/>
            </a:xfrm>
            <a:custGeom>
              <a:avLst/>
              <a:gdLst/>
              <a:ahLst/>
              <a:cxnLst/>
              <a:rect l="l" t="t" r="r" b="b"/>
              <a:pathLst>
                <a:path w="2465704" h="317500">
                  <a:moveTo>
                    <a:pt x="2412301" y="0"/>
                  </a:moveTo>
                  <a:lnTo>
                    <a:pt x="539813" y="0"/>
                  </a:lnTo>
                  <a:lnTo>
                    <a:pt x="519235" y="4147"/>
                  </a:lnTo>
                  <a:lnTo>
                    <a:pt x="502443" y="15462"/>
                  </a:lnTo>
                  <a:lnTo>
                    <a:pt x="491128" y="32254"/>
                  </a:lnTo>
                  <a:lnTo>
                    <a:pt x="486981" y="52831"/>
                  </a:lnTo>
                  <a:lnTo>
                    <a:pt x="0" y="124459"/>
                  </a:lnTo>
                  <a:lnTo>
                    <a:pt x="486981" y="132079"/>
                  </a:lnTo>
                  <a:lnTo>
                    <a:pt x="486981" y="264159"/>
                  </a:lnTo>
                  <a:lnTo>
                    <a:pt x="491128" y="284737"/>
                  </a:lnTo>
                  <a:lnTo>
                    <a:pt x="502443" y="301529"/>
                  </a:lnTo>
                  <a:lnTo>
                    <a:pt x="519235" y="312844"/>
                  </a:lnTo>
                  <a:lnTo>
                    <a:pt x="539813" y="316991"/>
                  </a:lnTo>
                  <a:lnTo>
                    <a:pt x="2412301" y="316991"/>
                  </a:lnTo>
                  <a:lnTo>
                    <a:pt x="2432879" y="312844"/>
                  </a:lnTo>
                  <a:lnTo>
                    <a:pt x="2449671" y="301529"/>
                  </a:lnTo>
                  <a:lnTo>
                    <a:pt x="2460986" y="284737"/>
                  </a:lnTo>
                  <a:lnTo>
                    <a:pt x="2465133" y="264159"/>
                  </a:lnTo>
                  <a:lnTo>
                    <a:pt x="2465133" y="52831"/>
                  </a:lnTo>
                  <a:lnTo>
                    <a:pt x="2460986" y="32254"/>
                  </a:lnTo>
                  <a:lnTo>
                    <a:pt x="2449671" y="15462"/>
                  </a:lnTo>
                  <a:lnTo>
                    <a:pt x="2432879" y="4147"/>
                  </a:lnTo>
                  <a:lnTo>
                    <a:pt x="2412301" y="0"/>
                  </a:lnTo>
                  <a:close/>
                </a:path>
              </a:pathLst>
            </a:custGeom>
            <a:solidFill>
              <a:srgbClr val="FF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87310" y="1415796"/>
              <a:ext cx="2465705" cy="317500"/>
            </a:xfrm>
            <a:custGeom>
              <a:avLst/>
              <a:gdLst/>
              <a:ahLst/>
              <a:cxnLst/>
              <a:rect l="l" t="t" r="r" b="b"/>
              <a:pathLst>
                <a:path w="2465704" h="317500">
                  <a:moveTo>
                    <a:pt x="486981" y="52831"/>
                  </a:moveTo>
                  <a:lnTo>
                    <a:pt x="491128" y="32254"/>
                  </a:lnTo>
                  <a:lnTo>
                    <a:pt x="502443" y="15462"/>
                  </a:lnTo>
                  <a:lnTo>
                    <a:pt x="519235" y="4147"/>
                  </a:lnTo>
                  <a:lnTo>
                    <a:pt x="539813" y="0"/>
                  </a:lnTo>
                  <a:lnTo>
                    <a:pt x="816673" y="0"/>
                  </a:lnTo>
                  <a:lnTo>
                    <a:pt x="1311211" y="0"/>
                  </a:lnTo>
                  <a:lnTo>
                    <a:pt x="2412301" y="0"/>
                  </a:lnTo>
                  <a:lnTo>
                    <a:pt x="2432879" y="4147"/>
                  </a:lnTo>
                  <a:lnTo>
                    <a:pt x="2449671" y="15462"/>
                  </a:lnTo>
                  <a:lnTo>
                    <a:pt x="2460986" y="32254"/>
                  </a:lnTo>
                  <a:lnTo>
                    <a:pt x="2465133" y="52831"/>
                  </a:lnTo>
                  <a:lnTo>
                    <a:pt x="2465133" y="132079"/>
                  </a:lnTo>
                  <a:lnTo>
                    <a:pt x="2465133" y="264159"/>
                  </a:lnTo>
                  <a:lnTo>
                    <a:pt x="2460986" y="284737"/>
                  </a:lnTo>
                  <a:lnTo>
                    <a:pt x="2449671" y="301529"/>
                  </a:lnTo>
                  <a:lnTo>
                    <a:pt x="2432879" y="312844"/>
                  </a:lnTo>
                  <a:lnTo>
                    <a:pt x="2412301" y="316991"/>
                  </a:lnTo>
                  <a:lnTo>
                    <a:pt x="1311211" y="316991"/>
                  </a:lnTo>
                  <a:lnTo>
                    <a:pt x="816673" y="316991"/>
                  </a:lnTo>
                  <a:lnTo>
                    <a:pt x="539813" y="316991"/>
                  </a:lnTo>
                  <a:lnTo>
                    <a:pt x="519235" y="312844"/>
                  </a:lnTo>
                  <a:lnTo>
                    <a:pt x="502443" y="301529"/>
                  </a:lnTo>
                  <a:lnTo>
                    <a:pt x="491128" y="284737"/>
                  </a:lnTo>
                  <a:lnTo>
                    <a:pt x="486981" y="264159"/>
                  </a:lnTo>
                  <a:lnTo>
                    <a:pt x="486981" y="132079"/>
                  </a:lnTo>
                  <a:lnTo>
                    <a:pt x="0" y="124459"/>
                  </a:lnTo>
                  <a:lnTo>
                    <a:pt x="486981" y="52831"/>
                  </a:lnTo>
                  <a:close/>
                </a:path>
              </a:pathLst>
            </a:custGeom>
            <a:ln w="9144">
              <a:solidFill>
                <a:srgbClr val="E4E4E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731391" y="1437514"/>
            <a:ext cx="166497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Launch BI</a:t>
            </a:r>
            <a:r>
              <a:rPr sz="1400" b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Answers</a:t>
            </a:r>
            <a:endParaRPr sz="1400">
              <a:latin typeface="Arial"/>
              <a:cs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17905"/>
            <a:ext cx="9144000" cy="4144645"/>
            <a:chOff x="0" y="653064"/>
            <a:chExt cx="9144000" cy="4144645"/>
          </a:xfrm>
        </p:grpSpPr>
        <p:sp>
          <p:nvSpPr>
            <p:cNvPr id="3" name="object 3"/>
            <p:cNvSpPr/>
            <p:nvPr/>
          </p:nvSpPr>
          <p:spPr>
            <a:xfrm>
              <a:off x="173648" y="653064"/>
              <a:ext cx="3269067" cy="188896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1544" y="659892"/>
              <a:ext cx="3200400" cy="180136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28600" y="133350"/>
            <a:ext cx="5170829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BI</a:t>
            </a:r>
            <a:r>
              <a:rPr sz="2800" spc="-120" dirty="0"/>
              <a:t> </a:t>
            </a:r>
            <a:r>
              <a:rPr sz="2800" spc="-5" dirty="0"/>
              <a:t>Answers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0" spc="-5" dirty="0">
                <a:solidFill>
                  <a:srgbClr val="FF1313"/>
                </a:solidFill>
                <a:latin typeface="Arial"/>
                <a:cs typeface="Arial"/>
              </a:rPr>
              <a:t>BI </a:t>
            </a:r>
            <a:r>
              <a:rPr sz="2000" b="0" dirty="0">
                <a:solidFill>
                  <a:srgbClr val="FF1313"/>
                </a:solidFill>
                <a:latin typeface="Arial"/>
                <a:cs typeface="Arial"/>
              </a:rPr>
              <a:t>Report Authoring</a:t>
            </a:r>
            <a:r>
              <a:rPr sz="2000" b="0" spc="-254" dirty="0">
                <a:solidFill>
                  <a:srgbClr val="FF1313"/>
                </a:solidFill>
                <a:latin typeface="Arial"/>
                <a:cs typeface="Arial"/>
              </a:rPr>
              <a:t> </a:t>
            </a:r>
            <a:r>
              <a:rPr sz="2000" b="0" spc="-55" dirty="0">
                <a:solidFill>
                  <a:srgbClr val="FF1313"/>
                </a:solidFill>
                <a:latin typeface="Arial"/>
                <a:cs typeface="Arial"/>
              </a:rPr>
              <a:t>Tool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2214" y="1088741"/>
            <a:ext cx="5067935" cy="3880485"/>
            <a:chOff x="172212" y="723900"/>
            <a:chExt cx="5067935" cy="3880485"/>
          </a:xfrm>
        </p:grpSpPr>
        <p:sp>
          <p:nvSpPr>
            <p:cNvPr id="9" name="object 9"/>
            <p:cNvSpPr/>
            <p:nvPr/>
          </p:nvSpPr>
          <p:spPr>
            <a:xfrm>
              <a:off x="184307" y="2562634"/>
              <a:ext cx="3249264" cy="204136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2212" y="2569464"/>
              <a:ext cx="3180588" cy="195376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18915" y="1647444"/>
              <a:ext cx="1572767" cy="264871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6155" y="752855"/>
              <a:ext cx="2933700" cy="3799840"/>
            </a:xfrm>
            <a:custGeom>
              <a:avLst/>
              <a:gdLst/>
              <a:ahLst/>
              <a:cxnLst/>
              <a:rect l="l" t="t" r="r" b="b"/>
              <a:pathLst>
                <a:path w="2933700" h="3799840">
                  <a:moveTo>
                    <a:pt x="0" y="185928"/>
                  </a:moveTo>
                  <a:lnTo>
                    <a:pt x="31408" y="147270"/>
                  </a:lnTo>
                  <a:lnTo>
                    <a:pt x="69463" y="128930"/>
                  </a:lnTo>
                  <a:lnTo>
                    <a:pt x="121349" y="111386"/>
                  </a:lnTo>
                  <a:lnTo>
                    <a:pt x="186263" y="94740"/>
                  </a:lnTo>
                  <a:lnTo>
                    <a:pt x="263400" y="79096"/>
                  </a:lnTo>
                  <a:lnTo>
                    <a:pt x="306302" y="71681"/>
                  </a:lnTo>
                  <a:lnTo>
                    <a:pt x="351959" y="64555"/>
                  </a:lnTo>
                  <a:lnTo>
                    <a:pt x="400271" y="57730"/>
                  </a:lnTo>
                  <a:lnTo>
                    <a:pt x="451137" y="51220"/>
                  </a:lnTo>
                  <a:lnTo>
                    <a:pt x="504456" y="45037"/>
                  </a:lnTo>
                  <a:lnTo>
                    <a:pt x="560129" y="39194"/>
                  </a:lnTo>
                  <a:lnTo>
                    <a:pt x="618055" y="33703"/>
                  </a:lnTo>
                  <a:lnTo>
                    <a:pt x="678134" y="28578"/>
                  </a:lnTo>
                  <a:lnTo>
                    <a:pt x="740265" y="23832"/>
                  </a:lnTo>
                  <a:lnTo>
                    <a:pt x="804348" y="19477"/>
                  </a:lnTo>
                  <a:lnTo>
                    <a:pt x="870283" y="15526"/>
                  </a:lnTo>
                  <a:lnTo>
                    <a:pt x="937969" y="11991"/>
                  </a:lnTo>
                  <a:lnTo>
                    <a:pt x="1007306" y="8887"/>
                  </a:lnTo>
                  <a:lnTo>
                    <a:pt x="1078193" y="6225"/>
                  </a:lnTo>
                  <a:lnTo>
                    <a:pt x="1150530" y="4018"/>
                  </a:lnTo>
                  <a:lnTo>
                    <a:pt x="1224217" y="2279"/>
                  </a:lnTo>
                  <a:lnTo>
                    <a:pt x="1299153" y="1021"/>
                  </a:lnTo>
                  <a:lnTo>
                    <a:pt x="1375238" y="257"/>
                  </a:lnTo>
                  <a:lnTo>
                    <a:pt x="1452371" y="0"/>
                  </a:lnTo>
                  <a:lnTo>
                    <a:pt x="1529506" y="257"/>
                  </a:lnTo>
                  <a:lnTo>
                    <a:pt x="1605592" y="1021"/>
                  </a:lnTo>
                  <a:lnTo>
                    <a:pt x="1680529" y="2279"/>
                  </a:lnTo>
                  <a:lnTo>
                    <a:pt x="1754217" y="4018"/>
                  </a:lnTo>
                  <a:lnTo>
                    <a:pt x="1826555" y="6225"/>
                  </a:lnTo>
                  <a:lnTo>
                    <a:pt x="1897442" y="8887"/>
                  </a:lnTo>
                  <a:lnTo>
                    <a:pt x="1966779" y="11991"/>
                  </a:lnTo>
                  <a:lnTo>
                    <a:pt x="2034465" y="15526"/>
                  </a:lnTo>
                  <a:lnTo>
                    <a:pt x="2100400" y="19477"/>
                  </a:lnTo>
                  <a:lnTo>
                    <a:pt x="2164483" y="23832"/>
                  </a:lnTo>
                  <a:lnTo>
                    <a:pt x="2226614" y="28578"/>
                  </a:lnTo>
                  <a:lnTo>
                    <a:pt x="2286693" y="33703"/>
                  </a:lnTo>
                  <a:lnTo>
                    <a:pt x="2344619" y="39194"/>
                  </a:lnTo>
                  <a:lnTo>
                    <a:pt x="2400292" y="45037"/>
                  </a:lnTo>
                  <a:lnTo>
                    <a:pt x="2453611" y="51220"/>
                  </a:lnTo>
                  <a:lnTo>
                    <a:pt x="2504477" y="57730"/>
                  </a:lnTo>
                  <a:lnTo>
                    <a:pt x="2552788" y="64555"/>
                  </a:lnTo>
                  <a:lnTo>
                    <a:pt x="2598445" y="71681"/>
                  </a:lnTo>
                  <a:lnTo>
                    <a:pt x="2641346" y="79096"/>
                  </a:lnTo>
                  <a:lnTo>
                    <a:pt x="2681393" y="86786"/>
                  </a:lnTo>
                  <a:lnTo>
                    <a:pt x="2752518" y="102944"/>
                  </a:lnTo>
                  <a:lnTo>
                    <a:pt x="2811017" y="120052"/>
                  </a:lnTo>
                  <a:lnTo>
                    <a:pt x="2856087" y="138006"/>
                  </a:lnTo>
                  <a:lnTo>
                    <a:pt x="2896758" y="166303"/>
                  </a:lnTo>
                  <a:lnTo>
                    <a:pt x="2904744" y="185928"/>
                  </a:lnTo>
                  <a:lnTo>
                    <a:pt x="2902730" y="195807"/>
                  </a:lnTo>
                  <a:lnTo>
                    <a:pt x="2873336" y="224585"/>
                  </a:lnTo>
                  <a:lnTo>
                    <a:pt x="2835281" y="242925"/>
                  </a:lnTo>
                  <a:lnTo>
                    <a:pt x="2783396" y="260469"/>
                  </a:lnTo>
                  <a:lnTo>
                    <a:pt x="2718483" y="277115"/>
                  </a:lnTo>
                  <a:lnTo>
                    <a:pt x="2641346" y="292759"/>
                  </a:lnTo>
                  <a:lnTo>
                    <a:pt x="2598445" y="300174"/>
                  </a:lnTo>
                  <a:lnTo>
                    <a:pt x="2552788" y="307300"/>
                  </a:lnTo>
                  <a:lnTo>
                    <a:pt x="2504477" y="314125"/>
                  </a:lnTo>
                  <a:lnTo>
                    <a:pt x="2453611" y="320635"/>
                  </a:lnTo>
                  <a:lnTo>
                    <a:pt x="2400292" y="326818"/>
                  </a:lnTo>
                  <a:lnTo>
                    <a:pt x="2344619" y="332661"/>
                  </a:lnTo>
                  <a:lnTo>
                    <a:pt x="2286693" y="338152"/>
                  </a:lnTo>
                  <a:lnTo>
                    <a:pt x="2226614" y="343277"/>
                  </a:lnTo>
                  <a:lnTo>
                    <a:pt x="2164483" y="348023"/>
                  </a:lnTo>
                  <a:lnTo>
                    <a:pt x="2100400" y="352378"/>
                  </a:lnTo>
                  <a:lnTo>
                    <a:pt x="2034465" y="356329"/>
                  </a:lnTo>
                  <a:lnTo>
                    <a:pt x="1966779" y="359864"/>
                  </a:lnTo>
                  <a:lnTo>
                    <a:pt x="1897442" y="362968"/>
                  </a:lnTo>
                  <a:lnTo>
                    <a:pt x="1826555" y="365630"/>
                  </a:lnTo>
                  <a:lnTo>
                    <a:pt x="1754217" y="367837"/>
                  </a:lnTo>
                  <a:lnTo>
                    <a:pt x="1680529" y="369576"/>
                  </a:lnTo>
                  <a:lnTo>
                    <a:pt x="1605592" y="370834"/>
                  </a:lnTo>
                  <a:lnTo>
                    <a:pt x="1529506" y="371598"/>
                  </a:lnTo>
                  <a:lnTo>
                    <a:pt x="1452371" y="371856"/>
                  </a:lnTo>
                  <a:lnTo>
                    <a:pt x="1375238" y="371598"/>
                  </a:lnTo>
                  <a:lnTo>
                    <a:pt x="1299153" y="370834"/>
                  </a:lnTo>
                  <a:lnTo>
                    <a:pt x="1224217" y="369576"/>
                  </a:lnTo>
                  <a:lnTo>
                    <a:pt x="1150530" y="367837"/>
                  </a:lnTo>
                  <a:lnTo>
                    <a:pt x="1078193" y="365630"/>
                  </a:lnTo>
                  <a:lnTo>
                    <a:pt x="1007306" y="362968"/>
                  </a:lnTo>
                  <a:lnTo>
                    <a:pt x="937969" y="359864"/>
                  </a:lnTo>
                  <a:lnTo>
                    <a:pt x="870283" y="356329"/>
                  </a:lnTo>
                  <a:lnTo>
                    <a:pt x="804348" y="352378"/>
                  </a:lnTo>
                  <a:lnTo>
                    <a:pt x="740265" y="348023"/>
                  </a:lnTo>
                  <a:lnTo>
                    <a:pt x="678134" y="343277"/>
                  </a:lnTo>
                  <a:lnTo>
                    <a:pt x="618055" y="338152"/>
                  </a:lnTo>
                  <a:lnTo>
                    <a:pt x="560129" y="332661"/>
                  </a:lnTo>
                  <a:lnTo>
                    <a:pt x="504456" y="326818"/>
                  </a:lnTo>
                  <a:lnTo>
                    <a:pt x="451137" y="320635"/>
                  </a:lnTo>
                  <a:lnTo>
                    <a:pt x="400271" y="314125"/>
                  </a:lnTo>
                  <a:lnTo>
                    <a:pt x="351959" y="307300"/>
                  </a:lnTo>
                  <a:lnTo>
                    <a:pt x="306302" y="300174"/>
                  </a:lnTo>
                  <a:lnTo>
                    <a:pt x="263400" y="292759"/>
                  </a:lnTo>
                  <a:lnTo>
                    <a:pt x="223354" y="285069"/>
                  </a:lnTo>
                  <a:lnTo>
                    <a:pt x="152228" y="268911"/>
                  </a:lnTo>
                  <a:lnTo>
                    <a:pt x="93728" y="251803"/>
                  </a:lnTo>
                  <a:lnTo>
                    <a:pt x="48656" y="233849"/>
                  </a:lnTo>
                  <a:lnTo>
                    <a:pt x="7985" y="205552"/>
                  </a:lnTo>
                  <a:lnTo>
                    <a:pt x="0" y="185928"/>
                  </a:lnTo>
                  <a:close/>
                </a:path>
                <a:path w="2933700" h="3799840">
                  <a:moveTo>
                    <a:pt x="246887" y="3561588"/>
                  </a:moveTo>
                  <a:lnTo>
                    <a:pt x="265687" y="3521726"/>
                  </a:lnTo>
                  <a:lnTo>
                    <a:pt x="298164" y="3496307"/>
                  </a:lnTo>
                  <a:lnTo>
                    <a:pt x="345536" y="3471998"/>
                  </a:lnTo>
                  <a:lnTo>
                    <a:pt x="406898" y="3448961"/>
                  </a:lnTo>
                  <a:lnTo>
                    <a:pt x="481341" y="3427356"/>
                  </a:lnTo>
                  <a:lnTo>
                    <a:pt x="523185" y="3417141"/>
                  </a:lnTo>
                  <a:lnTo>
                    <a:pt x="567959" y="3407344"/>
                  </a:lnTo>
                  <a:lnTo>
                    <a:pt x="615549" y="3397985"/>
                  </a:lnTo>
                  <a:lnTo>
                    <a:pt x="665843" y="3389084"/>
                  </a:lnTo>
                  <a:lnTo>
                    <a:pt x="718727" y="3380662"/>
                  </a:lnTo>
                  <a:lnTo>
                    <a:pt x="774087" y="3372739"/>
                  </a:lnTo>
                  <a:lnTo>
                    <a:pt x="831810" y="3365334"/>
                  </a:lnTo>
                  <a:lnTo>
                    <a:pt x="891783" y="3358467"/>
                  </a:lnTo>
                  <a:lnTo>
                    <a:pt x="953893" y="3352160"/>
                  </a:lnTo>
                  <a:lnTo>
                    <a:pt x="1018025" y="3346431"/>
                  </a:lnTo>
                  <a:lnTo>
                    <a:pt x="1084066" y="3341301"/>
                  </a:lnTo>
                  <a:lnTo>
                    <a:pt x="1151904" y="3336790"/>
                  </a:lnTo>
                  <a:lnTo>
                    <a:pt x="1221424" y="3332918"/>
                  </a:lnTo>
                  <a:lnTo>
                    <a:pt x="1292513" y="3329704"/>
                  </a:lnTo>
                  <a:lnTo>
                    <a:pt x="1365058" y="3327170"/>
                  </a:lnTo>
                  <a:lnTo>
                    <a:pt x="1438945" y="3325335"/>
                  </a:lnTo>
                  <a:lnTo>
                    <a:pt x="1514062" y="3324220"/>
                  </a:lnTo>
                  <a:lnTo>
                    <a:pt x="1590294" y="3323844"/>
                  </a:lnTo>
                  <a:lnTo>
                    <a:pt x="1666525" y="3324220"/>
                  </a:lnTo>
                  <a:lnTo>
                    <a:pt x="1741642" y="3325335"/>
                  </a:lnTo>
                  <a:lnTo>
                    <a:pt x="1815529" y="3327170"/>
                  </a:lnTo>
                  <a:lnTo>
                    <a:pt x="1888074" y="3329704"/>
                  </a:lnTo>
                  <a:lnTo>
                    <a:pt x="1959163" y="3332918"/>
                  </a:lnTo>
                  <a:lnTo>
                    <a:pt x="2028683" y="3336790"/>
                  </a:lnTo>
                  <a:lnTo>
                    <a:pt x="2096521" y="3341301"/>
                  </a:lnTo>
                  <a:lnTo>
                    <a:pt x="2162562" y="3346431"/>
                  </a:lnTo>
                  <a:lnTo>
                    <a:pt x="2226694" y="3352160"/>
                  </a:lnTo>
                  <a:lnTo>
                    <a:pt x="2288804" y="3358467"/>
                  </a:lnTo>
                  <a:lnTo>
                    <a:pt x="2348777" y="3365334"/>
                  </a:lnTo>
                  <a:lnTo>
                    <a:pt x="2406500" y="3372739"/>
                  </a:lnTo>
                  <a:lnTo>
                    <a:pt x="2461860" y="3380662"/>
                  </a:lnTo>
                  <a:lnTo>
                    <a:pt x="2514744" y="3389084"/>
                  </a:lnTo>
                  <a:lnTo>
                    <a:pt x="2565038" y="3397985"/>
                  </a:lnTo>
                  <a:lnTo>
                    <a:pt x="2612628" y="3407344"/>
                  </a:lnTo>
                  <a:lnTo>
                    <a:pt x="2657402" y="3417141"/>
                  </a:lnTo>
                  <a:lnTo>
                    <a:pt x="2699246" y="3427356"/>
                  </a:lnTo>
                  <a:lnTo>
                    <a:pt x="2738046" y="3437969"/>
                  </a:lnTo>
                  <a:lnTo>
                    <a:pt x="2806062" y="3460311"/>
                  </a:lnTo>
                  <a:lnTo>
                    <a:pt x="2860542" y="3484003"/>
                  </a:lnTo>
                  <a:lnTo>
                    <a:pt x="2900580" y="3508888"/>
                  </a:lnTo>
                  <a:lnTo>
                    <a:pt x="2931573" y="3548096"/>
                  </a:lnTo>
                  <a:lnTo>
                    <a:pt x="2933699" y="3561588"/>
                  </a:lnTo>
                  <a:lnTo>
                    <a:pt x="2931573" y="3575079"/>
                  </a:lnTo>
                  <a:lnTo>
                    <a:pt x="2900580" y="3614287"/>
                  </a:lnTo>
                  <a:lnTo>
                    <a:pt x="2860542" y="3639172"/>
                  </a:lnTo>
                  <a:lnTo>
                    <a:pt x="2806062" y="3662864"/>
                  </a:lnTo>
                  <a:lnTo>
                    <a:pt x="2738046" y="3685206"/>
                  </a:lnTo>
                  <a:lnTo>
                    <a:pt x="2699246" y="3695819"/>
                  </a:lnTo>
                  <a:lnTo>
                    <a:pt x="2657402" y="3706034"/>
                  </a:lnTo>
                  <a:lnTo>
                    <a:pt x="2612628" y="3715831"/>
                  </a:lnTo>
                  <a:lnTo>
                    <a:pt x="2565038" y="3725190"/>
                  </a:lnTo>
                  <a:lnTo>
                    <a:pt x="2514744" y="3734091"/>
                  </a:lnTo>
                  <a:lnTo>
                    <a:pt x="2461860" y="3742513"/>
                  </a:lnTo>
                  <a:lnTo>
                    <a:pt x="2406500" y="3750436"/>
                  </a:lnTo>
                  <a:lnTo>
                    <a:pt x="2348777" y="3757841"/>
                  </a:lnTo>
                  <a:lnTo>
                    <a:pt x="2288804" y="3764708"/>
                  </a:lnTo>
                  <a:lnTo>
                    <a:pt x="2226694" y="3771015"/>
                  </a:lnTo>
                  <a:lnTo>
                    <a:pt x="2162562" y="3776744"/>
                  </a:lnTo>
                  <a:lnTo>
                    <a:pt x="2096521" y="3781874"/>
                  </a:lnTo>
                  <a:lnTo>
                    <a:pt x="2028683" y="3786385"/>
                  </a:lnTo>
                  <a:lnTo>
                    <a:pt x="1959163" y="3790257"/>
                  </a:lnTo>
                  <a:lnTo>
                    <a:pt x="1888074" y="3793471"/>
                  </a:lnTo>
                  <a:lnTo>
                    <a:pt x="1815529" y="3796005"/>
                  </a:lnTo>
                  <a:lnTo>
                    <a:pt x="1741642" y="3797840"/>
                  </a:lnTo>
                  <a:lnTo>
                    <a:pt x="1666525" y="3798955"/>
                  </a:lnTo>
                  <a:lnTo>
                    <a:pt x="1590294" y="3799332"/>
                  </a:lnTo>
                  <a:lnTo>
                    <a:pt x="1514062" y="3798955"/>
                  </a:lnTo>
                  <a:lnTo>
                    <a:pt x="1438945" y="3797840"/>
                  </a:lnTo>
                  <a:lnTo>
                    <a:pt x="1365058" y="3796005"/>
                  </a:lnTo>
                  <a:lnTo>
                    <a:pt x="1292513" y="3793471"/>
                  </a:lnTo>
                  <a:lnTo>
                    <a:pt x="1221424" y="3790257"/>
                  </a:lnTo>
                  <a:lnTo>
                    <a:pt x="1151904" y="3786385"/>
                  </a:lnTo>
                  <a:lnTo>
                    <a:pt x="1084066" y="3781874"/>
                  </a:lnTo>
                  <a:lnTo>
                    <a:pt x="1018025" y="3776744"/>
                  </a:lnTo>
                  <a:lnTo>
                    <a:pt x="953893" y="3771015"/>
                  </a:lnTo>
                  <a:lnTo>
                    <a:pt x="891783" y="3764708"/>
                  </a:lnTo>
                  <a:lnTo>
                    <a:pt x="831810" y="3757841"/>
                  </a:lnTo>
                  <a:lnTo>
                    <a:pt x="774087" y="3750436"/>
                  </a:lnTo>
                  <a:lnTo>
                    <a:pt x="718727" y="3742513"/>
                  </a:lnTo>
                  <a:lnTo>
                    <a:pt x="665843" y="3734091"/>
                  </a:lnTo>
                  <a:lnTo>
                    <a:pt x="615549" y="3725190"/>
                  </a:lnTo>
                  <a:lnTo>
                    <a:pt x="567959" y="3715831"/>
                  </a:lnTo>
                  <a:lnTo>
                    <a:pt x="523185" y="3706034"/>
                  </a:lnTo>
                  <a:lnTo>
                    <a:pt x="481341" y="3695819"/>
                  </a:lnTo>
                  <a:lnTo>
                    <a:pt x="442541" y="3685206"/>
                  </a:lnTo>
                  <a:lnTo>
                    <a:pt x="374525" y="3662864"/>
                  </a:lnTo>
                  <a:lnTo>
                    <a:pt x="320045" y="3639172"/>
                  </a:lnTo>
                  <a:lnTo>
                    <a:pt x="280007" y="3614287"/>
                  </a:lnTo>
                  <a:lnTo>
                    <a:pt x="249014" y="3575079"/>
                  </a:lnTo>
                  <a:lnTo>
                    <a:pt x="246887" y="3561588"/>
                  </a:lnTo>
                  <a:close/>
                </a:path>
              </a:pathLst>
            </a:custGeom>
            <a:ln w="12192">
              <a:solidFill>
                <a:srgbClr val="FF13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13603" y="723900"/>
              <a:ext cx="26288" cy="386863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432805" y="1038194"/>
            <a:ext cx="3101340" cy="37683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With BI Answers, </a:t>
            </a:r>
            <a:r>
              <a:rPr sz="2000" spc="-60" dirty="0">
                <a:solidFill>
                  <a:srgbClr val="424545"/>
                </a:solidFill>
                <a:latin typeface="Arial"/>
                <a:cs typeface="Arial"/>
              </a:rPr>
              <a:t>You</a:t>
            </a:r>
            <a:r>
              <a:rPr sz="2000" spc="-260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can:</a:t>
            </a:r>
            <a:endParaRPr sz="2000">
              <a:latin typeface="Arial"/>
              <a:cs typeface="Arial"/>
            </a:endParaRPr>
          </a:p>
          <a:p>
            <a:pPr marL="127000" indent="-114300">
              <a:lnSpc>
                <a:spcPct val="100000"/>
              </a:lnSpc>
              <a:spcBef>
                <a:spcPts val="10"/>
              </a:spcBef>
              <a:buClr>
                <a:srgbClr val="FF1313"/>
              </a:buClr>
              <a:buChar char="•"/>
              <a:tabLst>
                <a:tab pos="127000" algn="l"/>
              </a:tabLst>
            </a:pPr>
            <a:r>
              <a:rPr sz="1400" spc="-5" dirty="0">
                <a:solidFill>
                  <a:srgbClr val="424545"/>
                </a:solidFill>
                <a:latin typeface="Arial"/>
                <a:cs typeface="Arial"/>
              </a:rPr>
              <a:t>Format </a:t>
            </a:r>
            <a:r>
              <a:rPr sz="1400" dirty="0">
                <a:solidFill>
                  <a:srgbClr val="424545"/>
                </a:solidFill>
                <a:latin typeface="Arial"/>
                <a:cs typeface="Arial"/>
              </a:rPr>
              <a:t>columns and</a:t>
            </a:r>
            <a:r>
              <a:rPr sz="1400" spc="-85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24545"/>
                </a:solidFill>
                <a:latin typeface="Arial"/>
                <a:cs typeface="Arial"/>
              </a:rPr>
              <a:t>data</a:t>
            </a:r>
            <a:endParaRPr sz="1400">
              <a:latin typeface="Arial"/>
              <a:cs typeface="Arial"/>
            </a:endParaRPr>
          </a:p>
          <a:p>
            <a:pPr marL="127000" indent="-114300">
              <a:lnSpc>
                <a:spcPct val="100000"/>
              </a:lnSpc>
              <a:buClr>
                <a:srgbClr val="FF1313"/>
              </a:buClr>
              <a:buChar char="•"/>
              <a:tabLst>
                <a:tab pos="127000" algn="l"/>
              </a:tabLst>
            </a:pPr>
            <a:r>
              <a:rPr sz="1400" dirty="0">
                <a:solidFill>
                  <a:srgbClr val="424545"/>
                </a:solidFill>
                <a:latin typeface="Arial"/>
                <a:cs typeface="Arial"/>
              </a:rPr>
              <a:t>Configure conditional</a:t>
            </a:r>
            <a:r>
              <a:rPr sz="1400" spc="-95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545"/>
                </a:solidFill>
                <a:latin typeface="Arial"/>
                <a:cs typeface="Arial"/>
              </a:rPr>
              <a:t>formatting</a:t>
            </a:r>
            <a:endParaRPr sz="1400">
              <a:latin typeface="Arial"/>
              <a:cs typeface="Arial"/>
            </a:endParaRPr>
          </a:p>
          <a:p>
            <a:pPr marL="127000" indent="-114300">
              <a:lnSpc>
                <a:spcPct val="100000"/>
              </a:lnSpc>
              <a:buClr>
                <a:srgbClr val="FF1313"/>
              </a:buClr>
              <a:buChar char="•"/>
              <a:tabLst>
                <a:tab pos="127000" algn="l"/>
              </a:tabLst>
            </a:pPr>
            <a:r>
              <a:rPr sz="1400" dirty="0">
                <a:solidFill>
                  <a:srgbClr val="424545"/>
                </a:solidFill>
                <a:latin typeface="Arial"/>
                <a:cs typeface="Arial"/>
              </a:rPr>
              <a:t>Configure Graphs (prompts,</a:t>
            </a:r>
            <a:r>
              <a:rPr sz="1400" spc="-140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545"/>
                </a:solidFill>
                <a:latin typeface="Arial"/>
                <a:cs typeface="Arial"/>
              </a:rPr>
              <a:t>pivot</a:t>
            </a:r>
            <a:endParaRPr sz="1400">
              <a:latin typeface="Arial"/>
              <a:cs typeface="Arial"/>
            </a:endParaRPr>
          </a:p>
          <a:p>
            <a:pPr marL="127000">
              <a:lnSpc>
                <a:spcPct val="100000"/>
              </a:lnSpc>
            </a:pPr>
            <a:r>
              <a:rPr sz="1400" spc="-5" dirty="0">
                <a:solidFill>
                  <a:srgbClr val="424545"/>
                </a:solidFill>
                <a:latin typeface="Arial"/>
                <a:cs typeface="Arial"/>
              </a:rPr>
              <a:t>view</a:t>
            </a:r>
            <a:r>
              <a:rPr sz="1400" spc="5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24545"/>
                </a:solidFill>
                <a:latin typeface="Arial"/>
                <a:cs typeface="Arial"/>
              </a:rPr>
              <a:t>subtotal)</a:t>
            </a:r>
            <a:endParaRPr sz="1400">
              <a:latin typeface="Arial"/>
              <a:cs typeface="Arial"/>
            </a:endParaRPr>
          </a:p>
          <a:p>
            <a:pPr marL="127000" marR="146685" indent="-114300">
              <a:lnSpc>
                <a:spcPct val="100000"/>
              </a:lnSpc>
              <a:spcBef>
                <a:spcPts val="5"/>
              </a:spcBef>
              <a:buClr>
                <a:srgbClr val="FF1313"/>
              </a:buClr>
              <a:buChar char="•"/>
              <a:tabLst>
                <a:tab pos="127000" algn="l"/>
              </a:tabLst>
            </a:pPr>
            <a:r>
              <a:rPr sz="1400" dirty="0">
                <a:solidFill>
                  <a:srgbClr val="424545"/>
                </a:solidFill>
                <a:latin typeface="Arial"/>
                <a:cs typeface="Arial"/>
              </a:rPr>
              <a:t>Configure report </a:t>
            </a:r>
            <a:r>
              <a:rPr sz="1400" spc="-5" dirty="0">
                <a:solidFill>
                  <a:srgbClr val="424545"/>
                </a:solidFill>
                <a:latin typeface="Arial"/>
                <a:cs typeface="Arial"/>
              </a:rPr>
              <a:t>interactions</a:t>
            </a:r>
            <a:r>
              <a:rPr sz="1400" spc="-135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24545"/>
                </a:solidFill>
                <a:latin typeface="Arial"/>
                <a:cs typeface="Arial"/>
              </a:rPr>
              <a:t>(action  links, </a:t>
            </a:r>
            <a:r>
              <a:rPr sz="1400" spc="-5" dirty="0">
                <a:solidFill>
                  <a:srgbClr val="424545"/>
                </a:solidFill>
                <a:latin typeface="Arial"/>
                <a:cs typeface="Arial"/>
              </a:rPr>
              <a:t>web service </a:t>
            </a:r>
            <a:r>
              <a:rPr sz="1400" dirty="0">
                <a:solidFill>
                  <a:srgbClr val="424545"/>
                </a:solidFill>
                <a:latin typeface="Arial"/>
                <a:cs typeface="Arial"/>
              </a:rPr>
              <a:t>calls,</a:t>
            </a:r>
            <a:r>
              <a:rPr sz="1400" spc="-85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24545"/>
                </a:solidFill>
                <a:latin typeface="Arial"/>
                <a:cs typeface="Arial"/>
              </a:rPr>
              <a:t>etc.)</a:t>
            </a:r>
            <a:endParaRPr sz="1400">
              <a:latin typeface="Arial"/>
              <a:cs typeface="Arial"/>
            </a:endParaRPr>
          </a:p>
          <a:p>
            <a:pPr marL="127000" indent="-114300">
              <a:lnSpc>
                <a:spcPct val="100000"/>
              </a:lnSpc>
              <a:buClr>
                <a:srgbClr val="FF1313"/>
              </a:buClr>
              <a:buChar char="•"/>
              <a:tabLst>
                <a:tab pos="127000" algn="l"/>
              </a:tabLst>
            </a:pPr>
            <a:r>
              <a:rPr sz="1400" dirty="0">
                <a:solidFill>
                  <a:srgbClr val="424545"/>
                </a:solidFill>
                <a:latin typeface="Arial"/>
                <a:cs typeface="Arial"/>
              </a:rPr>
              <a:t>Print to </a:t>
            </a:r>
            <a:r>
              <a:rPr sz="1400" spc="-45" dirty="0">
                <a:solidFill>
                  <a:srgbClr val="424545"/>
                </a:solidFill>
                <a:latin typeface="Arial"/>
                <a:cs typeface="Arial"/>
              </a:rPr>
              <a:t>PDF,</a:t>
            </a:r>
            <a:r>
              <a:rPr sz="1400" spc="-50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545"/>
                </a:solidFill>
                <a:latin typeface="Arial"/>
                <a:cs typeface="Arial"/>
              </a:rPr>
              <a:t>HTML</a:t>
            </a:r>
            <a:endParaRPr sz="1400">
              <a:latin typeface="Arial"/>
              <a:cs typeface="Arial"/>
            </a:endParaRPr>
          </a:p>
          <a:p>
            <a:pPr marL="127000" indent="-114300">
              <a:lnSpc>
                <a:spcPct val="100000"/>
              </a:lnSpc>
              <a:buClr>
                <a:srgbClr val="FF1313"/>
              </a:buClr>
              <a:buChar char="•"/>
              <a:tabLst>
                <a:tab pos="127000" algn="l"/>
              </a:tabLst>
            </a:pPr>
            <a:r>
              <a:rPr sz="1400" spc="-5" dirty="0">
                <a:solidFill>
                  <a:srgbClr val="424545"/>
                </a:solidFill>
                <a:latin typeface="Arial"/>
                <a:cs typeface="Arial"/>
              </a:rPr>
              <a:t>Export </a:t>
            </a:r>
            <a:r>
              <a:rPr sz="1400" dirty="0">
                <a:solidFill>
                  <a:srgbClr val="424545"/>
                </a:solidFill>
                <a:latin typeface="Arial"/>
                <a:cs typeface="Arial"/>
              </a:rPr>
              <a:t>Data, </a:t>
            </a:r>
            <a:r>
              <a:rPr sz="1400" spc="-40" dirty="0">
                <a:solidFill>
                  <a:srgbClr val="424545"/>
                </a:solidFill>
                <a:latin typeface="Arial"/>
                <a:cs typeface="Arial"/>
              </a:rPr>
              <a:t>PDF, </a:t>
            </a:r>
            <a:r>
              <a:rPr sz="1400" spc="-5" dirty="0">
                <a:solidFill>
                  <a:srgbClr val="424545"/>
                </a:solidFill>
                <a:latin typeface="Arial"/>
                <a:cs typeface="Arial"/>
              </a:rPr>
              <a:t>Excel,</a:t>
            </a:r>
            <a:r>
              <a:rPr sz="1400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545"/>
                </a:solidFill>
                <a:latin typeface="Arial"/>
                <a:cs typeface="Arial"/>
              </a:rPr>
              <a:t>PowerPoint,</a:t>
            </a:r>
            <a:endParaRPr sz="1400">
              <a:latin typeface="Arial"/>
              <a:cs typeface="Arial"/>
            </a:endParaRPr>
          </a:p>
          <a:p>
            <a:pPr marL="127000">
              <a:lnSpc>
                <a:spcPct val="100000"/>
              </a:lnSpc>
            </a:pPr>
            <a:r>
              <a:rPr sz="1400" spc="-5" dirty="0">
                <a:solidFill>
                  <a:srgbClr val="424545"/>
                </a:solidFill>
                <a:latin typeface="Arial"/>
                <a:cs typeface="Arial"/>
              </a:rPr>
              <a:t>web archive,</a:t>
            </a:r>
            <a:r>
              <a:rPr sz="1400" spc="-30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24545"/>
                </a:solidFill>
                <a:latin typeface="Arial"/>
                <a:cs typeface="Arial"/>
              </a:rPr>
              <a:t>etc</a:t>
            </a:r>
            <a:endParaRPr sz="1400">
              <a:latin typeface="Arial"/>
              <a:cs typeface="Arial"/>
            </a:endParaRPr>
          </a:p>
          <a:p>
            <a:pPr marL="127000" indent="-114300">
              <a:lnSpc>
                <a:spcPct val="100000"/>
              </a:lnSpc>
              <a:buClr>
                <a:srgbClr val="FF1313"/>
              </a:buClr>
              <a:buChar char="•"/>
              <a:tabLst>
                <a:tab pos="127000" algn="l"/>
              </a:tabLst>
            </a:pPr>
            <a:r>
              <a:rPr sz="1400" dirty="0">
                <a:solidFill>
                  <a:srgbClr val="424545"/>
                </a:solidFill>
                <a:latin typeface="Arial"/>
                <a:cs typeface="Arial"/>
              </a:rPr>
              <a:t>Create BI</a:t>
            </a:r>
            <a:r>
              <a:rPr sz="1400" spc="-45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24545"/>
                </a:solidFill>
                <a:latin typeface="Arial"/>
                <a:cs typeface="Arial"/>
              </a:rPr>
              <a:t>Dashboards</a:t>
            </a:r>
            <a:endParaRPr sz="1400">
              <a:latin typeface="Arial"/>
              <a:cs typeface="Arial"/>
            </a:endParaRPr>
          </a:p>
          <a:p>
            <a:pPr marL="127000" marR="67310" indent="-114300">
              <a:lnSpc>
                <a:spcPct val="100000"/>
              </a:lnSpc>
              <a:buClr>
                <a:srgbClr val="FF1313"/>
              </a:buClr>
              <a:buChar char="•"/>
              <a:tabLst>
                <a:tab pos="127000" algn="l"/>
              </a:tabLst>
            </a:pPr>
            <a:r>
              <a:rPr sz="1400" dirty="0">
                <a:solidFill>
                  <a:srgbClr val="424545"/>
                </a:solidFill>
                <a:latin typeface="Arial"/>
                <a:cs typeface="Arial"/>
              </a:rPr>
              <a:t>Schedule </a:t>
            </a:r>
            <a:r>
              <a:rPr sz="1400" spc="-5" dirty="0">
                <a:solidFill>
                  <a:srgbClr val="424545"/>
                </a:solidFill>
                <a:latin typeface="Arial"/>
                <a:cs typeface="Arial"/>
              </a:rPr>
              <a:t>(deliver </a:t>
            </a:r>
            <a:r>
              <a:rPr sz="1400" dirty="0">
                <a:solidFill>
                  <a:srgbClr val="424545"/>
                </a:solidFill>
                <a:latin typeface="Arial"/>
                <a:cs typeface="Arial"/>
              </a:rPr>
              <a:t>to </a:t>
            </a:r>
            <a:r>
              <a:rPr sz="1400" spc="-5" dirty="0">
                <a:solidFill>
                  <a:srgbClr val="424545"/>
                </a:solidFill>
                <a:latin typeface="Arial"/>
                <a:cs typeface="Arial"/>
              </a:rPr>
              <a:t>Home </a:t>
            </a:r>
            <a:r>
              <a:rPr sz="1400" dirty="0">
                <a:solidFill>
                  <a:srgbClr val="424545"/>
                </a:solidFill>
                <a:latin typeface="Arial"/>
                <a:cs typeface="Arial"/>
              </a:rPr>
              <a:t>Page</a:t>
            </a:r>
            <a:r>
              <a:rPr sz="1400" spc="-120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24545"/>
                </a:solidFill>
                <a:latin typeface="Arial"/>
                <a:cs typeface="Arial"/>
              </a:rPr>
              <a:t>and  Dashboards, or e-mail, mobile  </a:t>
            </a:r>
            <a:r>
              <a:rPr sz="1400" spc="-5" dirty="0">
                <a:solidFill>
                  <a:srgbClr val="424545"/>
                </a:solidFill>
                <a:latin typeface="Arial"/>
                <a:cs typeface="Arial"/>
              </a:rPr>
              <a:t>devices, </a:t>
            </a:r>
            <a:r>
              <a:rPr sz="1400" dirty="0">
                <a:solidFill>
                  <a:srgbClr val="424545"/>
                </a:solidFill>
                <a:latin typeface="Arial"/>
                <a:cs typeface="Arial"/>
              </a:rPr>
              <a:t>can be </a:t>
            </a:r>
            <a:r>
              <a:rPr sz="1400" spc="-5" dirty="0">
                <a:solidFill>
                  <a:srgbClr val="424545"/>
                </a:solidFill>
                <a:latin typeface="Arial"/>
                <a:cs typeface="Arial"/>
              </a:rPr>
              <a:t>triggered </a:t>
            </a:r>
            <a:r>
              <a:rPr sz="1400" dirty="0">
                <a:solidFill>
                  <a:srgbClr val="424545"/>
                </a:solidFill>
                <a:latin typeface="Arial"/>
                <a:cs typeface="Arial"/>
              </a:rPr>
              <a:t>by a  condition)</a:t>
            </a:r>
            <a:endParaRPr sz="1400">
              <a:latin typeface="Arial"/>
              <a:cs typeface="Arial"/>
            </a:endParaRPr>
          </a:p>
          <a:p>
            <a:pPr marL="127000" marR="569595" indent="-114300">
              <a:lnSpc>
                <a:spcPct val="100000"/>
              </a:lnSpc>
              <a:buClr>
                <a:srgbClr val="FF1313"/>
              </a:buClr>
              <a:buChar char="•"/>
              <a:tabLst>
                <a:tab pos="127000" algn="l"/>
              </a:tabLst>
            </a:pPr>
            <a:r>
              <a:rPr sz="1400" dirty="0">
                <a:solidFill>
                  <a:srgbClr val="424545"/>
                </a:solidFill>
                <a:latin typeface="Arial"/>
                <a:cs typeface="Arial"/>
              </a:rPr>
              <a:t>Embed OTBI reports in</a:t>
            </a:r>
            <a:r>
              <a:rPr sz="1400" spc="-165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24545"/>
                </a:solidFill>
                <a:latin typeface="Arial"/>
                <a:cs typeface="Arial"/>
              </a:rPr>
              <a:t>Fusion  Applications</a:t>
            </a:r>
            <a:endParaRPr sz="1400">
              <a:latin typeface="Arial"/>
              <a:cs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1000" y="299880"/>
            <a:ext cx="506412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424545"/>
                </a:solidFill>
              </a:rPr>
              <a:t>Fusion Flex Fields</a:t>
            </a:r>
            <a:r>
              <a:rPr sz="2800" spc="25" dirty="0">
                <a:solidFill>
                  <a:srgbClr val="424545"/>
                </a:solidFill>
              </a:rPr>
              <a:t> </a:t>
            </a:r>
            <a:r>
              <a:rPr sz="2800" spc="-5" dirty="0">
                <a:solidFill>
                  <a:srgbClr val="424545"/>
                </a:solidFill>
              </a:rPr>
              <a:t>Integration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3943" y="941096"/>
            <a:ext cx="7907020" cy="216405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39395" indent="-227329">
              <a:lnSpc>
                <a:spcPct val="100000"/>
              </a:lnSpc>
              <a:spcBef>
                <a:spcPts val="675"/>
              </a:spcBef>
              <a:buClr>
                <a:srgbClr val="FF1313"/>
              </a:buClr>
              <a:buChar char="•"/>
              <a:tabLst>
                <a:tab pos="240029" algn="l"/>
              </a:tabLst>
            </a:pPr>
            <a:r>
              <a:rPr sz="2400" spc="-5" dirty="0">
                <a:latin typeface="Arial"/>
                <a:cs typeface="Arial"/>
              </a:rPr>
              <a:t>Support </a:t>
            </a:r>
            <a:r>
              <a:rPr sz="2400" dirty="0">
                <a:latin typeface="Arial"/>
                <a:cs typeface="Arial"/>
              </a:rPr>
              <a:t>Key </a:t>
            </a:r>
            <a:r>
              <a:rPr sz="2400" spc="-5" dirty="0">
                <a:latin typeface="Arial"/>
                <a:cs typeface="Arial"/>
              </a:rPr>
              <a:t>and Descriptive Flex Field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extension</a:t>
            </a:r>
            <a:endParaRPr sz="2400" dirty="0">
              <a:latin typeface="Arial"/>
              <a:cs typeface="Arial"/>
            </a:endParaRPr>
          </a:p>
          <a:p>
            <a:pPr marL="239395" indent="-227329">
              <a:lnSpc>
                <a:spcPct val="100000"/>
              </a:lnSpc>
              <a:spcBef>
                <a:spcPts val="580"/>
              </a:spcBef>
              <a:buClr>
                <a:srgbClr val="FF1313"/>
              </a:buClr>
              <a:buChar char="•"/>
              <a:tabLst>
                <a:tab pos="240029" algn="l"/>
              </a:tabLst>
            </a:pPr>
            <a:r>
              <a:rPr sz="2400" dirty="0">
                <a:latin typeface="Arial"/>
                <a:cs typeface="Arial"/>
              </a:rPr>
              <a:t>BI </a:t>
            </a:r>
            <a:r>
              <a:rPr sz="2400" spc="-5" dirty="0">
                <a:latin typeface="Arial"/>
                <a:cs typeface="Arial"/>
              </a:rPr>
              <a:t>Extender extends Flex Fields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BI Presentation</a:t>
            </a:r>
            <a:r>
              <a:rPr sz="2400" spc="8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Layer</a:t>
            </a:r>
            <a:endParaRPr sz="2400" dirty="0">
              <a:latin typeface="Arial"/>
              <a:cs typeface="Arial"/>
            </a:endParaRPr>
          </a:p>
          <a:p>
            <a:pPr marL="239395" marR="847725" indent="-227329">
              <a:lnSpc>
                <a:spcPct val="100000"/>
              </a:lnSpc>
              <a:spcBef>
                <a:spcPts val="575"/>
              </a:spcBef>
              <a:buClr>
                <a:srgbClr val="FF1313"/>
              </a:buClr>
              <a:buChar char="•"/>
              <a:tabLst>
                <a:tab pos="240029" algn="l"/>
              </a:tabLst>
            </a:pPr>
            <a:r>
              <a:rPr sz="2400" spc="-5" dirty="0">
                <a:latin typeface="Arial"/>
                <a:cs typeface="Arial"/>
              </a:rPr>
              <a:t>Flex fields are preserved during Fusion application  upgrades</a:t>
            </a:r>
            <a:endParaRPr sz="2400" dirty="0">
              <a:latin typeface="Arial"/>
              <a:cs typeface="Arial"/>
            </a:endParaRPr>
          </a:p>
          <a:p>
            <a:pPr marL="239395" indent="-227329">
              <a:lnSpc>
                <a:spcPct val="100000"/>
              </a:lnSpc>
              <a:spcBef>
                <a:spcPts val="580"/>
              </a:spcBef>
              <a:buClr>
                <a:srgbClr val="FF1313"/>
              </a:buClr>
              <a:buChar char="•"/>
              <a:tabLst>
                <a:tab pos="240029" algn="l"/>
              </a:tabLst>
            </a:pPr>
            <a:r>
              <a:rPr sz="2400" spc="-5" dirty="0">
                <a:latin typeface="Arial"/>
                <a:cs typeface="Arial"/>
              </a:rPr>
              <a:t>Extensible Flex field support is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planned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08100" y="3759453"/>
            <a:ext cx="2409825" cy="841375"/>
          </a:xfrm>
          <a:custGeom>
            <a:avLst/>
            <a:gdLst/>
            <a:ahLst/>
            <a:cxnLst/>
            <a:rect l="l" t="t" r="r" b="b"/>
            <a:pathLst>
              <a:path w="2409825" h="841375">
                <a:moveTo>
                  <a:pt x="2409444" y="0"/>
                </a:moveTo>
                <a:lnTo>
                  <a:pt x="0" y="0"/>
                </a:lnTo>
                <a:lnTo>
                  <a:pt x="0" y="841248"/>
                </a:lnTo>
                <a:lnTo>
                  <a:pt x="2409444" y="841248"/>
                </a:lnTo>
                <a:lnTo>
                  <a:pt x="2409444" y="0"/>
                </a:lnTo>
                <a:close/>
              </a:path>
            </a:pathLst>
          </a:custGeom>
          <a:solidFill>
            <a:srgbClr val="FF13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08100" y="3759454"/>
            <a:ext cx="2409825" cy="759823"/>
          </a:xfrm>
          <a:prstGeom prst="rect">
            <a:avLst/>
          </a:prstGeom>
          <a:ln w="25907">
            <a:solidFill>
              <a:srgbClr val="C00000"/>
            </a:solidFill>
          </a:ln>
        </p:spPr>
        <p:txBody>
          <a:bodyPr vert="horz" wrap="square" lIns="0" tIns="81915" rIns="0" bIns="0" rtlCol="0">
            <a:spAutoFit/>
          </a:bodyPr>
          <a:lstStyle/>
          <a:p>
            <a:pPr marL="600710" indent="-111760">
              <a:lnSpc>
                <a:spcPct val="100000"/>
              </a:lnSpc>
              <a:spcBef>
                <a:spcPts val="645"/>
              </a:spcBef>
              <a:buSzPct val="90909"/>
              <a:buFont typeface="Wingdings"/>
              <a:buChar char=""/>
              <a:tabLst>
                <a:tab pos="601345" algn="l"/>
              </a:tabLst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Configure 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Flex</a:t>
            </a:r>
            <a:r>
              <a:rPr sz="11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Fields</a:t>
            </a:r>
            <a:endParaRPr sz="1100">
              <a:latin typeface="Arial"/>
              <a:cs typeface="Arial"/>
            </a:endParaRPr>
          </a:p>
          <a:p>
            <a:pPr marL="600710" indent="-111760">
              <a:lnSpc>
                <a:spcPct val="100000"/>
              </a:lnSpc>
              <a:buSzPct val="90909"/>
              <a:buFont typeface="Wingdings"/>
              <a:buChar char=""/>
              <a:tabLst>
                <a:tab pos="601345" algn="l"/>
              </a:tabLst>
            </a:pP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Enable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BI 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Flex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Fields</a:t>
            </a:r>
            <a:endParaRPr sz="1100">
              <a:latin typeface="Arial"/>
              <a:cs typeface="Arial"/>
            </a:endParaRPr>
          </a:p>
          <a:p>
            <a:pPr marL="563880" indent="-111760">
              <a:lnSpc>
                <a:spcPct val="100000"/>
              </a:lnSpc>
              <a:buSzPct val="90909"/>
              <a:buFont typeface="Wingdings"/>
              <a:buChar char=""/>
              <a:tabLst>
                <a:tab pos="564515" algn="l"/>
              </a:tabLst>
            </a:pP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Deploy Flex Field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VOs</a:t>
            </a:r>
            <a:endParaRPr sz="1100">
              <a:latin typeface="Arial"/>
              <a:cs typeface="Arial"/>
            </a:endParaRPr>
          </a:p>
          <a:p>
            <a:pPr marL="354965" indent="-111125">
              <a:lnSpc>
                <a:spcPct val="100000"/>
              </a:lnSpc>
              <a:buSzPct val="90909"/>
              <a:buFont typeface="Wingdings"/>
              <a:buChar char=""/>
              <a:tabLst>
                <a:tab pos="355600" algn="l"/>
              </a:tabLst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Launch 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BI Extender ESS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Job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49067" y="3560952"/>
            <a:ext cx="111887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Arial"/>
                <a:cs typeface="Arial"/>
              </a:rPr>
              <a:t>Fusion</a:t>
            </a:r>
            <a:r>
              <a:rPr sz="1000" spc="-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Applications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1081" y="4153152"/>
            <a:ext cx="75565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solidFill>
                  <a:srgbClr val="424545"/>
                </a:solidFill>
                <a:latin typeface="Arial"/>
                <a:cs typeface="Arial"/>
              </a:rPr>
              <a:t>Fusion  </a:t>
            </a:r>
            <a:r>
              <a:rPr sz="1100" dirty="0">
                <a:solidFill>
                  <a:srgbClr val="424545"/>
                </a:solidFill>
                <a:latin typeface="Arial"/>
                <a:cs typeface="Arial"/>
              </a:rPr>
              <a:t>Admin</a:t>
            </a:r>
            <a:r>
              <a:rPr sz="1100" spc="-85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100" spc="-5" dirty="0">
                <a:solidFill>
                  <a:srgbClr val="424545"/>
                </a:solidFill>
                <a:latin typeface="Arial"/>
                <a:cs typeface="Arial"/>
              </a:rPr>
              <a:t>User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57657" y="3993514"/>
            <a:ext cx="1067435" cy="103505"/>
          </a:xfrm>
          <a:custGeom>
            <a:avLst/>
            <a:gdLst/>
            <a:ahLst/>
            <a:cxnLst/>
            <a:rect l="l" t="t" r="r" b="b"/>
            <a:pathLst>
              <a:path w="1067435" h="103504">
                <a:moveTo>
                  <a:pt x="1041944" y="51689"/>
                </a:moveTo>
                <a:lnTo>
                  <a:pt x="972057" y="92456"/>
                </a:lnTo>
                <a:lnTo>
                  <a:pt x="971042" y="96266"/>
                </a:lnTo>
                <a:lnTo>
                  <a:pt x="974598" y="102362"/>
                </a:lnTo>
                <a:lnTo>
                  <a:pt x="978535" y="103378"/>
                </a:lnTo>
                <a:lnTo>
                  <a:pt x="1056290" y="58039"/>
                </a:lnTo>
                <a:lnTo>
                  <a:pt x="1054608" y="58039"/>
                </a:lnTo>
                <a:lnTo>
                  <a:pt x="1054608" y="57150"/>
                </a:lnTo>
                <a:lnTo>
                  <a:pt x="1051306" y="57150"/>
                </a:lnTo>
                <a:lnTo>
                  <a:pt x="1041944" y="51689"/>
                </a:lnTo>
                <a:close/>
              </a:path>
              <a:path w="1067435" h="103504">
                <a:moveTo>
                  <a:pt x="1031058" y="45339"/>
                </a:moveTo>
                <a:lnTo>
                  <a:pt x="0" y="45339"/>
                </a:lnTo>
                <a:lnTo>
                  <a:pt x="0" y="58039"/>
                </a:lnTo>
                <a:lnTo>
                  <a:pt x="1031058" y="58039"/>
                </a:lnTo>
                <a:lnTo>
                  <a:pt x="1041944" y="51689"/>
                </a:lnTo>
                <a:lnTo>
                  <a:pt x="1031058" y="45339"/>
                </a:lnTo>
                <a:close/>
              </a:path>
              <a:path w="1067435" h="103504">
                <a:moveTo>
                  <a:pt x="1056290" y="45339"/>
                </a:moveTo>
                <a:lnTo>
                  <a:pt x="1054608" y="45339"/>
                </a:lnTo>
                <a:lnTo>
                  <a:pt x="1054608" y="58039"/>
                </a:lnTo>
                <a:lnTo>
                  <a:pt x="1056290" y="58039"/>
                </a:lnTo>
                <a:lnTo>
                  <a:pt x="1067181" y="51689"/>
                </a:lnTo>
                <a:lnTo>
                  <a:pt x="1056290" y="45339"/>
                </a:lnTo>
                <a:close/>
              </a:path>
              <a:path w="1067435" h="103504">
                <a:moveTo>
                  <a:pt x="1051306" y="46228"/>
                </a:moveTo>
                <a:lnTo>
                  <a:pt x="1041944" y="51689"/>
                </a:lnTo>
                <a:lnTo>
                  <a:pt x="1051306" y="57150"/>
                </a:lnTo>
                <a:lnTo>
                  <a:pt x="1051306" y="46228"/>
                </a:lnTo>
                <a:close/>
              </a:path>
              <a:path w="1067435" h="103504">
                <a:moveTo>
                  <a:pt x="1054608" y="46228"/>
                </a:moveTo>
                <a:lnTo>
                  <a:pt x="1051306" y="46228"/>
                </a:lnTo>
                <a:lnTo>
                  <a:pt x="1051306" y="57150"/>
                </a:lnTo>
                <a:lnTo>
                  <a:pt x="1054608" y="57150"/>
                </a:lnTo>
                <a:lnTo>
                  <a:pt x="1054608" y="46228"/>
                </a:lnTo>
                <a:close/>
              </a:path>
              <a:path w="1067435" h="103504">
                <a:moveTo>
                  <a:pt x="978535" y="0"/>
                </a:moveTo>
                <a:lnTo>
                  <a:pt x="974598" y="1016"/>
                </a:lnTo>
                <a:lnTo>
                  <a:pt x="971042" y="7112"/>
                </a:lnTo>
                <a:lnTo>
                  <a:pt x="972057" y="10922"/>
                </a:lnTo>
                <a:lnTo>
                  <a:pt x="1041944" y="51689"/>
                </a:lnTo>
                <a:lnTo>
                  <a:pt x="1051306" y="46228"/>
                </a:lnTo>
                <a:lnTo>
                  <a:pt x="1054608" y="46228"/>
                </a:lnTo>
                <a:lnTo>
                  <a:pt x="1054608" y="45339"/>
                </a:lnTo>
                <a:lnTo>
                  <a:pt x="1056290" y="45339"/>
                </a:lnTo>
                <a:lnTo>
                  <a:pt x="978535" y="0"/>
                </a:lnTo>
                <a:close/>
              </a:path>
            </a:pathLst>
          </a:custGeom>
          <a:solidFill>
            <a:srgbClr val="FF13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77848" y="3625291"/>
            <a:ext cx="84645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424545"/>
                </a:solidFill>
                <a:latin typeface="Arial"/>
                <a:cs typeface="Arial"/>
              </a:rPr>
              <a:t>Configure</a:t>
            </a:r>
            <a:r>
              <a:rPr sz="1000" spc="-80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424545"/>
                </a:solidFill>
                <a:latin typeface="Arial"/>
                <a:cs typeface="Arial"/>
              </a:rPr>
              <a:t>Flex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424545"/>
                </a:solidFill>
                <a:latin typeface="Arial"/>
                <a:cs typeface="Arial"/>
              </a:rPr>
              <a:t>Fields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2212" y="3487420"/>
            <a:ext cx="7245984" cy="1370330"/>
            <a:chOff x="172212" y="3014472"/>
            <a:chExt cx="7245984" cy="1370330"/>
          </a:xfrm>
        </p:grpSpPr>
        <p:sp>
          <p:nvSpPr>
            <p:cNvPr id="13" name="object 13"/>
            <p:cNvSpPr/>
            <p:nvPr/>
          </p:nvSpPr>
          <p:spPr>
            <a:xfrm>
              <a:off x="2103119" y="3014472"/>
              <a:ext cx="2862072" cy="137007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141982" y="3053334"/>
              <a:ext cx="2729865" cy="1237615"/>
            </a:xfrm>
            <a:custGeom>
              <a:avLst/>
              <a:gdLst/>
              <a:ahLst/>
              <a:cxnLst/>
              <a:rect l="l" t="t" r="r" b="b"/>
              <a:pathLst>
                <a:path w="2729865" h="1237614">
                  <a:moveTo>
                    <a:pt x="0" y="206248"/>
                  </a:moveTo>
                  <a:lnTo>
                    <a:pt x="5446" y="158953"/>
                  </a:lnTo>
                  <a:lnTo>
                    <a:pt x="20961" y="115540"/>
                  </a:lnTo>
                  <a:lnTo>
                    <a:pt x="45306" y="77245"/>
                  </a:lnTo>
                  <a:lnTo>
                    <a:pt x="77245" y="45306"/>
                  </a:lnTo>
                  <a:lnTo>
                    <a:pt x="115540" y="20961"/>
                  </a:lnTo>
                  <a:lnTo>
                    <a:pt x="158953" y="5446"/>
                  </a:lnTo>
                  <a:lnTo>
                    <a:pt x="206248" y="0"/>
                  </a:lnTo>
                  <a:lnTo>
                    <a:pt x="2523235" y="0"/>
                  </a:lnTo>
                  <a:lnTo>
                    <a:pt x="2570530" y="5446"/>
                  </a:lnTo>
                  <a:lnTo>
                    <a:pt x="2613943" y="20961"/>
                  </a:lnTo>
                  <a:lnTo>
                    <a:pt x="2652238" y="45306"/>
                  </a:lnTo>
                  <a:lnTo>
                    <a:pt x="2684177" y="77245"/>
                  </a:lnTo>
                  <a:lnTo>
                    <a:pt x="2708522" y="115540"/>
                  </a:lnTo>
                  <a:lnTo>
                    <a:pt x="2724037" y="158953"/>
                  </a:lnTo>
                  <a:lnTo>
                    <a:pt x="2729484" y="206248"/>
                  </a:lnTo>
                  <a:lnTo>
                    <a:pt x="2729484" y="1031240"/>
                  </a:lnTo>
                  <a:lnTo>
                    <a:pt x="2724037" y="1078530"/>
                  </a:lnTo>
                  <a:lnTo>
                    <a:pt x="2708522" y="1121942"/>
                  </a:lnTo>
                  <a:lnTo>
                    <a:pt x="2684177" y="1160237"/>
                  </a:lnTo>
                  <a:lnTo>
                    <a:pt x="2652238" y="1192177"/>
                  </a:lnTo>
                  <a:lnTo>
                    <a:pt x="2613943" y="1216524"/>
                  </a:lnTo>
                  <a:lnTo>
                    <a:pt x="2570530" y="1232040"/>
                  </a:lnTo>
                  <a:lnTo>
                    <a:pt x="2523235" y="1237488"/>
                  </a:lnTo>
                  <a:lnTo>
                    <a:pt x="206248" y="1237488"/>
                  </a:lnTo>
                  <a:lnTo>
                    <a:pt x="158953" y="1232040"/>
                  </a:lnTo>
                  <a:lnTo>
                    <a:pt x="115540" y="1216524"/>
                  </a:lnTo>
                  <a:lnTo>
                    <a:pt x="77245" y="1192177"/>
                  </a:lnTo>
                  <a:lnTo>
                    <a:pt x="45306" y="1160237"/>
                  </a:lnTo>
                  <a:lnTo>
                    <a:pt x="20961" y="1121942"/>
                  </a:lnTo>
                  <a:lnTo>
                    <a:pt x="5446" y="1078530"/>
                  </a:lnTo>
                  <a:lnTo>
                    <a:pt x="0" y="1031240"/>
                  </a:lnTo>
                  <a:lnTo>
                    <a:pt x="0" y="206248"/>
                  </a:lnTo>
                  <a:close/>
                </a:path>
              </a:pathLst>
            </a:custGeom>
            <a:ln w="25907">
              <a:solidFill>
                <a:srgbClr val="A2A2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2212" y="3095244"/>
              <a:ext cx="888491" cy="59436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8120" y="3121152"/>
              <a:ext cx="781811" cy="4876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511546" y="3292602"/>
              <a:ext cx="1906905" cy="792480"/>
            </a:xfrm>
            <a:custGeom>
              <a:avLst/>
              <a:gdLst/>
              <a:ahLst/>
              <a:cxnLst/>
              <a:rect l="l" t="t" r="r" b="b"/>
              <a:pathLst>
                <a:path w="1906904" h="792479">
                  <a:moveTo>
                    <a:pt x="1906524" y="0"/>
                  </a:moveTo>
                  <a:lnTo>
                    <a:pt x="0" y="0"/>
                  </a:lnTo>
                  <a:lnTo>
                    <a:pt x="0" y="792480"/>
                  </a:lnTo>
                  <a:lnTo>
                    <a:pt x="1906524" y="792480"/>
                  </a:lnTo>
                  <a:lnTo>
                    <a:pt x="1906524" y="0"/>
                  </a:lnTo>
                  <a:close/>
                </a:path>
              </a:pathLst>
            </a:custGeom>
            <a:solidFill>
              <a:srgbClr val="FF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511548" y="3765549"/>
            <a:ext cx="1906905" cy="575157"/>
          </a:xfrm>
          <a:prstGeom prst="rect">
            <a:avLst/>
          </a:prstGeom>
          <a:ln w="25907">
            <a:solidFill>
              <a:srgbClr val="C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500">
              <a:latin typeface="Times New Roman"/>
              <a:cs typeface="Times New Roman"/>
            </a:endParaRPr>
          </a:p>
          <a:p>
            <a:pPr marL="224790" indent="-111760">
              <a:lnSpc>
                <a:spcPct val="100000"/>
              </a:lnSpc>
              <a:spcBef>
                <a:spcPts val="5"/>
              </a:spcBef>
              <a:buSzPct val="90909"/>
              <a:buFont typeface="Wingdings"/>
              <a:buChar char=""/>
              <a:tabLst>
                <a:tab pos="225425" algn="l"/>
              </a:tabLst>
            </a:pP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Flexfields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are 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available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endParaRPr sz="1100">
              <a:latin typeface="Arial"/>
              <a:cs typeface="Arial"/>
            </a:endParaRPr>
          </a:p>
          <a:p>
            <a:pPr marL="391160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OTBI Subject</a:t>
            </a:r>
            <a:r>
              <a:rPr sz="11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Areas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340098" y="3487419"/>
            <a:ext cx="2326005" cy="1292860"/>
            <a:chOff x="5340096" y="3014472"/>
            <a:chExt cx="2326005" cy="1292860"/>
          </a:xfrm>
        </p:grpSpPr>
        <p:sp>
          <p:nvSpPr>
            <p:cNvPr id="20" name="object 20"/>
            <p:cNvSpPr/>
            <p:nvPr/>
          </p:nvSpPr>
          <p:spPr>
            <a:xfrm>
              <a:off x="5340096" y="3014472"/>
              <a:ext cx="2325624" cy="12923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78958" y="3053334"/>
              <a:ext cx="2193290" cy="1160145"/>
            </a:xfrm>
            <a:custGeom>
              <a:avLst/>
              <a:gdLst/>
              <a:ahLst/>
              <a:cxnLst/>
              <a:rect l="l" t="t" r="r" b="b"/>
              <a:pathLst>
                <a:path w="2193290" h="1160145">
                  <a:moveTo>
                    <a:pt x="0" y="193294"/>
                  </a:moveTo>
                  <a:lnTo>
                    <a:pt x="5102" y="148956"/>
                  </a:lnTo>
                  <a:lnTo>
                    <a:pt x="19637" y="108264"/>
                  </a:lnTo>
                  <a:lnTo>
                    <a:pt x="42447" y="72375"/>
                  </a:lnTo>
                  <a:lnTo>
                    <a:pt x="72375" y="42447"/>
                  </a:lnTo>
                  <a:lnTo>
                    <a:pt x="108264" y="19637"/>
                  </a:lnTo>
                  <a:lnTo>
                    <a:pt x="148956" y="5102"/>
                  </a:lnTo>
                  <a:lnTo>
                    <a:pt x="193293" y="0"/>
                  </a:lnTo>
                  <a:lnTo>
                    <a:pt x="1999741" y="0"/>
                  </a:lnTo>
                  <a:lnTo>
                    <a:pt x="2044079" y="5102"/>
                  </a:lnTo>
                  <a:lnTo>
                    <a:pt x="2084771" y="19637"/>
                  </a:lnTo>
                  <a:lnTo>
                    <a:pt x="2120660" y="42447"/>
                  </a:lnTo>
                  <a:lnTo>
                    <a:pt x="2150588" y="72375"/>
                  </a:lnTo>
                  <a:lnTo>
                    <a:pt x="2173398" y="108264"/>
                  </a:lnTo>
                  <a:lnTo>
                    <a:pt x="2187933" y="148956"/>
                  </a:lnTo>
                  <a:lnTo>
                    <a:pt x="2193036" y="193294"/>
                  </a:lnTo>
                  <a:lnTo>
                    <a:pt x="2193036" y="966470"/>
                  </a:lnTo>
                  <a:lnTo>
                    <a:pt x="2187933" y="1010791"/>
                  </a:lnTo>
                  <a:lnTo>
                    <a:pt x="2173398" y="1051477"/>
                  </a:lnTo>
                  <a:lnTo>
                    <a:pt x="2150588" y="1087366"/>
                  </a:lnTo>
                  <a:lnTo>
                    <a:pt x="2120660" y="1117300"/>
                  </a:lnTo>
                  <a:lnTo>
                    <a:pt x="2084771" y="1140117"/>
                  </a:lnTo>
                  <a:lnTo>
                    <a:pt x="2044079" y="1154659"/>
                  </a:lnTo>
                  <a:lnTo>
                    <a:pt x="1999741" y="1159764"/>
                  </a:lnTo>
                  <a:lnTo>
                    <a:pt x="193293" y="1159764"/>
                  </a:lnTo>
                  <a:lnTo>
                    <a:pt x="148956" y="1154659"/>
                  </a:lnTo>
                  <a:lnTo>
                    <a:pt x="108264" y="1140117"/>
                  </a:lnTo>
                  <a:lnTo>
                    <a:pt x="72375" y="1117300"/>
                  </a:lnTo>
                  <a:lnTo>
                    <a:pt x="42447" y="1087366"/>
                  </a:lnTo>
                  <a:lnTo>
                    <a:pt x="19637" y="1051477"/>
                  </a:lnTo>
                  <a:lnTo>
                    <a:pt x="5102" y="1010791"/>
                  </a:lnTo>
                  <a:lnTo>
                    <a:pt x="0" y="966470"/>
                  </a:lnTo>
                  <a:lnTo>
                    <a:pt x="0" y="193294"/>
                  </a:lnTo>
                  <a:close/>
                </a:path>
              </a:pathLst>
            </a:custGeom>
            <a:ln w="25908">
              <a:solidFill>
                <a:srgbClr val="A2A2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248780" y="3585082"/>
            <a:ext cx="32258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Arial"/>
                <a:cs typeface="Arial"/>
              </a:rPr>
              <a:t>O</a:t>
            </a:r>
            <a:r>
              <a:rPr sz="1000" spc="5" dirty="0">
                <a:latin typeface="Arial"/>
                <a:cs typeface="Arial"/>
              </a:rPr>
              <a:t>T</a:t>
            </a:r>
            <a:r>
              <a:rPr sz="1000" spc="-10" dirty="0">
                <a:latin typeface="Arial"/>
                <a:cs typeface="Arial"/>
              </a:rPr>
              <a:t>B</a:t>
            </a:r>
            <a:r>
              <a:rPr sz="1000" spc="-5" dirty="0">
                <a:latin typeface="Arial"/>
                <a:cs typeface="Arial"/>
              </a:rPr>
              <a:t>I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867528" y="4003928"/>
            <a:ext cx="439420" cy="103505"/>
          </a:xfrm>
          <a:custGeom>
            <a:avLst/>
            <a:gdLst/>
            <a:ahLst/>
            <a:cxnLst/>
            <a:rect l="l" t="t" r="r" b="b"/>
            <a:pathLst>
              <a:path w="439420" h="103504">
                <a:moveTo>
                  <a:pt x="428088" y="44323"/>
                </a:moveTo>
                <a:lnTo>
                  <a:pt x="426212" y="44323"/>
                </a:lnTo>
                <a:lnTo>
                  <a:pt x="426338" y="56896"/>
                </a:lnTo>
                <a:lnTo>
                  <a:pt x="403086" y="57249"/>
                </a:lnTo>
                <a:lnTo>
                  <a:pt x="347472" y="90805"/>
                </a:lnTo>
                <a:lnTo>
                  <a:pt x="344424" y="92583"/>
                </a:lnTo>
                <a:lnTo>
                  <a:pt x="343535" y="96520"/>
                </a:lnTo>
                <a:lnTo>
                  <a:pt x="345313" y="99441"/>
                </a:lnTo>
                <a:lnTo>
                  <a:pt x="347091" y="102489"/>
                </a:lnTo>
                <a:lnTo>
                  <a:pt x="351028" y="103505"/>
                </a:lnTo>
                <a:lnTo>
                  <a:pt x="354075" y="101600"/>
                </a:lnTo>
                <a:lnTo>
                  <a:pt x="438912" y="50419"/>
                </a:lnTo>
                <a:lnTo>
                  <a:pt x="428088" y="44323"/>
                </a:lnTo>
                <a:close/>
              </a:path>
              <a:path w="439420" h="103504">
                <a:moveTo>
                  <a:pt x="402827" y="44671"/>
                </a:moveTo>
                <a:lnTo>
                  <a:pt x="0" y="50673"/>
                </a:lnTo>
                <a:lnTo>
                  <a:pt x="254" y="63373"/>
                </a:lnTo>
                <a:lnTo>
                  <a:pt x="403086" y="57249"/>
                </a:lnTo>
                <a:lnTo>
                  <a:pt x="413739" y="50821"/>
                </a:lnTo>
                <a:lnTo>
                  <a:pt x="402827" y="44671"/>
                </a:lnTo>
                <a:close/>
              </a:path>
              <a:path w="439420" h="103504">
                <a:moveTo>
                  <a:pt x="413739" y="50821"/>
                </a:moveTo>
                <a:lnTo>
                  <a:pt x="403086" y="57249"/>
                </a:lnTo>
                <a:lnTo>
                  <a:pt x="426338" y="56896"/>
                </a:lnTo>
                <a:lnTo>
                  <a:pt x="426331" y="56134"/>
                </a:lnTo>
                <a:lnTo>
                  <a:pt x="423163" y="56134"/>
                </a:lnTo>
                <a:lnTo>
                  <a:pt x="413739" y="50821"/>
                </a:lnTo>
                <a:close/>
              </a:path>
              <a:path w="439420" h="103504">
                <a:moveTo>
                  <a:pt x="423037" y="45212"/>
                </a:moveTo>
                <a:lnTo>
                  <a:pt x="413739" y="50821"/>
                </a:lnTo>
                <a:lnTo>
                  <a:pt x="423163" y="56134"/>
                </a:lnTo>
                <a:lnTo>
                  <a:pt x="423037" y="45212"/>
                </a:lnTo>
                <a:close/>
              </a:path>
              <a:path w="439420" h="103504">
                <a:moveTo>
                  <a:pt x="426220" y="45212"/>
                </a:moveTo>
                <a:lnTo>
                  <a:pt x="423037" y="45212"/>
                </a:lnTo>
                <a:lnTo>
                  <a:pt x="423163" y="56134"/>
                </a:lnTo>
                <a:lnTo>
                  <a:pt x="426331" y="56134"/>
                </a:lnTo>
                <a:lnTo>
                  <a:pt x="426220" y="45212"/>
                </a:lnTo>
                <a:close/>
              </a:path>
              <a:path w="439420" h="103504">
                <a:moveTo>
                  <a:pt x="426212" y="44323"/>
                </a:moveTo>
                <a:lnTo>
                  <a:pt x="402827" y="44671"/>
                </a:lnTo>
                <a:lnTo>
                  <a:pt x="413739" y="50821"/>
                </a:lnTo>
                <a:lnTo>
                  <a:pt x="423037" y="45212"/>
                </a:lnTo>
                <a:lnTo>
                  <a:pt x="426220" y="45212"/>
                </a:lnTo>
                <a:lnTo>
                  <a:pt x="426212" y="44323"/>
                </a:lnTo>
                <a:close/>
              </a:path>
              <a:path w="439420" h="103504">
                <a:moveTo>
                  <a:pt x="349504" y="0"/>
                </a:moveTo>
                <a:lnTo>
                  <a:pt x="345567" y="1143"/>
                </a:lnTo>
                <a:lnTo>
                  <a:pt x="343916" y="4191"/>
                </a:lnTo>
                <a:lnTo>
                  <a:pt x="342138" y="7239"/>
                </a:lnTo>
                <a:lnTo>
                  <a:pt x="343281" y="11176"/>
                </a:lnTo>
                <a:lnTo>
                  <a:pt x="346329" y="12827"/>
                </a:lnTo>
                <a:lnTo>
                  <a:pt x="402827" y="44671"/>
                </a:lnTo>
                <a:lnTo>
                  <a:pt x="426212" y="44323"/>
                </a:lnTo>
                <a:lnTo>
                  <a:pt x="428088" y="44323"/>
                </a:lnTo>
                <a:lnTo>
                  <a:pt x="352551" y="1778"/>
                </a:lnTo>
                <a:lnTo>
                  <a:pt x="349504" y="0"/>
                </a:lnTo>
                <a:close/>
              </a:path>
            </a:pathLst>
          </a:custGeom>
          <a:solidFill>
            <a:srgbClr val="FF13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717917" y="4049422"/>
            <a:ext cx="1084580" cy="464871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605"/>
              </a:spcBef>
            </a:pPr>
            <a:r>
              <a:rPr sz="1100" spc="-5" dirty="0">
                <a:solidFill>
                  <a:srgbClr val="424545"/>
                </a:solidFill>
                <a:latin typeface="Arial"/>
                <a:cs typeface="Arial"/>
              </a:rPr>
              <a:t>Fusion</a:t>
            </a:r>
            <a:r>
              <a:rPr sz="1100" spc="-45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100" spc="-5" dirty="0">
                <a:solidFill>
                  <a:srgbClr val="424545"/>
                </a:solidFill>
                <a:latin typeface="Arial"/>
                <a:cs typeface="Arial"/>
              </a:rPr>
              <a:t>User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000" spc="-5" dirty="0">
                <a:solidFill>
                  <a:srgbClr val="424545"/>
                </a:solidFill>
                <a:latin typeface="Arial"/>
                <a:cs typeface="Arial"/>
              </a:rPr>
              <a:t>Ad-hoc</a:t>
            </a:r>
            <a:r>
              <a:rPr sz="1000" spc="-20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424545"/>
                </a:solidFill>
                <a:latin typeface="Arial"/>
                <a:cs typeface="Arial"/>
              </a:rPr>
              <a:t>query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571231" y="3553428"/>
            <a:ext cx="1341120" cy="582295"/>
            <a:chOff x="7571231" y="3080480"/>
            <a:chExt cx="1341120" cy="582295"/>
          </a:xfrm>
        </p:grpSpPr>
        <p:sp>
          <p:nvSpPr>
            <p:cNvPr id="26" name="object 26"/>
            <p:cNvSpPr/>
            <p:nvPr/>
          </p:nvSpPr>
          <p:spPr>
            <a:xfrm>
              <a:off x="8054372" y="3080480"/>
              <a:ext cx="857979" cy="58169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42147" y="3087623"/>
              <a:ext cx="789431" cy="49377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71231" y="3282822"/>
              <a:ext cx="470534" cy="356235"/>
            </a:xfrm>
            <a:custGeom>
              <a:avLst/>
              <a:gdLst/>
              <a:ahLst/>
              <a:cxnLst/>
              <a:rect l="l" t="t" r="r" b="b"/>
              <a:pathLst>
                <a:path w="470534" h="356235">
                  <a:moveTo>
                    <a:pt x="228726" y="343026"/>
                  </a:moveTo>
                  <a:lnTo>
                    <a:pt x="0" y="343026"/>
                  </a:lnTo>
                  <a:lnTo>
                    <a:pt x="0" y="355726"/>
                  </a:lnTo>
                  <a:lnTo>
                    <a:pt x="238633" y="355726"/>
                  </a:lnTo>
                  <a:lnTo>
                    <a:pt x="241426" y="352805"/>
                  </a:lnTo>
                  <a:lnTo>
                    <a:pt x="241426" y="349376"/>
                  </a:lnTo>
                  <a:lnTo>
                    <a:pt x="228726" y="349376"/>
                  </a:lnTo>
                  <a:lnTo>
                    <a:pt x="228726" y="343026"/>
                  </a:lnTo>
                  <a:close/>
                </a:path>
                <a:path w="470534" h="356235">
                  <a:moveTo>
                    <a:pt x="434158" y="45338"/>
                  </a:moveTo>
                  <a:lnTo>
                    <a:pt x="231521" y="45338"/>
                  </a:lnTo>
                  <a:lnTo>
                    <a:pt x="228726" y="48132"/>
                  </a:lnTo>
                  <a:lnTo>
                    <a:pt x="228726" y="349376"/>
                  </a:lnTo>
                  <a:lnTo>
                    <a:pt x="235076" y="343026"/>
                  </a:lnTo>
                  <a:lnTo>
                    <a:pt x="241426" y="343026"/>
                  </a:lnTo>
                  <a:lnTo>
                    <a:pt x="241426" y="58038"/>
                  </a:lnTo>
                  <a:lnTo>
                    <a:pt x="235076" y="58038"/>
                  </a:lnTo>
                  <a:lnTo>
                    <a:pt x="241426" y="51688"/>
                  </a:lnTo>
                  <a:lnTo>
                    <a:pt x="445044" y="51688"/>
                  </a:lnTo>
                  <a:lnTo>
                    <a:pt x="434158" y="45338"/>
                  </a:lnTo>
                  <a:close/>
                </a:path>
                <a:path w="470534" h="356235">
                  <a:moveTo>
                    <a:pt x="241426" y="343026"/>
                  </a:moveTo>
                  <a:lnTo>
                    <a:pt x="235076" y="343026"/>
                  </a:lnTo>
                  <a:lnTo>
                    <a:pt x="228726" y="349376"/>
                  </a:lnTo>
                  <a:lnTo>
                    <a:pt x="241426" y="349376"/>
                  </a:lnTo>
                  <a:lnTo>
                    <a:pt x="241426" y="343026"/>
                  </a:lnTo>
                  <a:close/>
                </a:path>
                <a:path w="470534" h="356235">
                  <a:moveTo>
                    <a:pt x="445044" y="51688"/>
                  </a:moveTo>
                  <a:lnTo>
                    <a:pt x="375158" y="92456"/>
                  </a:lnTo>
                  <a:lnTo>
                    <a:pt x="374142" y="96265"/>
                  </a:lnTo>
                  <a:lnTo>
                    <a:pt x="377698" y="102362"/>
                  </a:lnTo>
                  <a:lnTo>
                    <a:pt x="381508" y="103377"/>
                  </a:lnTo>
                  <a:lnTo>
                    <a:pt x="459263" y="58038"/>
                  </a:lnTo>
                  <a:lnTo>
                    <a:pt x="457581" y="58038"/>
                  </a:lnTo>
                  <a:lnTo>
                    <a:pt x="457581" y="57150"/>
                  </a:lnTo>
                  <a:lnTo>
                    <a:pt x="454406" y="57150"/>
                  </a:lnTo>
                  <a:lnTo>
                    <a:pt x="445044" y="51688"/>
                  </a:lnTo>
                  <a:close/>
                </a:path>
                <a:path w="470534" h="356235">
                  <a:moveTo>
                    <a:pt x="241426" y="51688"/>
                  </a:moveTo>
                  <a:lnTo>
                    <a:pt x="235076" y="58038"/>
                  </a:lnTo>
                  <a:lnTo>
                    <a:pt x="241426" y="58038"/>
                  </a:lnTo>
                  <a:lnTo>
                    <a:pt x="241426" y="51688"/>
                  </a:lnTo>
                  <a:close/>
                </a:path>
                <a:path w="470534" h="356235">
                  <a:moveTo>
                    <a:pt x="445044" y="51688"/>
                  </a:moveTo>
                  <a:lnTo>
                    <a:pt x="241426" y="51688"/>
                  </a:lnTo>
                  <a:lnTo>
                    <a:pt x="241426" y="58038"/>
                  </a:lnTo>
                  <a:lnTo>
                    <a:pt x="434158" y="58038"/>
                  </a:lnTo>
                  <a:lnTo>
                    <a:pt x="445044" y="51688"/>
                  </a:lnTo>
                  <a:close/>
                </a:path>
                <a:path w="470534" h="356235">
                  <a:moveTo>
                    <a:pt x="459263" y="45338"/>
                  </a:moveTo>
                  <a:lnTo>
                    <a:pt x="457581" y="45338"/>
                  </a:lnTo>
                  <a:lnTo>
                    <a:pt x="457581" y="58038"/>
                  </a:lnTo>
                  <a:lnTo>
                    <a:pt x="459263" y="58038"/>
                  </a:lnTo>
                  <a:lnTo>
                    <a:pt x="470153" y="51688"/>
                  </a:lnTo>
                  <a:lnTo>
                    <a:pt x="459263" y="45338"/>
                  </a:lnTo>
                  <a:close/>
                </a:path>
                <a:path w="470534" h="356235">
                  <a:moveTo>
                    <a:pt x="454406" y="46227"/>
                  </a:moveTo>
                  <a:lnTo>
                    <a:pt x="445044" y="51688"/>
                  </a:lnTo>
                  <a:lnTo>
                    <a:pt x="454406" y="57150"/>
                  </a:lnTo>
                  <a:lnTo>
                    <a:pt x="454406" y="46227"/>
                  </a:lnTo>
                  <a:close/>
                </a:path>
                <a:path w="470534" h="356235">
                  <a:moveTo>
                    <a:pt x="457581" y="46227"/>
                  </a:moveTo>
                  <a:lnTo>
                    <a:pt x="454406" y="46227"/>
                  </a:lnTo>
                  <a:lnTo>
                    <a:pt x="454406" y="57150"/>
                  </a:lnTo>
                  <a:lnTo>
                    <a:pt x="457581" y="57150"/>
                  </a:lnTo>
                  <a:lnTo>
                    <a:pt x="457581" y="46227"/>
                  </a:lnTo>
                  <a:close/>
                </a:path>
                <a:path w="470534" h="356235">
                  <a:moveTo>
                    <a:pt x="381508" y="0"/>
                  </a:moveTo>
                  <a:lnTo>
                    <a:pt x="377698" y="1015"/>
                  </a:lnTo>
                  <a:lnTo>
                    <a:pt x="374142" y="7112"/>
                  </a:lnTo>
                  <a:lnTo>
                    <a:pt x="375158" y="10921"/>
                  </a:lnTo>
                  <a:lnTo>
                    <a:pt x="445044" y="51688"/>
                  </a:lnTo>
                  <a:lnTo>
                    <a:pt x="454406" y="46227"/>
                  </a:lnTo>
                  <a:lnTo>
                    <a:pt x="457581" y="46227"/>
                  </a:lnTo>
                  <a:lnTo>
                    <a:pt x="457581" y="45338"/>
                  </a:lnTo>
                  <a:lnTo>
                    <a:pt x="459263" y="45338"/>
                  </a:lnTo>
                  <a:lnTo>
                    <a:pt x="381508" y="0"/>
                  </a:lnTo>
                  <a:close/>
                </a:path>
              </a:pathLst>
            </a:custGeom>
            <a:solidFill>
              <a:srgbClr val="FF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64870" y="680880"/>
            <a:ext cx="76581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424545"/>
                </a:solidFill>
              </a:rPr>
              <a:t>Security Integration with Fusion</a:t>
            </a:r>
            <a:r>
              <a:rPr sz="2800" spc="-20" dirty="0">
                <a:solidFill>
                  <a:srgbClr val="424545"/>
                </a:solidFill>
              </a:rPr>
              <a:t> </a:t>
            </a:r>
            <a:r>
              <a:rPr sz="2800" spc="-5" dirty="0">
                <a:solidFill>
                  <a:srgbClr val="424545"/>
                </a:solidFill>
              </a:rPr>
              <a:t>Applications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5741" y="1367898"/>
            <a:ext cx="7642859" cy="33374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User is authenticated through Oracle Internet Directory (OID) as</a:t>
            </a:r>
            <a:r>
              <a:rPr sz="2000" spc="-25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</a:t>
            </a:r>
          </a:p>
          <a:p>
            <a:pPr marL="18034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Fusion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Applications;</a:t>
            </a:r>
          </a:p>
          <a:p>
            <a:pPr marL="180340" marR="5080" indent="-16764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Leverages Fusion Users and Job Roles; OTBI Duty Roles</a:t>
            </a:r>
            <a:r>
              <a:rPr sz="2000" spc="-1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controls  OTBI object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Privileges</a:t>
            </a:r>
          </a:p>
          <a:p>
            <a:pPr marL="180340" indent="-16764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85000"/>
              <a:buFont typeface="Wingdings"/>
              <a:buChar char=""/>
              <a:tabLst>
                <a:tab pos="180340" algn="l"/>
              </a:tabLst>
            </a:pPr>
            <a:r>
              <a:rPr sz="2000" dirty="0">
                <a:latin typeface="Arial"/>
                <a:cs typeface="Arial"/>
              </a:rPr>
              <a:t>No separate user security setup required for</a:t>
            </a:r>
            <a:r>
              <a:rPr sz="2000" spc="-2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OTBI;</a:t>
            </a:r>
          </a:p>
          <a:p>
            <a:pPr marL="584200" marR="802005" lvl="1" indent="-228600">
              <a:lnSpc>
                <a:spcPct val="100000"/>
              </a:lnSpc>
              <a:spcBef>
                <a:spcPts val="610"/>
              </a:spcBef>
              <a:buSzPct val="83333"/>
              <a:buChar char="–"/>
              <a:tabLst>
                <a:tab pos="584200" algn="l"/>
              </a:tabLst>
            </a:pPr>
            <a:r>
              <a:rPr sz="1800" spc="-5" dirty="0">
                <a:latin typeface="Arial"/>
                <a:cs typeface="Arial"/>
              </a:rPr>
              <a:t>Data Security </a:t>
            </a:r>
            <a:r>
              <a:rPr sz="1800" dirty="0">
                <a:latin typeface="Arial"/>
                <a:cs typeface="Arial"/>
              </a:rPr>
              <a:t>- </a:t>
            </a:r>
            <a:r>
              <a:rPr sz="1800" spc="-5" dirty="0">
                <a:latin typeface="Arial"/>
                <a:cs typeface="Arial"/>
              </a:rPr>
              <a:t>Uses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same data security as Oracle Fusion  applications</a:t>
            </a:r>
            <a:endParaRPr sz="1800" dirty="0">
              <a:latin typeface="Arial"/>
              <a:cs typeface="Arial"/>
            </a:endParaRPr>
          </a:p>
          <a:p>
            <a:pPr marL="584200" lvl="1" indent="-228600">
              <a:lnSpc>
                <a:spcPct val="100000"/>
              </a:lnSpc>
              <a:spcBef>
                <a:spcPts val="600"/>
              </a:spcBef>
              <a:buSzPct val="83333"/>
              <a:buChar char="–"/>
              <a:tabLst>
                <a:tab pos="584200" algn="l"/>
              </a:tabLst>
            </a:pPr>
            <a:r>
              <a:rPr sz="1800" spc="-5" dirty="0">
                <a:latin typeface="Arial"/>
                <a:cs typeface="Arial"/>
              </a:rPr>
              <a:t>Object Security </a:t>
            </a:r>
            <a:r>
              <a:rPr sz="1800" dirty="0">
                <a:latin typeface="Arial"/>
                <a:cs typeface="Arial"/>
              </a:rPr>
              <a:t>- OTBI </a:t>
            </a:r>
            <a:r>
              <a:rPr sz="1800" spc="-5" dirty="0">
                <a:latin typeface="Arial"/>
                <a:cs typeface="Arial"/>
              </a:rPr>
              <a:t>Duty Roles control access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</a:p>
          <a:p>
            <a:pPr marL="927100" lvl="2" indent="-175895">
              <a:lnSpc>
                <a:spcPct val="100000"/>
              </a:lnSpc>
              <a:spcBef>
                <a:spcPts val="610"/>
              </a:spcBef>
              <a:buClr>
                <a:srgbClr val="FF0000"/>
              </a:buClr>
              <a:buSzPct val="84375"/>
              <a:buFont typeface="Wingdings"/>
              <a:buChar char=""/>
              <a:tabLst>
                <a:tab pos="927735" algn="l"/>
              </a:tabLst>
            </a:pPr>
            <a:r>
              <a:rPr sz="1600" spc="-5" dirty="0">
                <a:latin typeface="Arial"/>
                <a:cs typeface="Arial"/>
              </a:rPr>
              <a:t>Subject</a:t>
            </a:r>
            <a:r>
              <a:rPr sz="1600" spc="34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Areas</a:t>
            </a:r>
            <a:endParaRPr sz="1600" dirty="0">
              <a:latin typeface="Arial"/>
              <a:cs typeface="Arial"/>
            </a:endParaRPr>
          </a:p>
          <a:p>
            <a:pPr marL="927100" lvl="2" indent="-175895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84375"/>
              <a:buFont typeface="Wingdings"/>
              <a:buChar char=""/>
              <a:tabLst>
                <a:tab pos="927735" algn="l"/>
              </a:tabLst>
            </a:pPr>
            <a:r>
              <a:rPr sz="1600" spc="-10" dirty="0">
                <a:latin typeface="Arial"/>
                <a:cs typeface="Arial"/>
              </a:rPr>
              <a:t>Web </a:t>
            </a:r>
            <a:r>
              <a:rPr sz="1600" spc="-5" dirty="0">
                <a:latin typeface="Arial"/>
                <a:cs typeface="Arial"/>
              </a:rPr>
              <a:t>Catalog report</a:t>
            </a:r>
            <a:r>
              <a:rPr sz="1600" spc="3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folders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194552" y="1506855"/>
            <a:ext cx="2682240" cy="23570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Char char="•"/>
              <a:tabLst>
                <a:tab pos="245745" algn="l"/>
                <a:tab pos="246379" algn="l"/>
              </a:tabLst>
            </a:pPr>
            <a:r>
              <a:rPr sz="1800" spc="-5" dirty="0">
                <a:latin typeface="Arial"/>
                <a:cs typeface="Arial"/>
              </a:rPr>
              <a:t>Personalize role based</a:t>
            </a:r>
            <a:endParaRPr sz="1800">
              <a:latin typeface="Arial"/>
              <a:cs typeface="Arial"/>
            </a:endParaRPr>
          </a:p>
          <a:p>
            <a:pPr marL="245745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Home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Page</a:t>
            </a:r>
            <a:endParaRPr sz="1800">
              <a:latin typeface="Arial"/>
              <a:cs typeface="Arial"/>
            </a:endParaRPr>
          </a:p>
          <a:p>
            <a:pPr marL="245745" marR="32384" indent="-233679">
              <a:lnSpc>
                <a:spcPct val="100000"/>
              </a:lnSpc>
              <a:spcBef>
                <a:spcPts val="540"/>
              </a:spcBef>
              <a:buClr>
                <a:srgbClr val="FF0000"/>
              </a:buClr>
              <a:buChar char="•"/>
              <a:tabLst>
                <a:tab pos="245745" algn="l"/>
                <a:tab pos="246379" algn="l"/>
              </a:tabLst>
            </a:pPr>
            <a:r>
              <a:rPr sz="1800" spc="-5" dirty="0">
                <a:latin typeface="Arial"/>
                <a:cs typeface="Arial"/>
              </a:rPr>
              <a:t>Combine context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aware  </a:t>
            </a:r>
            <a:r>
              <a:rPr sz="1800" dirty="0">
                <a:latin typeface="Arial"/>
                <a:cs typeface="Arial"/>
              </a:rPr>
              <a:t>BI </a:t>
            </a:r>
            <a:r>
              <a:rPr sz="1800" spc="-5" dirty="0">
                <a:latin typeface="Arial"/>
                <a:cs typeface="Arial"/>
              </a:rPr>
              <a:t>and transactional  content</a:t>
            </a:r>
            <a:endParaRPr sz="1800">
              <a:latin typeface="Arial"/>
              <a:cs typeface="Arial"/>
            </a:endParaRPr>
          </a:p>
          <a:p>
            <a:pPr marL="245745" marR="5080" indent="-233679">
              <a:lnSpc>
                <a:spcPct val="100000"/>
              </a:lnSpc>
              <a:spcBef>
                <a:spcPts val="545"/>
              </a:spcBef>
              <a:buClr>
                <a:srgbClr val="FF0000"/>
              </a:buClr>
              <a:buChar char="•"/>
              <a:tabLst>
                <a:tab pos="245745" algn="l"/>
                <a:tab pos="246379" algn="l"/>
              </a:tabLst>
            </a:pPr>
            <a:r>
              <a:rPr sz="1800" spc="-5" dirty="0">
                <a:latin typeface="Arial"/>
                <a:cs typeface="Arial"/>
              </a:rPr>
              <a:t>Navigate </a:t>
            </a:r>
            <a:r>
              <a:rPr sz="1800" dirty="0">
                <a:latin typeface="Arial"/>
                <a:cs typeface="Arial"/>
              </a:rPr>
              <a:t>BI </a:t>
            </a:r>
            <a:r>
              <a:rPr sz="1800" spc="-5" dirty="0">
                <a:latin typeface="Arial"/>
                <a:cs typeface="Arial"/>
              </a:rPr>
              <a:t>actions </a:t>
            </a:r>
            <a:r>
              <a:rPr sz="1800" dirty="0">
                <a:latin typeface="Arial"/>
                <a:cs typeface="Arial"/>
              </a:rPr>
              <a:t>to  </a:t>
            </a:r>
            <a:r>
              <a:rPr sz="1800" spc="-5" dirty="0">
                <a:latin typeface="Arial"/>
                <a:cs typeface="Arial"/>
              </a:rPr>
              <a:t>related Fusion  Applications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information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2063" y="1439418"/>
            <a:ext cx="5250180" cy="31135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42659" y="847344"/>
            <a:ext cx="21716" cy="35242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3400" y="209550"/>
            <a:ext cx="7965440" cy="99578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645"/>
              </a:spcBef>
            </a:pPr>
            <a:r>
              <a:rPr sz="2800" spc="-5" dirty="0"/>
              <a:t>Fusion Application Dashboards &amp; Home</a:t>
            </a:r>
            <a:r>
              <a:rPr sz="2800" spc="5" dirty="0"/>
              <a:t> </a:t>
            </a:r>
            <a:r>
              <a:rPr sz="2800" spc="-5" dirty="0"/>
              <a:t>Pages</a:t>
            </a: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800" dirty="0">
                <a:solidFill>
                  <a:srgbClr val="FF0000"/>
                </a:solidFill>
              </a:rPr>
              <a:t>Contextual, </a:t>
            </a:r>
            <a:r>
              <a:rPr sz="2800" spc="-5" dirty="0">
                <a:solidFill>
                  <a:srgbClr val="FF0000"/>
                </a:solidFill>
              </a:rPr>
              <a:t>Relevant,</a:t>
            </a:r>
            <a:r>
              <a:rPr sz="2800" spc="-14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Actionable</a:t>
            </a:r>
            <a:endParaRPr sz="28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971550"/>
            <a:ext cx="9144000" cy="3248025"/>
            <a:chOff x="0" y="615695"/>
            <a:chExt cx="9144000" cy="3248025"/>
          </a:xfrm>
        </p:grpSpPr>
        <p:sp>
          <p:nvSpPr>
            <p:cNvPr id="5" name="object 5"/>
            <p:cNvSpPr/>
            <p:nvPr/>
          </p:nvSpPr>
          <p:spPr>
            <a:xfrm>
              <a:off x="4543044" y="632459"/>
              <a:ext cx="4600955" cy="32202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15695"/>
              <a:ext cx="4600956" cy="32476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1272" y="768095"/>
              <a:ext cx="3916679" cy="296570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4611" y="783335"/>
              <a:ext cx="3810000" cy="285902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79847" y="781811"/>
              <a:ext cx="3919728" cy="296570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33188" y="797051"/>
              <a:ext cx="3813048" cy="28590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81000" y="223680"/>
            <a:ext cx="605345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BI Mobile for </a:t>
            </a:r>
            <a:r>
              <a:rPr sz="2800" spc="-5" dirty="0" smtClean="0"/>
              <a:t>Fusion</a:t>
            </a:r>
            <a:endParaRPr sz="2000" dirty="0"/>
          </a:p>
        </p:txBody>
      </p:sp>
      <p:sp>
        <p:nvSpPr>
          <p:cNvPr id="12" name="object 12"/>
          <p:cNvSpPr txBox="1"/>
          <p:nvPr/>
        </p:nvSpPr>
        <p:spPr>
          <a:xfrm>
            <a:off x="659993" y="4256788"/>
            <a:ext cx="6650990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3825" indent="-111760">
              <a:lnSpc>
                <a:spcPct val="100000"/>
              </a:lnSpc>
              <a:spcBef>
                <a:spcPts val="95"/>
              </a:spcBef>
              <a:buClr>
                <a:srgbClr val="FF1313"/>
              </a:buClr>
              <a:buChar char="•"/>
              <a:tabLst>
                <a:tab pos="124460" algn="l"/>
              </a:tabLst>
            </a:pPr>
            <a:r>
              <a:rPr sz="1600" spc="-5" dirty="0">
                <a:solidFill>
                  <a:srgbClr val="424545"/>
                </a:solidFill>
                <a:latin typeface="Arial"/>
                <a:cs typeface="Arial"/>
              </a:rPr>
              <a:t>Customers download Oracle BI Mobile HD from Apple</a:t>
            </a:r>
            <a:r>
              <a:rPr sz="1600" spc="-25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424545"/>
                </a:solidFill>
                <a:latin typeface="Arial"/>
                <a:cs typeface="Arial"/>
              </a:rPr>
              <a:t>Store</a:t>
            </a:r>
            <a:endParaRPr sz="1600">
              <a:latin typeface="Arial"/>
              <a:cs typeface="Arial"/>
            </a:endParaRPr>
          </a:p>
          <a:p>
            <a:pPr marL="123825" indent="-111760">
              <a:lnSpc>
                <a:spcPct val="100000"/>
              </a:lnSpc>
              <a:buClr>
                <a:srgbClr val="FF1313"/>
              </a:buClr>
              <a:buChar char="•"/>
              <a:tabLst>
                <a:tab pos="124460" algn="l"/>
              </a:tabLst>
            </a:pPr>
            <a:r>
              <a:rPr sz="1600" spc="-5" dirty="0">
                <a:solidFill>
                  <a:srgbClr val="424545"/>
                </a:solidFill>
                <a:latin typeface="Arial"/>
                <a:cs typeface="Arial"/>
              </a:rPr>
              <a:t>Connect to Fusion OTBI SaaS instance </a:t>
            </a:r>
            <a:r>
              <a:rPr sz="1600" spc="-10" dirty="0">
                <a:solidFill>
                  <a:srgbClr val="424545"/>
                </a:solidFill>
                <a:latin typeface="Arial"/>
                <a:cs typeface="Arial"/>
              </a:rPr>
              <a:t>with </a:t>
            </a:r>
            <a:r>
              <a:rPr sz="1600" spc="-5" dirty="0">
                <a:solidFill>
                  <a:srgbClr val="424545"/>
                </a:solidFill>
                <a:latin typeface="Arial"/>
                <a:cs typeface="Arial"/>
              </a:rPr>
              <a:t>host name and port</a:t>
            </a:r>
            <a:r>
              <a:rPr sz="1600" spc="165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424545"/>
                </a:solidFill>
                <a:latin typeface="Arial"/>
                <a:cs typeface="Arial"/>
              </a:rPr>
              <a:t>number</a:t>
            </a:r>
            <a:endParaRPr sz="1600">
              <a:latin typeface="Arial"/>
              <a:cs typeface="Arial"/>
            </a:endParaRPr>
          </a:p>
          <a:p>
            <a:pPr marL="123825" indent="-111760">
              <a:lnSpc>
                <a:spcPct val="100000"/>
              </a:lnSpc>
              <a:buClr>
                <a:srgbClr val="FF1313"/>
              </a:buClr>
              <a:buChar char="•"/>
              <a:tabLst>
                <a:tab pos="124460" algn="l"/>
              </a:tabLst>
            </a:pPr>
            <a:r>
              <a:rPr sz="1600" spc="-5" dirty="0">
                <a:solidFill>
                  <a:srgbClr val="424545"/>
                </a:solidFill>
                <a:latin typeface="Arial"/>
                <a:cs typeface="Arial"/>
              </a:rPr>
              <a:t>OTBI reports and dashboards are viewable on tablets real</a:t>
            </a:r>
            <a:r>
              <a:rPr sz="1600" spc="100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424545"/>
                </a:solidFill>
                <a:latin typeface="Arial"/>
                <a:cs typeface="Arial"/>
              </a:rPr>
              <a:t>time</a:t>
            </a:r>
            <a:endParaRPr sz="1600">
              <a:latin typeface="Arial"/>
              <a:cs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4800" y="285750"/>
            <a:ext cx="739267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Smart </a:t>
            </a:r>
            <a:r>
              <a:rPr sz="2800" spc="-20" dirty="0"/>
              <a:t>View </a:t>
            </a:r>
            <a:r>
              <a:rPr sz="2800" spc="-5" dirty="0"/>
              <a:t>for </a:t>
            </a:r>
            <a:r>
              <a:rPr sz="2800" spc="-5" dirty="0" smtClean="0"/>
              <a:t>Fusion</a:t>
            </a:r>
            <a:endParaRPr sz="2800" spc="-5" dirty="0">
              <a:solidFill>
                <a:srgbClr val="FF0000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87952" y="971550"/>
            <a:ext cx="3160776" cy="19827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8528" y="1088086"/>
            <a:ext cx="4096385" cy="339900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105"/>
              </a:spcBef>
              <a:buClr>
                <a:srgbClr val="FF1313"/>
              </a:buClr>
              <a:buChar char="•"/>
              <a:tabLst>
                <a:tab pos="185420" algn="l"/>
              </a:tabLst>
            </a:pP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Smart </a:t>
            </a:r>
            <a:r>
              <a:rPr sz="2000" spc="-10" dirty="0">
                <a:solidFill>
                  <a:srgbClr val="424545"/>
                </a:solidFill>
                <a:latin typeface="Arial"/>
                <a:cs typeface="Arial"/>
              </a:rPr>
              <a:t>View </a:t>
            </a: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integration</a:t>
            </a:r>
            <a:r>
              <a:rPr sz="2000" spc="-55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allows</a:t>
            </a:r>
            <a:endParaRPr sz="2000" dirty="0">
              <a:latin typeface="Arial"/>
              <a:cs typeface="Arial"/>
            </a:endParaRPr>
          </a:p>
          <a:p>
            <a:pPr marL="184785">
              <a:lnSpc>
                <a:spcPct val="100000"/>
              </a:lnSpc>
            </a:pP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users</a:t>
            </a:r>
            <a:r>
              <a:rPr sz="2000" spc="-40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to</a:t>
            </a:r>
            <a:endParaRPr sz="2000" dirty="0">
              <a:latin typeface="Arial"/>
              <a:cs typeface="Arial"/>
            </a:endParaRPr>
          </a:p>
          <a:p>
            <a:pPr marL="585470" marR="193040" lvl="1" indent="-291465">
              <a:lnSpc>
                <a:spcPct val="100000"/>
              </a:lnSpc>
              <a:buClr>
                <a:srgbClr val="FF1313"/>
              </a:buClr>
              <a:buChar char="•"/>
              <a:tabLst>
                <a:tab pos="585470" algn="l"/>
                <a:tab pos="586105" algn="l"/>
              </a:tabLst>
            </a:pP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Access and integrate BI  content from within MS</a:t>
            </a:r>
            <a:r>
              <a:rPr sz="2000" spc="-120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24545"/>
                </a:solidFill>
                <a:latin typeface="Arial"/>
                <a:cs typeface="Arial"/>
              </a:rPr>
              <a:t>Office  </a:t>
            </a: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products</a:t>
            </a:r>
            <a:endParaRPr sz="2000" dirty="0">
              <a:latin typeface="Arial"/>
              <a:cs typeface="Arial"/>
            </a:endParaRPr>
          </a:p>
          <a:p>
            <a:pPr marL="585470" lvl="1" indent="-291465">
              <a:lnSpc>
                <a:spcPct val="100000"/>
              </a:lnSpc>
              <a:spcBef>
                <a:spcPts val="5"/>
              </a:spcBef>
              <a:buClr>
                <a:srgbClr val="FF1313"/>
              </a:buClr>
              <a:buChar char="•"/>
              <a:tabLst>
                <a:tab pos="585470" algn="l"/>
                <a:tab pos="586105" algn="l"/>
              </a:tabLst>
            </a:pP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Run BI reports in MS</a:t>
            </a:r>
            <a:r>
              <a:rPr sz="2000" spc="-95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24545"/>
                </a:solidFill>
                <a:latin typeface="Arial"/>
                <a:cs typeface="Arial"/>
              </a:rPr>
              <a:t>Office</a:t>
            </a:r>
            <a:endParaRPr sz="2000" dirty="0">
              <a:latin typeface="Arial"/>
              <a:cs typeface="Arial"/>
            </a:endParaRPr>
          </a:p>
          <a:p>
            <a:pPr marL="585470" marR="5080" lvl="1" indent="-291465">
              <a:lnSpc>
                <a:spcPct val="100000"/>
              </a:lnSpc>
              <a:buClr>
                <a:srgbClr val="FF1313"/>
              </a:buClr>
              <a:buChar char="•"/>
              <a:tabLst>
                <a:tab pos="585470" algn="l"/>
                <a:tab pos="586105" algn="l"/>
              </a:tabLst>
            </a:pP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Create ad-hoc reports in</a:t>
            </a:r>
            <a:r>
              <a:rPr sz="2000" spc="-155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Excel,  </a:t>
            </a:r>
            <a:r>
              <a:rPr sz="2000" spc="-5" dirty="0">
                <a:solidFill>
                  <a:srgbClr val="424545"/>
                </a:solidFill>
                <a:latin typeface="Arial"/>
                <a:cs typeface="Arial"/>
              </a:rPr>
              <a:t>Word, </a:t>
            </a: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or PowerPoint using </a:t>
            </a:r>
            <a:r>
              <a:rPr sz="2000" spc="-5" dirty="0">
                <a:solidFill>
                  <a:srgbClr val="424545"/>
                </a:solidFill>
                <a:latin typeface="Arial"/>
                <a:cs typeface="Arial"/>
              </a:rPr>
              <a:t>BI  </a:t>
            </a: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subject</a:t>
            </a:r>
            <a:r>
              <a:rPr sz="2000" spc="-40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areas</a:t>
            </a:r>
            <a:endParaRPr sz="2000" dirty="0">
              <a:latin typeface="Arial"/>
              <a:cs typeface="Arial"/>
            </a:endParaRPr>
          </a:p>
          <a:p>
            <a:pPr marL="585470" lvl="1" indent="-291465">
              <a:lnSpc>
                <a:spcPct val="100000"/>
              </a:lnSpc>
              <a:buClr>
                <a:srgbClr val="FF1313"/>
              </a:buClr>
              <a:buChar char="•"/>
              <a:tabLst>
                <a:tab pos="585470" algn="l"/>
                <a:tab pos="586105" algn="l"/>
              </a:tabLst>
            </a:pP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Publish reports to BI</a:t>
            </a:r>
            <a:r>
              <a:rPr sz="2000" spc="-100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catalog</a:t>
            </a:r>
            <a:endParaRPr sz="2000" dirty="0">
              <a:latin typeface="Arial"/>
              <a:cs typeface="Arial"/>
            </a:endParaRPr>
          </a:p>
          <a:p>
            <a:pPr marL="303530" indent="-291465">
              <a:lnSpc>
                <a:spcPct val="100000"/>
              </a:lnSpc>
              <a:buClr>
                <a:srgbClr val="FF1313"/>
              </a:buClr>
              <a:buChar char="•"/>
              <a:tabLst>
                <a:tab pos="303530" algn="l"/>
                <a:tab pos="304165" algn="l"/>
              </a:tabLst>
            </a:pPr>
            <a:r>
              <a:rPr sz="2000" dirty="0">
                <a:solidFill>
                  <a:srgbClr val="424545"/>
                </a:solidFill>
                <a:latin typeface="Arial"/>
                <a:cs typeface="Arial"/>
              </a:rPr>
              <a:t>Requires </a:t>
            </a:r>
            <a:r>
              <a:rPr sz="2000" spc="-5" dirty="0">
                <a:solidFill>
                  <a:srgbClr val="424545"/>
                </a:solidFill>
                <a:latin typeface="Arial"/>
                <a:cs typeface="Arial"/>
              </a:rPr>
              <a:t>OBIEE</a:t>
            </a:r>
            <a:r>
              <a:rPr sz="2000" spc="-40" dirty="0">
                <a:solidFill>
                  <a:srgbClr val="424545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424545"/>
                </a:solidFill>
                <a:latin typeface="Arial"/>
                <a:cs typeface="Arial"/>
              </a:rPr>
              <a:t>11.1.1.7.0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62244" y="2620518"/>
            <a:ext cx="3093720" cy="19339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bject 42"/>
          <p:cNvSpPr txBox="1">
            <a:spLocks noGrp="1"/>
          </p:cNvSpPr>
          <p:nvPr>
            <p:ph type="title"/>
          </p:nvPr>
        </p:nvSpPr>
        <p:spPr>
          <a:xfrm>
            <a:off x="304800" y="299880"/>
            <a:ext cx="453072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Extend Flex Fields to</a:t>
            </a:r>
            <a:r>
              <a:rPr sz="2800" spc="10" dirty="0"/>
              <a:t> </a:t>
            </a:r>
            <a:r>
              <a:rPr sz="2800" spc="-5" dirty="0"/>
              <a:t>OTBI</a:t>
            </a:r>
          </a:p>
        </p:txBody>
      </p:sp>
      <p:grpSp>
        <p:nvGrpSpPr>
          <p:cNvPr id="71" name="Group 70"/>
          <p:cNvGrpSpPr/>
          <p:nvPr/>
        </p:nvGrpSpPr>
        <p:grpSpPr>
          <a:xfrm>
            <a:off x="220979" y="1020319"/>
            <a:ext cx="8835136" cy="3837431"/>
            <a:chOff x="220979" y="1325119"/>
            <a:chExt cx="8835136" cy="3837431"/>
          </a:xfrm>
        </p:grpSpPr>
        <p:sp>
          <p:nvSpPr>
            <p:cNvPr id="2" name="object 2"/>
            <p:cNvSpPr/>
            <p:nvPr/>
          </p:nvSpPr>
          <p:spPr>
            <a:xfrm>
              <a:off x="2579370" y="1604773"/>
              <a:ext cx="2162810" cy="574675"/>
            </a:xfrm>
            <a:custGeom>
              <a:avLst/>
              <a:gdLst/>
              <a:ahLst/>
              <a:cxnLst/>
              <a:rect l="l" t="t" r="r" b="b"/>
              <a:pathLst>
                <a:path w="2162810" h="574675">
                  <a:moveTo>
                    <a:pt x="2162556" y="0"/>
                  </a:moveTo>
                  <a:lnTo>
                    <a:pt x="0" y="0"/>
                  </a:lnTo>
                  <a:lnTo>
                    <a:pt x="0" y="574548"/>
                  </a:lnTo>
                  <a:lnTo>
                    <a:pt x="2162556" y="574548"/>
                  </a:lnTo>
                  <a:lnTo>
                    <a:pt x="2162556" y="0"/>
                  </a:lnTo>
                  <a:close/>
                </a:path>
              </a:pathLst>
            </a:custGeom>
            <a:solidFill>
              <a:srgbClr val="8AAA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2579370" y="1604773"/>
              <a:ext cx="2162810" cy="538609"/>
            </a:xfrm>
            <a:prstGeom prst="rect">
              <a:avLst/>
            </a:prstGeom>
            <a:ln w="25907">
              <a:solidFill>
                <a:srgbClr val="99A3B7"/>
              </a:solidFill>
            </a:ln>
          </p:spPr>
          <p:txBody>
            <a:bodyPr vert="horz" wrap="square" lIns="0" tIns="30480" rIns="0" bIns="0" rtlCol="0">
              <a:spAutoFit/>
            </a:bodyPr>
            <a:lstStyle/>
            <a:p>
              <a:pPr marL="475615" indent="-111125">
                <a:lnSpc>
                  <a:spcPct val="100000"/>
                </a:lnSpc>
                <a:spcBef>
                  <a:spcPts val="240"/>
                </a:spcBef>
                <a:buSzPct val="90909"/>
                <a:buFont typeface="Wingdings"/>
                <a:buChar char=""/>
                <a:tabLst>
                  <a:tab pos="476250" algn="l"/>
                </a:tabLst>
              </a:pPr>
              <a:r>
                <a:rPr sz="1100" dirty="0">
                  <a:solidFill>
                    <a:srgbClr val="FFFFFF"/>
                  </a:solidFill>
                  <a:latin typeface="Arial"/>
                  <a:cs typeface="Arial"/>
                </a:rPr>
                <a:t>Configure </a:t>
              </a:r>
              <a:r>
                <a:rPr sz="1100" spc="-5" dirty="0">
                  <a:solidFill>
                    <a:srgbClr val="FFFFFF"/>
                  </a:solidFill>
                  <a:latin typeface="Arial"/>
                  <a:cs typeface="Arial"/>
                </a:rPr>
                <a:t>Flex</a:t>
              </a:r>
              <a:r>
                <a:rPr sz="1100" spc="-35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100" spc="-5" dirty="0">
                  <a:solidFill>
                    <a:srgbClr val="FFFFFF"/>
                  </a:solidFill>
                  <a:latin typeface="Arial"/>
                  <a:cs typeface="Arial"/>
                </a:rPr>
                <a:t>Fields</a:t>
              </a:r>
              <a:endParaRPr sz="1100">
                <a:latin typeface="Arial"/>
                <a:cs typeface="Arial"/>
              </a:endParaRPr>
            </a:p>
            <a:p>
              <a:pPr marL="704215" lvl="1" indent="-111125">
                <a:lnSpc>
                  <a:spcPct val="100000"/>
                </a:lnSpc>
                <a:buSzPct val="90909"/>
                <a:buFont typeface="Wingdings"/>
                <a:buChar char=""/>
                <a:tabLst>
                  <a:tab pos="704850" algn="l"/>
                </a:tabLst>
              </a:pPr>
              <a:r>
                <a:rPr sz="1100" spc="-5" dirty="0">
                  <a:solidFill>
                    <a:srgbClr val="FFFFFF"/>
                  </a:solidFill>
                  <a:latin typeface="Arial"/>
                  <a:cs typeface="Arial"/>
                </a:rPr>
                <a:t>Enable </a:t>
              </a:r>
              <a:r>
                <a:rPr sz="1100" dirty="0">
                  <a:solidFill>
                    <a:srgbClr val="FFFFFF"/>
                  </a:solidFill>
                  <a:latin typeface="Arial"/>
                  <a:cs typeface="Arial"/>
                </a:rPr>
                <a:t>BI</a:t>
              </a:r>
              <a:r>
                <a:rPr sz="1100" spc="-65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100" dirty="0">
                  <a:solidFill>
                    <a:srgbClr val="FFFFFF"/>
                  </a:solidFill>
                  <a:latin typeface="Arial"/>
                  <a:cs typeface="Arial"/>
                </a:rPr>
                <a:t>flex</a:t>
              </a:r>
              <a:endParaRPr sz="1100">
                <a:latin typeface="Arial"/>
                <a:cs typeface="Arial"/>
              </a:endParaRPr>
            </a:p>
            <a:p>
              <a:pPr marL="607060" indent="-111760">
                <a:lnSpc>
                  <a:spcPct val="100000"/>
                </a:lnSpc>
                <a:spcBef>
                  <a:spcPts val="5"/>
                </a:spcBef>
                <a:buSzPct val="90909"/>
                <a:buFont typeface="Wingdings"/>
                <a:buChar char=""/>
                <a:tabLst>
                  <a:tab pos="607695" algn="l"/>
                </a:tabLst>
              </a:pPr>
              <a:r>
                <a:rPr sz="1100" spc="-5" dirty="0">
                  <a:solidFill>
                    <a:srgbClr val="FFFFFF"/>
                  </a:solidFill>
                  <a:latin typeface="Arial"/>
                  <a:cs typeface="Arial"/>
                </a:rPr>
                <a:t>Deploy </a:t>
              </a:r>
              <a:r>
                <a:rPr sz="1100" dirty="0">
                  <a:solidFill>
                    <a:srgbClr val="FFFFFF"/>
                  </a:solidFill>
                  <a:latin typeface="Arial"/>
                  <a:cs typeface="Arial"/>
                </a:rPr>
                <a:t>flex</a:t>
              </a:r>
              <a:r>
                <a:rPr sz="1100" spc="-85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100" dirty="0">
                  <a:solidFill>
                    <a:srgbClr val="FFFFFF"/>
                  </a:solidFill>
                  <a:latin typeface="Arial"/>
                  <a:cs typeface="Arial"/>
                </a:rPr>
                <a:t>fields</a:t>
              </a:r>
              <a:endParaRPr sz="1100">
                <a:latin typeface="Arial"/>
                <a:cs typeface="Arial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3059938" y="1405383"/>
              <a:ext cx="1118870" cy="166071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000" spc="-5" dirty="0">
                  <a:latin typeface="Arial"/>
                  <a:cs typeface="Arial"/>
                </a:rPr>
                <a:t>Fusion</a:t>
              </a:r>
              <a:r>
                <a:rPr sz="1000" spc="-65" dirty="0">
                  <a:latin typeface="Arial"/>
                  <a:cs typeface="Arial"/>
                </a:rPr>
                <a:t> </a:t>
              </a:r>
              <a:r>
                <a:rPr sz="1000" spc="-5" dirty="0">
                  <a:latin typeface="Arial"/>
                  <a:cs typeface="Arial"/>
                </a:rPr>
                <a:t>Applications</a:t>
              </a:r>
              <a:endParaRPr sz="1000">
                <a:latin typeface="Arial"/>
                <a:cs typeface="Arial"/>
              </a:endParaRPr>
            </a:p>
          </p:txBody>
        </p:sp>
        <p:grpSp>
          <p:nvGrpSpPr>
            <p:cNvPr id="7" name="object 7"/>
            <p:cNvGrpSpPr/>
            <p:nvPr/>
          </p:nvGrpSpPr>
          <p:grpSpPr>
            <a:xfrm>
              <a:off x="6063202" y="1333540"/>
              <a:ext cx="1807210" cy="1069340"/>
              <a:chOff x="6063202" y="874054"/>
              <a:chExt cx="1807210" cy="1069340"/>
            </a:xfrm>
          </p:grpSpPr>
          <p:sp>
            <p:nvSpPr>
              <p:cNvPr id="8" name="object 8"/>
              <p:cNvSpPr/>
              <p:nvPr/>
            </p:nvSpPr>
            <p:spPr>
              <a:xfrm>
                <a:off x="6063202" y="874054"/>
                <a:ext cx="1806733" cy="1069045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6070092" y="1003554"/>
                <a:ext cx="1719580" cy="859155"/>
              </a:xfrm>
              <a:custGeom>
                <a:avLst/>
                <a:gdLst/>
                <a:ahLst/>
                <a:cxnLst/>
                <a:rect l="l" t="t" r="r" b="b"/>
                <a:pathLst>
                  <a:path w="1719579" h="859155">
                    <a:moveTo>
                      <a:pt x="1719072" y="0"/>
                    </a:moveTo>
                    <a:lnTo>
                      <a:pt x="1688369" y="32591"/>
                    </a:lnTo>
                    <a:lnTo>
                      <a:pt x="1636316" y="52562"/>
                    </a:lnTo>
                    <a:lnTo>
                      <a:pt x="1561826" y="70723"/>
                    </a:lnTo>
                    <a:lnTo>
                      <a:pt x="1516925" y="79015"/>
                    </a:lnTo>
                    <a:lnTo>
                      <a:pt x="1467326" y="86725"/>
                    </a:lnTo>
                    <a:lnTo>
                      <a:pt x="1413331" y="93807"/>
                    </a:lnTo>
                    <a:lnTo>
                      <a:pt x="1355244" y="100219"/>
                    </a:lnTo>
                    <a:lnTo>
                      <a:pt x="1293367" y="105918"/>
                    </a:lnTo>
                    <a:lnTo>
                      <a:pt x="1228006" y="110859"/>
                    </a:lnTo>
                    <a:lnTo>
                      <a:pt x="1159462" y="114999"/>
                    </a:lnTo>
                    <a:lnTo>
                      <a:pt x="1088040" y="118295"/>
                    </a:lnTo>
                    <a:lnTo>
                      <a:pt x="1014043" y="120703"/>
                    </a:lnTo>
                    <a:lnTo>
                      <a:pt x="937773" y="122180"/>
                    </a:lnTo>
                    <a:lnTo>
                      <a:pt x="859536" y="122682"/>
                    </a:lnTo>
                    <a:lnTo>
                      <a:pt x="781298" y="122180"/>
                    </a:lnTo>
                    <a:lnTo>
                      <a:pt x="705028" y="120703"/>
                    </a:lnTo>
                    <a:lnTo>
                      <a:pt x="631031" y="118295"/>
                    </a:lnTo>
                    <a:lnTo>
                      <a:pt x="559609" y="114999"/>
                    </a:lnTo>
                    <a:lnTo>
                      <a:pt x="491065" y="110859"/>
                    </a:lnTo>
                    <a:lnTo>
                      <a:pt x="425704" y="105918"/>
                    </a:lnTo>
                    <a:lnTo>
                      <a:pt x="363827" y="100219"/>
                    </a:lnTo>
                    <a:lnTo>
                      <a:pt x="305740" y="93807"/>
                    </a:lnTo>
                    <a:lnTo>
                      <a:pt x="251745" y="86725"/>
                    </a:lnTo>
                    <a:lnTo>
                      <a:pt x="202146" y="79015"/>
                    </a:lnTo>
                    <a:lnTo>
                      <a:pt x="157245" y="70723"/>
                    </a:lnTo>
                    <a:lnTo>
                      <a:pt x="117348" y="61891"/>
                    </a:lnTo>
                    <a:lnTo>
                      <a:pt x="53772" y="42781"/>
                    </a:lnTo>
                    <a:lnTo>
                      <a:pt x="13847" y="22035"/>
                    </a:lnTo>
                    <a:lnTo>
                      <a:pt x="0" y="0"/>
                    </a:lnTo>
                    <a:lnTo>
                      <a:pt x="0" y="736092"/>
                    </a:lnTo>
                    <a:lnTo>
                      <a:pt x="30702" y="768727"/>
                    </a:lnTo>
                    <a:lnTo>
                      <a:pt x="82755" y="788710"/>
                    </a:lnTo>
                    <a:lnTo>
                      <a:pt x="157245" y="806870"/>
                    </a:lnTo>
                    <a:lnTo>
                      <a:pt x="202146" y="815160"/>
                    </a:lnTo>
                    <a:lnTo>
                      <a:pt x="251745" y="822864"/>
                    </a:lnTo>
                    <a:lnTo>
                      <a:pt x="305740" y="829941"/>
                    </a:lnTo>
                    <a:lnTo>
                      <a:pt x="363827" y="836346"/>
                    </a:lnTo>
                    <a:lnTo>
                      <a:pt x="425704" y="842038"/>
                    </a:lnTo>
                    <a:lnTo>
                      <a:pt x="491065" y="846972"/>
                    </a:lnTo>
                    <a:lnTo>
                      <a:pt x="559609" y="851105"/>
                    </a:lnTo>
                    <a:lnTo>
                      <a:pt x="631031" y="854396"/>
                    </a:lnTo>
                    <a:lnTo>
                      <a:pt x="705028" y="856799"/>
                    </a:lnTo>
                    <a:lnTo>
                      <a:pt x="781298" y="858273"/>
                    </a:lnTo>
                    <a:lnTo>
                      <a:pt x="859536" y="858774"/>
                    </a:lnTo>
                    <a:lnTo>
                      <a:pt x="937773" y="858273"/>
                    </a:lnTo>
                    <a:lnTo>
                      <a:pt x="1014043" y="856799"/>
                    </a:lnTo>
                    <a:lnTo>
                      <a:pt x="1088040" y="854396"/>
                    </a:lnTo>
                    <a:lnTo>
                      <a:pt x="1159462" y="851105"/>
                    </a:lnTo>
                    <a:lnTo>
                      <a:pt x="1228006" y="846972"/>
                    </a:lnTo>
                    <a:lnTo>
                      <a:pt x="1293367" y="842038"/>
                    </a:lnTo>
                    <a:lnTo>
                      <a:pt x="1355244" y="836346"/>
                    </a:lnTo>
                    <a:lnTo>
                      <a:pt x="1413331" y="829941"/>
                    </a:lnTo>
                    <a:lnTo>
                      <a:pt x="1467326" y="822864"/>
                    </a:lnTo>
                    <a:lnTo>
                      <a:pt x="1516925" y="815160"/>
                    </a:lnTo>
                    <a:lnTo>
                      <a:pt x="1561826" y="806870"/>
                    </a:lnTo>
                    <a:lnTo>
                      <a:pt x="1601723" y="798039"/>
                    </a:lnTo>
                    <a:lnTo>
                      <a:pt x="1665299" y="778924"/>
                    </a:lnTo>
                    <a:lnTo>
                      <a:pt x="1705224" y="758160"/>
                    </a:lnTo>
                    <a:lnTo>
                      <a:pt x="1719072" y="736092"/>
                    </a:lnTo>
                    <a:lnTo>
                      <a:pt x="1719072" y="0"/>
                    </a:lnTo>
                    <a:close/>
                  </a:path>
                </a:pathLst>
              </a:custGeom>
              <a:solidFill>
                <a:srgbClr val="78636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" name="object 10"/>
              <p:cNvSpPr/>
              <p:nvPr/>
            </p:nvSpPr>
            <p:spPr>
              <a:xfrm>
                <a:off x="6070092" y="880872"/>
                <a:ext cx="1719580" cy="245745"/>
              </a:xfrm>
              <a:custGeom>
                <a:avLst/>
                <a:gdLst/>
                <a:ahLst/>
                <a:cxnLst/>
                <a:rect l="l" t="t" r="r" b="b"/>
                <a:pathLst>
                  <a:path w="1719579" h="245744">
                    <a:moveTo>
                      <a:pt x="859536" y="0"/>
                    </a:moveTo>
                    <a:lnTo>
                      <a:pt x="781298" y="500"/>
                    </a:lnTo>
                    <a:lnTo>
                      <a:pt x="705028" y="1974"/>
                    </a:lnTo>
                    <a:lnTo>
                      <a:pt x="631031" y="4377"/>
                    </a:lnTo>
                    <a:lnTo>
                      <a:pt x="559609" y="7668"/>
                    </a:lnTo>
                    <a:lnTo>
                      <a:pt x="491065" y="11801"/>
                    </a:lnTo>
                    <a:lnTo>
                      <a:pt x="425704" y="16735"/>
                    </a:lnTo>
                    <a:lnTo>
                      <a:pt x="363827" y="22427"/>
                    </a:lnTo>
                    <a:lnTo>
                      <a:pt x="305740" y="28832"/>
                    </a:lnTo>
                    <a:lnTo>
                      <a:pt x="251745" y="35909"/>
                    </a:lnTo>
                    <a:lnTo>
                      <a:pt x="202146" y="43613"/>
                    </a:lnTo>
                    <a:lnTo>
                      <a:pt x="157245" y="51903"/>
                    </a:lnTo>
                    <a:lnTo>
                      <a:pt x="117348" y="60734"/>
                    </a:lnTo>
                    <a:lnTo>
                      <a:pt x="53772" y="79849"/>
                    </a:lnTo>
                    <a:lnTo>
                      <a:pt x="13847" y="100613"/>
                    </a:lnTo>
                    <a:lnTo>
                      <a:pt x="0" y="122681"/>
                    </a:lnTo>
                    <a:lnTo>
                      <a:pt x="3512" y="133838"/>
                    </a:lnTo>
                    <a:lnTo>
                      <a:pt x="53772" y="165463"/>
                    </a:lnTo>
                    <a:lnTo>
                      <a:pt x="117348" y="184573"/>
                    </a:lnTo>
                    <a:lnTo>
                      <a:pt x="157245" y="193405"/>
                    </a:lnTo>
                    <a:lnTo>
                      <a:pt x="202146" y="201697"/>
                    </a:lnTo>
                    <a:lnTo>
                      <a:pt x="251745" y="209407"/>
                    </a:lnTo>
                    <a:lnTo>
                      <a:pt x="305740" y="216489"/>
                    </a:lnTo>
                    <a:lnTo>
                      <a:pt x="363827" y="222901"/>
                    </a:lnTo>
                    <a:lnTo>
                      <a:pt x="425704" y="228600"/>
                    </a:lnTo>
                    <a:lnTo>
                      <a:pt x="491065" y="233541"/>
                    </a:lnTo>
                    <a:lnTo>
                      <a:pt x="559609" y="237681"/>
                    </a:lnTo>
                    <a:lnTo>
                      <a:pt x="631031" y="240977"/>
                    </a:lnTo>
                    <a:lnTo>
                      <a:pt x="705028" y="243385"/>
                    </a:lnTo>
                    <a:lnTo>
                      <a:pt x="781298" y="244862"/>
                    </a:lnTo>
                    <a:lnTo>
                      <a:pt x="859536" y="245363"/>
                    </a:lnTo>
                    <a:lnTo>
                      <a:pt x="937773" y="244862"/>
                    </a:lnTo>
                    <a:lnTo>
                      <a:pt x="1014043" y="243385"/>
                    </a:lnTo>
                    <a:lnTo>
                      <a:pt x="1088040" y="240977"/>
                    </a:lnTo>
                    <a:lnTo>
                      <a:pt x="1159462" y="237681"/>
                    </a:lnTo>
                    <a:lnTo>
                      <a:pt x="1228006" y="233541"/>
                    </a:lnTo>
                    <a:lnTo>
                      <a:pt x="1293367" y="228600"/>
                    </a:lnTo>
                    <a:lnTo>
                      <a:pt x="1355244" y="222901"/>
                    </a:lnTo>
                    <a:lnTo>
                      <a:pt x="1413331" y="216489"/>
                    </a:lnTo>
                    <a:lnTo>
                      <a:pt x="1467326" y="209407"/>
                    </a:lnTo>
                    <a:lnTo>
                      <a:pt x="1516925" y="201697"/>
                    </a:lnTo>
                    <a:lnTo>
                      <a:pt x="1561826" y="193405"/>
                    </a:lnTo>
                    <a:lnTo>
                      <a:pt x="1601723" y="184573"/>
                    </a:lnTo>
                    <a:lnTo>
                      <a:pt x="1665299" y="165463"/>
                    </a:lnTo>
                    <a:lnTo>
                      <a:pt x="1705224" y="144717"/>
                    </a:lnTo>
                    <a:lnTo>
                      <a:pt x="1719072" y="122681"/>
                    </a:lnTo>
                    <a:lnTo>
                      <a:pt x="1715559" y="111506"/>
                    </a:lnTo>
                    <a:lnTo>
                      <a:pt x="1665299" y="79849"/>
                    </a:lnTo>
                    <a:lnTo>
                      <a:pt x="1601723" y="60734"/>
                    </a:lnTo>
                    <a:lnTo>
                      <a:pt x="1561826" y="51903"/>
                    </a:lnTo>
                    <a:lnTo>
                      <a:pt x="1516925" y="43613"/>
                    </a:lnTo>
                    <a:lnTo>
                      <a:pt x="1467326" y="35909"/>
                    </a:lnTo>
                    <a:lnTo>
                      <a:pt x="1413331" y="28832"/>
                    </a:lnTo>
                    <a:lnTo>
                      <a:pt x="1355244" y="22427"/>
                    </a:lnTo>
                    <a:lnTo>
                      <a:pt x="1293367" y="16735"/>
                    </a:lnTo>
                    <a:lnTo>
                      <a:pt x="1228006" y="11801"/>
                    </a:lnTo>
                    <a:lnTo>
                      <a:pt x="1159462" y="7668"/>
                    </a:lnTo>
                    <a:lnTo>
                      <a:pt x="1088040" y="4377"/>
                    </a:lnTo>
                    <a:lnTo>
                      <a:pt x="1014043" y="1974"/>
                    </a:lnTo>
                    <a:lnTo>
                      <a:pt x="937773" y="500"/>
                    </a:lnTo>
                    <a:lnTo>
                      <a:pt x="859536" y="0"/>
                    </a:lnTo>
                    <a:close/>
                  </a:path>
                </a:pathLst>
              </a:custGeom>
              <a:solidFill>
                <a:srgbClr val="ADA1A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1" name="object 11"/>
            <p:cNvSpPr txBox="1"/>
            <p:nvPr/>
          </p:nvSpPr>
          <p:spPr>
            <a:xfrm>
              <a:off x="6369813" y="1654429"/>
              <a:ext cx="981075" cy="166071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000" spc="-5" dirty="0">
                  <a:solidFill>
                    <a:srgbClr val="FFFFFF"/>
                  </a:solidFill>
                  <a:latin typeface="Arial"/>
                  <a:cs typeface="Arial"/>
                </a:rPr>
                <a:t>Fusion</a:t>
              </a:r>
              <a:r>
                <a:rPr sz="1000" spc="-60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000" spc="-5" dirty="0">
                  <a:solidFill>
                    <a:srgbClr val="FFFFFF"/>
                  </a:solidFill>
                  <a:latin typeface="Arial"/>
                  <a:cs typeface="Arial"/>
                </a:rPr>
                <a:t>Database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288137" y="2008888"/>
              <a:ext cx="881380" cy="352019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5"/>
                </a:spcBef>
              </a:pPr>
              <a:r>
                <a:rPr sz="1100" spc="-5" dirty="0">
                  <a:solidFill>
                    <a:srgbClr val="424545"/>
                  </a:solidFill>
                  <a:latin typeface="Arial"/>
                  <a:cs typeface="Arial"/>
                </a:rPr>
                <a:t>Fusion</a:t>
              </a:r>
              <a:r>
                <a:rPr sz="1100" spc="-65" dirty="0">
                  <a:solidFill>
                    <a:srgbClr val="424545"/>
                  </a:solidFill>
                  <a:latin typeface="Arial"/>
                  <a:cs typeface="Arial"/>
                </a:rPr>
                <a:t> </a:t>
              </a:r>
              <a:r>
                <a:rPr sz="1100" dirty="0">
                  <a:solidFill>
                    <a:srgbClr val="424545"/>
                  </a:solidFill>
                  <a:latin typeface="Arial"/>
                  <a:cs typeface="Arial"/>
                </a:rPr>
                <a:t>Admin  </a:t>
              </a:r>
              <a:r>
                <a:rPr sz="1100" spc="-5" dirty="0">
                  <a:solidFill>
                    <a:srgbClr val="424545"/>
                  </a:solidFill>
                  <a:latin typeface="Arial"/>
                  <a:cs typeface="Arial"/>
                </a:rPr>
                <a:t>User</a:t>
              </a:r>
              <a:endParaRPr sz="1100">
                <a:latin typeface="Arial"/>
                <a:cs typeface="Arial"/>
              </a:endParaRPr>
            </a:p>
          </p:txBody>
        </p:sp>
        <p:grpSp>
          <p:nvGrpSpPr>
            <p:cNvPr id="13" name="object 13"/>
            <p:cNvGrpSpPr/>
            <p:nvPr/>
          </p:nvGrpSpPr>
          <p:grpSpPr>
            <a:xfrm>
              <a:off x="6163055" y="1876805"/>
              <a:ext cx="1475740" cy="403860"/>
              <a:chOff x="6163055" y="1417319"/>
              <a:chExt cx="1475740" cy="403860"/>
            </a:xfrm>
          </p:grpSpPr>
          <p:sp>
            <p:nvSpPr>
              <p:cNvPr id="14" name="object 14"/>
              <p:cNvSpPr/>
              <p:nvPr/>
            </p:nvSpPr>
            <p:spPr>
              <a:xfrm>
                <a:off x="6163055" y="1417319"/>
                <a:ext cx="1475231" cy="370332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6268211" y="1421891"/>
                <a:ext cx="1263395" cy="399288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6" name="object 16"/>
            <p:cNvGrpSpPr/>
            <p:nvPr/>
          </p:nvGrpSpPr>
          <p:grpSpPr>
            <a:xfrm>
              <a:off x="289561" y="1413511"/>
              <a:ext cx="1947545" cy="636905"/>
              <a:chOff x="289559" y="954024"/>
              <a:chExt cx="1947545" cy="636905"/>
            </a:xfrm>
          </p:grpSpPr>
          <p:sp>
            <p:nvSpPr>
              <p:cNvPr id="17" name="object 17"/>
              <p:cNvSpPr/>
              <p:nvPr/>
            </p:nvSpPr>
            <p:spPr>
              <a:xfrm>
                <a:off x="1169670" y="1470787"/>
                <a:ext cx="1067435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067435" h="120650">
                    <a:moveTo>
                      <a:pt x="1015764" y="60071"/>
                    </a:moveTo>
                    <a:lnTo>
                      <a:pt x="951103" y="97789"/>
                    </a:lnTo>
                    <a:lnTo>
                      <a:pt x="948944" y="105790"/>
                    </a:lnTo>
                    <a:lnTo>
                      <a:pt x="952500" y="111887"/>
                    </a:lnTo>
                    <a:lnTo>
                      <a:pt x="956182" y="118110"/>
                    </a:lnTo>
                    <a:lnTo>
                      <a:pt x="964057" y="120141"/>
                    </a:lnTo>
                    <a:lnTo>
                      <a:pt x="970280" y="116586"/>
                    </a:lnTo>
                    <a:lnTo>
                      <a:pt x="1044969" y="73025"/>
                    </a:lnTo>
                    <a:lnTo>
                      <a:pt x="1041527" y="73025"/>
                    </a:lnTo>
                    <a:lnTo>
                      <a:pt x="1041527" y="71247"/>
                    </a:lnTo>
                    <a:lnTo>
                      <a:pt x="1034923" y="71247"/>
                    </a:lnTo>
                    <a:lnTo>
                      <a:pt x="1015764" y="60071"/>
                    </a:lnTo>
                    <a:close/>
                  </a:path>
                  <a:path w="1067435" h="120650">
                    <a:moveTo>
                      <a:pt x="993557" y="47116"/>
                    </a:moveTo>
                    <a:lnTo>
                      <a:pt x="0" y="47116"/>
                    </a:lnTo>
                    <a:lnTo>
                      <a:pt x="0" y="73025"/>
                    </a:lnTo>
                    <a:lnTo>
                      <a:pt x="993557" y="73025"/>
                    </a:lnTo>
                    <a:lnTo>
                      <a:pt x="1015764" y="60071"/>
                    </a:lnTo>
                    <a:lnTo>
                      <a:pt x="993557" y="47116"/>
                    </a:lnTo>
                    <a:close/>
                  </a:path>
                  <a:path w="1067435" h="120650">
                    <a:moveTo>
                      <a:pt x="1044969" y="47116"/>
                    </a:moveTo>
                    <a:lnTo>
                      <a:pt x="1041527" y="47116"/>
                    </a:lnTo>
                    <a:lnTo>
                      <a:pt x="1041527" y="73025"/>
                    </a:lnTo>
                    <a:lnTo>
                      <a:pt x="1044969" y="73025"/>
                    </a:lnTo>
                    <a:lnTo>
                      <a:pt x="1067181" y="60071"/>
                    </a:lnTo>
                    <a:lnTo>
                      <a:pt x="1044969" y="47116"/>
                    </a:lnTo>
                    <a:close/>
                  </a:path>
                  <a:path w="1067435" h="120650">
                    <a:moveTo>
                      <a:pt x="1034923" y="48895"/>
                    </a:moveTo>
                    <a:lnTo>
                      <a:pt x="1015764" y="60071"/>
                    </a:lnTo>
                    <a:lnTo>
                      <a:pt x="1034923" y="71247"/>
                    </a:lnTo>
                    <a:lnTo>
                      <a:pt x="1034923" y="48895"/>
                    </a:lnTo>
                    <a:close/>
                  </a:path>
                  <a:path w="1067435" h="120650">
                    <a:moveTo>
                      <a:pt x="1041527" y="48895"/>
                    </a:moveTo>
                    <a:lnTo>
                      <a:pt x="1034923" y="48895"/>
                    </a:lnTo>
                    <a:lnTo>
                      <a:pt x="1034923" y="71247"/>
                    </a:lnTo>
                    <a:lnTo>
                      <a:pt x="1041527" y="71247"/>
                    </a:lnTo>
                    <a:lnTo>
                      <a:pt x="1041527" y="48895"/>
                    </a:lnTo>
                    <a:close/>
                  </a:path>
                  <a:path w="1067435" h="120650">
                    <a:moveTo>
                      <a:pt x="964057" y="0"/>
                    </a:moveTo>
                    <a:lnTo>
                      <a:pt x="956182" y="2032"/>
                    </a:lnTo>
                    <a:lnTo>
                      <a:pt x="952500" y="8254"/>
                    </a:lnTo>
                    <a:lnTo>
                      <a:pt x="948944" y="14350"/>
                    </a:lnTo>
                    <a:lnTo>
                      <a:pt x="951103" y="22351"/>
                    </a:lnTo>
                    <a:lnTo>
                      <a:pt x="1015764" y="60071"/>
                    </a:lnTo>
                    <a:lnTo>
                      <a:pt x="1034923" y="48895"/>
                    </a:lnTo>
                    <a:lnTo>
                      <a:pt x="1041527" y="48895"/>
                    </a:lnTo>
                    <a:lnTo>
                      <a:pt x="1041527" y="47116"/>
                    </a:lnTo>
                    <a:lnTo>
                      <a:pt x="1044969" y="47116"/>
                    </a:lnTo>
                    <a:lnTo>
                      <a:pt x="970280" y="3555"/>
                    </a:lnTo>
                    <a:lnTo>
                      <a:pt x="964057" y="0"/>
                    </a:lnTo>
                    <a:close/>
                  </a:path>
                </a:pathLst>
              </a:custGeom>
              <a:solidFill>
                <a:srgbClr val="FF131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289559" y="954024"/>
                <a:ext cx="926591" cy="580643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9" name="object 19"/>
            <p:cNvSpPr txBox="1"/>
            <p:nvPr/>
          </p:nvSpPr>
          <p:spPr>
            <a:xfrm>
              <a:off x="6188964" y="1902714"/>
              <a:ext cx="1369060" cy="214161"/>
            </a:xfrm>
            <a:prstGeom prst="rect">
              <a:avLst/>
            </a:prstGeom>
            <a:solidFill>
              <a:srgbClr val="8AAAC3"/>
            </a:solidFill>
          </p:spPr>
          <p:txBody>
            <a:bodyPr vert="horz" wrap="square" lIns="0" tIns="44450" rIns="0" bIns="0" rtlCol="0">
              <a:spAutoFit/>
            </a:bodyPr>
            <a:lstStyle/>
            <a:p>
              <a:pPr marL="191135">
                <a:lnSpc>
                  <a:spcPct val="100000"/>
                </a:lnSpc>
                <a:spcBef>
                  <a:spcPts val="350"/>
                </a:spcBef>
              </a:pPr>
              <a:r>
                <a:rPr sz="1100" spc="-5" dirty="0">
                  <a:solidFill>
                    <a:srgbClr val="FFFFFF"/>
                  </a:solidFill>
                  <a:latin typeface="Arial"/>
                  <a:cs typeface="Arial"/>
                </a:rPr>
                <a:t>BI View</a:t>
              </a:r>
              <a:r>
                <a:rPr sz="1100" spc="-20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100" dirty="0">
                  <a:solidFill>
                    <a:srgbClr val="FFFFFF"/>
                  </a:solidFill>
                  <a:latin typeface="Arial"/>
                  <a:cs typeface="Arial"/>
                </a:rPr>
                <a:t>Objects</a:t>
              </a:r>
              <a:endParaRPr sz="1100">
                <a:latin typeface="Arial"/>
                <a:cs typeface="Arial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1289052" y="1558417"/>
              <a:ext cx="845819" cy="31995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254635" marR="5080" indent="-242570">
                <a:lnSpc>
                  <a:spcPct val="100000"/>
                </a:lnSpc>
                <a:spcBef>
                  <a:spcPts val="95"/>
                </a:spcBef>
              </a:pPr>
              <a:r>
                <a:rPr sz="1000" spc="-5" dirty="0">
                  <a:latin typeface="Arial"/>
                  <a:cs typeface="Arial"/>
                </a:rPr>
                <a:t>Configure</a:t>
              </a:r>
              <a:r>
                <a:rPr sz="1000" spc="-85" dirty="0">
                  <a:latin typeface="Arial"/>
                  <a:cs typeface="Arial"/>
                </a:rPr>
                <a:t> </a:t>
              </a:r>
              <a:r>
                <a:rPr sz="1000" spc="-5" dirty="0">
                  <a:latin typeface="Arial"/>
                  <a:cs typeface="Arial"/>
                </a:rPr>
                <a:t>Flex  Fields</a:t>
              </a:r>
              <a:endParaRPr sz="1000">
                <a:latin typeface="Arial"/>
                <a:cs typeface="Arial"/>
              </a:endParaRPr>
            </a:p>
          </p:txBody>
        </p:sp>
        <p:grpSp>
          <p:nvGrpSpPr>
            <p:cNvPr id="21" name="object 21"/>
            <p:cNvGrpSpPr/>
            <p:nvPr/>
          </p:nvGrpSpPr>
          <p:grpSpPr>
            <a:xfrm>
              <a:off x="1102550" y="1325119"/>
              <a:ext cx="5083810" cy="2985770"/>
              <a:chOff x="1102550" y="865632"/>
              <a:chExt cx="5083810" cy="2985770"/>
            </a:xfrm>
          </p:grpSpPr>
          <p:sp>
            <p:nvSpPr>
              <p:cNvPr id="22" name="object 22"/>
              <p:cNvSpPr/>
              <p:nvPr/>
            </p:nvSpPr>
            <p:spPr>
              <a:xfrm>
                <a:off x="1102550" y="3730879"/>
                <a:ext cx="1102360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102360" h="120650">
                    <a:moveTo>
                      <a:pt x="103085" y="0"/>
                    </a:moveTo>
                    <a:lnTo>
                      <a:pt x="0" y="60071"/>
                    </a:lnTo>
                    <a:lnTo>
                      <a:pt x="103085" y="120142"/>
                    </a:lnTo>
                    <a:lnTo>
                      <a:pt x="111023" y="118110"/>
                    </a:lnTo>
                    <a:lnTo>
                      <a:pt x="114630" y="111887"/>
                    </a:lnTo>
                    <a:lnTo>
                      <a:pt x="118237" y="105791"/>
                    </a:lnTo>
                    <a:lnTo>
                      <a:pt x="116141" y="97790"/>
                    </a:lnTo>
                    <a:lnTo>
                      <a:pt x="73611" y="73025"/>
                    </a:lnTo>
                    <a:lnTo>
                      <a:pt x="25704" y="73025"/>
                    </a:lnTo>
                    <a:lnTo>
                      <a:pt x="25704" y="47117"/>
                    </a:lnTo>
                    <a:lnTo>
                      <a:pt x="73611" y="47117"/>
                    </a:lnTo>
                    <a:lnTo>
                      <a:pt x="116141" y="22352"/>
                    </a:lnTo>
                    <a:lnTo>
                      <a:pt x="118237" y="14351"/>
                    </a:lnTo>
                    <a:lnTo>
                      <a:pt x="114630" y="8255"/>
                    </a:lnTo>
                    <a:lnTo>
                      <a:pt x="111023" y="2032"/>
                    </a:lnTo>
                    <a:lnTo>
                      <a:pt x="103085" y="0"/>
                    </a:lnTo>
                    <a:close/>
                  </a:path>
                  <a:path w="1102360" h="120650">
                    <a:moveTo>
                      <a:pt x="73611" y="47117"/>
                    </a:moveTo>
                    <a:lnTo>
                      <a:pt x="25704" y="47117"/>
                    </a:lnTo>
                    <a:lnTo>
                      <a:pt x="25704" y="73025"/>
                    </a:lnTo>
                    <a:lnTo>
                      <a:pt x="73611" y="73025"/>
                    </a:lnTo>
                    <a:lnTo>
                      <a:pt x="70563" y="71247"/>
                    </a:lnTo>
                    <a:lnTo>
                      <a:pt x="32245" y="71247"/>
                    </a:lnTo>
                    <a:lnTo>
                      <a:pt x="32245" y="48895"/>
                    </a:lnTo>
                    <a:lnTo>
                      <a:pt x="70563" y="48895"/>
                    </a:lnTo>
                    <a:lnTo>
                      <a:pt x="73611" y="47117"/>
                    </a:lnTo>
                    <a:close/>
                  </a:path>
                  <a:path w="1102360" h="120650">
                    <a:moveTo>
                      <a:pt x="1101788" y="47117"/>
                    </a:moveTo>
                    <a:lnTo>
                      <a:pt x="73611" y="47117"/>
                    </a:lnTo>
                    <a:lnTo>
                      <a:pt x="51404" y="60071"/>
                    </a:lnTo>
                    <a:lnTo>
                      <a:pt x="73611" y="73025"/>
                    </a:lnTo>
                    <a:lnTo>
                      <a:pt x="1101788" y="73025"/>
                    </a:lnTo>
                    <a:lnTo>
                      <a:pt x="1101788" y="47117"/>
                    </a:lnTo>
                    <a:close/>
                  </a:path>
                  <a:path w="1102360" h="120650">
                    <a:moveTo>
                      <a:pt x="32245" y="48895"/>
                    </a:moveTo>
                    <a:lnTo>
                      <a:pt x="32245" y="71247"/>
                    </a:lnTo>
                    <a:lnTo>
                      <a:pt x="51404" y="60071"/>
                    </a:lnTo>
                    <a:lnTo>
                      <a:pt x="32245" y="48895"/>
                    </a:lnTo>
                    <a:close/>
                  </a:path>
                  <a:path w="1102360" h="120650">
                    <a:moveTo>
                      <a:pt x="51404" y="60071"/>
                    </a:moveTo>
                    <a:lnTo>
                      <a:pt x="32245" y="71247"/>
                    </a:lnTo>
                    <a:lnTo>
                      <a:pt x="70563" y="71247"/>
                    </a:lnTo>
                    <a:lnTo>
                      <a:pt x="51404" y="60071"/>
                    </a:lnTo>
                    <a:close/>
                  </a:path>
                  <a:path w="1102360" h="120650">
                    <a:moveTo>
                      <a:pt x="70563" y="48895"/>
                    </a:moveTo>
                    <a:lnTo>
                      <a:pt x="32245" y="48895"/>
                    </a:lnTo>
                    <a:lnTo>
                      <a:pt x="51404" y="60071"/>
                    </a:lnTo>
                    <a:lnTo>
                      <a:pt x="70563" y="48895"/>
                    </a:lnTo>
                    <a:close/>
                  </a:path>
                </a:pathLst>
              </a:custGeom>
              <a:solidFill>
                <a:srgbClr val="FF0D0D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3"/>
              <p:cNvSpPr/>
              <p:nvPr/>
            </p:nvSpPr>
            <p:spPr>
              <a:xfrm>
                <a:off x="2308860" y="865632"/>
                <a:ext cx="2677667" cy="1508759"/>
              </a:xfrm>
              <a:prstGeom prst="rect">
                <a:avLst/>
              </a:prstGeom>
              <a:blipFill>
                <a:blip r:embed="rId7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object 24"/>
              <p:cNvSpPr/>
              <p:nvPr/>
            </p:nvSpPr>
            <p:spPr>
              <a:xfrm>
                <a:off x="2347722" y="904494"/>
                <a:ext cx="2545080" cy="1376680"/>
              </a:xfrm>
              <a:custGeom>
                <a:avLst/>
                <a:gdLst/>
                <a:ahLst/>
                <a:cxnLst/>
                <a:rect l="l" t="t" r="r" b="b"/>
                <a:pathLst>
                  <a:path w="2545079" h="1376680">
                    <a:moveTo>
                      <a:pt x="0" y="229361"/>
                    </a:moveTo>
                    <a:lnTo>
                      <a:pt x="4662" y="183153"/>
                    </a:lnTo>
                    <a:lnTo>
                      <a:pt x="18032" y="140106"/>
                    </a:lnTo>
                    <a:lnTo>
                      <a:pt x="39185" y="101147"/>
                    </a:lnTo>
                    <a:lnTo>
                      <a:pt x="67198" y="67198"/>
                    </a:lnTo>
                    <a:lnTo>
                      <a:pt x="101147" y="39185"/>
                    </a:lnTo>
                    <a:lnTo>
                      <a:pt x="140106" y="18032"/>
                    </a:lnTo>
                    <a:lnTo>
                      <a:pt x="183153" y="4662"/>
                    </a:lnTo>
                    <a:lnTo>
                      <a:pt x="229361" y="0"/>
                    </a:lnTo>
                    <a:lnTo>
                      <a:pt x="2315717" y="0"/>
                    </a:lnTo>
                    <a:lnTo>
                      <a:pt x="2361926" y="4662"/>
                    </a:lnTo>
                    <a:lnTo>
                      <a:pt x="2404973" y="18032"/>
                    </a:lnTo>
                    <a:lnTo>
                      <a:pt x="2443932" y="39185"/>
                    </a:lnTo>
                    <a:lnTo>
                      <a:pt x="2477881" y="67198"/>
                    </a:lnTo>
                    <a:lnTo>
                      <a:pt x="2505894" y="101147"/>
                    </a:lnTo>
                    <a:lnTo>
                      <a:pt x="2527047" y="140106"/>
                    </a:lnTo>
                    <a:lnTo>
                      <a:pt x="2540417" y="183153"/>
                    </a:lnTo>
                    <a:lnTo>
                      <a:pt x="2545079" y="229361"/>
                    </a:lnTo>
                    <a:lnTo>
                      <a:pt x="2545079" y="1146809"/>
                    </a:lnTo>
                    <a:lnTo>
                      <a:pt x="2540417" y="1193018"/>
                    </a:lnTo>
                    <a:lnTo>
                      <a:pt x="2527047" y="1236065"/>
                    </a:lnTo>
                    <a:lnTo>
                      <a:pt x="2505894" y="1275024"/>
                    </a:lnTo>
                    <a:lnTo>
                      <a:pt x="2477881" y="1308973"/>
                    </a:lnTo>
                    <a:lnTo>
                      <a:pt x="2443932" y="1336986"/>
                    </a:lnTo>
                    <a:lnTo>
                      <a:pt x="2404973" y="1358139"/>
                    </a:lnTo>
                    <a:lnTo>
                      <a:pt x="2361926" y="1371509"/>
                    </a:lnTo>
                    <a:lnTo>
                      <a:pt x="2315717" y="1376171"/>
                    </a:lnTo>
                    <a:lnTo>
                      <a:pt x="229361" y="1376171"/>
                    </a:lnTo>
                    <a:lnTo>
                      <a:pt x="183153" y="1371509"/>
                    </a:lnTo>
                    <a:lnTo>
                      <a:pt x="140106" y="1358139"/>
                    </a:lnTo>
                    <a:lnTo>
                      <a:pt x="101147" y="1336986"/>
                    </a:lnTo>
                    <a:lnTo>
                      <a:pt x="67198" y="1308973"/>
                    </a:lnTo>
                    <a:lnTo>
                      <a:pt x="39185" y="1275024"/>
                    </a:lnTo>
                    <a:lnTo>
                      <a:pt x="18032" y="1236065"/>
                    </a:lnTo>
                    <a:lnTo>
                      <a:pt x="4662" y="1193018"/>
                    </a:lnTo>
                    <a:lnTo>
                      <a:pt x="0" y="1146809"/>
                    </a:lnTo>
                    <a:lnTo>
                      <a:pt x="0" y="229361"/>
                    </a:lnTo>
                    <a:close/>
                  </a:path>
                </a:pathLst>
              </a:custGeom>
              <a:ln w="25908">
                <a:solidFill>
                  <a:srgbClr val="A2A2A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25"/>
              <p:cNvSpPr/>
              <p:nvPr/>
            </p:nvSpPr>
            <p:spPr>
              <a:xfrm>
                <a:off x="4866132" y="1482852"/>
                <a:ext cx="1319784" cy="262127"/>
              </a:xfrm>
              <a:prstGeom prst="rect">
                <a:avLst/>
              </a:prstGeom>
              <a:blipFill>
                <a:blip r:embed="rId8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26"/>
              <p:cNvSpPr/>
              <p:nvPr/>
            </p:nvSpPr>
            <p:spPr>
              <a:xfrm>
                <a:off x="4892675" y="1548765"/>
                <a:ext cx="1135380" cy="78105"/>
              </a:xfrm>
              <a:custGeom>
                <a:avLst/>
                <a:gdLst/>
                <a:ahLst/>
                <a:cxnLst/>
                <a:rect l="l" t="t" r="r" b="b"/>
                <a:pathLst>
                  <a:path w="1135379" h="78105">
                    <a:moveTo>
                      <a:pt x="1109136" y="25781"/>
                    </a:moveTo>
                    <a:lnTo>
                      <a:pt x="1069975" y="25781"/>
                    </a:lnTo>
                    <a:lnTo>
                      <a:pt x="1070102" y="51688"/>
                    </a:lnTo>
                    <a:lnTo>
                      <a:pt x="1057147" y="51752"/>
                    </a:lnTo>
                    <a:lnTo>
                      <a:pt x="1057275" y="77724"/>
                    </a:lnTo>
                    <a:lnTo>
                      <a:pt x="1134872" y="38481"/>
                    </a:lnTo>
                    <a:lnTo>
                      <a:pt x="1109136" y="25781"/>
                    </a:lnTo>
                    <a:close/>
                  </a:path>
                  <a:path w="1135379" h="78105">
                    <a:moveTo>
                      <a:pt x="1057020" y="25844"/>
                    </a:moveTo>
                    <a:lnTo>
                      <a:pt x="0" y="30987"/>
                    </a:lnTo>
                    <a:lnTo>
                      <a:pt x="126" y="56896"/>
                    </a:lnTo>
                    <a:lnTo>
                      <a:pt x="1057147" y="51752"/>
                    </a:lnTo>
                    <a:lnTo>
                      <a:pt x="1057020" y="25844"/>
                    </a:lnTo>
                    <a:close/>
                  </a:path>
                  <a:path w="1135379" h="78105">
                    <a:moveTo>
                      <a:pt x="1069975" y="25781"/>
                    </a:moveTo>
                    <a:lnTo>
                      <a:pt x="1057020" y="25844"/>
                    </a:lnTo>
                    <a:lnTo>
                      <a:pt x="1057147" y="51752"/>
                    </a:lnTo>
                    <a:lnTo>
                      <a:pt x="1070102" y="51688"/>
                    </a:lnTo>
                    <a:lnTo>
                      <a:pt x="1069975" y="25781"/>
                    </a:lnTo>
                    <a:close/>
                  </a:path>
                  <a:path w="1135379" h="78105">
                    <a:moveTo>
                      <a:pt x="1056894" y="0"/>
                    </a:moveTo>
                    <a:lnTo>
                      <a:pt x="1057020" y="25844"/>
                    </a:lnTo>
                    <a:lnTo>
                      <a:pt x="1109136" y="25781"/>
                    </a:lnTo>
                    <a:lnTo>
                      <a:pt x="1056894" y="0"/>
                    </a:lnTo>
                    <a:close/>
                  </a:path>
                </a:pathLst>
              </a:custGeom>
              <a:solidFill>
                <a:srgbClr val="FF131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7" name="object 27"/>
            <p:cNvSpPr txBox="1"/>
            <p:nvPr/>
          </p:nvSpPr>
          <p:spPr>
            <a:xfrm>
              <a:off x="1147673" y="4368648"/>
              <a:ext cx="775970" cy="166071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000" spc="-5" dirty="0">
                  <a:latin typeface="Arial"/>
                  <a:cs typeface="Arial"/>
                </a:rPr>
                <a:t>Ad-hoc</a:t>
              </a:r>
              <a:r>
                <a:rPr sz="1000" spc="-75" dirty="0">
                  <a:latin typeface="Arial"/>
                  <a:cs typeface="Arial"/>
                </a:rPr>
                <a:t> </a:t>
              </a:r>
              <a:r>
                <a:rPr sz="1000" spc="-5" dirty="0">
                  <a:latin typeface="Arial"/>
                  <a:cs typeface="Arial"/>
                </a:rPr>
                <a:t>query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28" name="object 28"/>
            <p:cNvSpPr txBox="1"/>
            <p:nvPr/>
          </p:nvSpPr>
          <p:spPr>
            <a:xfrm>
              <a:off x="4965572" y="1415160"/>
              <a:ext cx="1022350" cy="473848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5080" indent="-1905" algn="ctr">
                <a:lnSpc>
                  <a:spcPct val="100000"/>
                </a:lnSpc>
                <a:spcBef>
                  <a:spcPts val="95"/>
                </a:spcBef>
              </a:pPr>
              <a:r>
                <a:rPr sz="1000" spc="-5" dirty="0">
                  <a:latin typeface="Arial"/>
                  <a:cs typeface="Arial"/>
                </a:rPr>
                <a:t>Flex Field </a:t>
              </a:r>
              <a:r>
                <a:rPr sz="1000" spc="-10" dirty="0">
                  <a:latin typeface="Arial"/>
                  <a:cs typeface="Arial"/>
                </a:rPr>
                <a:t>VO </a:t>
              </a:r>
              <a:r>
                <a:rPr sz="1000" spc="-5" dirty="0">
                  <a:latin typeface="Arial"/>
                  <a:cs typeface="Arial"/>
                </a:rPr>
                <a:t>s  Created </a:t>
              </a:r>
              <a:r>
                <a:rPr sz="1000" spc="-10" dirty="0">
                  <a:latin typeface="Arial"/>
                  <a:cs typeface="Arial"/>
                </a:rPr>
                <a:t>in</a:t>
              </a:r>
              <a:r>
                <a:rPr sz="1000" spc="-70" dirty="0">
                  <a:latin typeface="Arial"/>
                  <a:cs typeface="Arial"/>
                </a:rPr>
                <a:t> </a:t>
              </a:r>
              <a:r>
                <a:rPr sz="1000" spc="-5" dirty="0">
                  <a:latin typeface="Arial"/>
                  <a:cs typeface="Arial"/>
                </a:rPr>
                <a:t>Fusion  Database</a:t>
              </a:r>
              <a:endParaRPr sz="1000">
                <a:latin typeface="Arial"/>
                <a:cs typeface="Arial"/>
              </a:endParaRPr>
            </a:p>
          </p:txBody>
        </p:sp>
        <p:grpSp>
          <p:nvGrpSpPr>
            <p:cNvPr id="29" name="object 29"/>
            <p:cNvGrpSpPr/>
            <p:nvPr/>
          </p:nvGrpSpPr>
          <p:grpSpPr>
            <a:xfrm>
              <a:off x="2563367" y="2207513"/>
              <a:ext cx="2232660" cy="571500"/>
              <a:chOff x="2563367" y="1748027"/>
              <a:chExt cx="2232660" cy="571500"/>
            </a:xfrm>
          </p:grpSpPr>
          <p:sp>
            <p:nvSpPr>
              <p:cNvPr id="30" name="object 30"/>
              <p:cNvSpPr/>
              <p:nvPr/>
            </p:nvSpPr>
            <p:spPr>
              <a:xfrm>
                <a:off x="2563367" y="1748027"/>
                <a:ext cx="2232660" cy="537972"/>
              </a:xfrm>
              <a:prstGeom prst="rect">
                <a:avLst/>
              </a:prstGeom>
              <a:blipFill>
                <a:blip r:embed="rId9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1" name="object 31"/>
              <p:cNvSpPr/>
              <p:nvPr/>
            </p:nvSpPr>
            <p:spPr>
              <a:xfrm>
                <a:off x="2612135" y="1751075"/>
                <a:ext cx="2176272" cy="568451"/>
              </a:xfrm>
              <a:prstGeom prst="rect">
                <a:avLst/>
              </a:prstGeom>
              <a:blipFill>
                <a:blip r:embed="rId10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32" name="object 32"/>
            <p:cNvSpPr txBox="1"/>
            <p:nvPr/>
          </p:nvSpPr>
          <p:spPr>
            <a:xfrm>
              <a:off x="2589276" y="2233422"/>
              <a:ext cx="2125980" cy="382797"/>
            </a:xfrm>
            <a:prstGeom prst="rect">
              <a:avLst/>
            </a:prstGeom>
            <a:solidFill>
              <a:srgbClr val="FF1313"/>
            </a:solidFill>
          </p:spPr>
          <p:txBody>
            <a:bodyPr vert="horz" wrap="square" lIns="0" tIns="43815" rIns="0" bIns="0" rtlCol="0">
              <a:spAutoFit/>
            </a:bodyPr>
            <a:lstStyle/>
            <a:p>
              <a:pPr marL="238125" marR="120014" indent="-238125">
                <a:lnSpc>
                  <a:spcPct val="100000"/>
                </a:lnSpc>
                <a:spcBef>
                  <a:spcPts val="345"/>
                </a:spcBef>
                <a:buSzPct val="90909"/>
                <a:buFont typeface="Wingdings"/>
                <a:buChar char=""/>
                <a:tabLst>
                  <a:tab pos="238125" algn="l"/>
                </a:tabLst>
              </a:pPr>
              <a:r>
                <a:rPr sz="1100" spc="-5" dirty="0">
                  <a:solidFill>
                    <a:srgbClr val="FFFFFF"/>
                  </a:solidFill>
                  <a:latin typeface="Arial"/>
                  <a:cs typeface="Arial"/>
                </a:rPr>
                <a:t>Run BI Extender ESS </a:t>
              </a:r>
              <a:r>
                <a:rPr sz="1100" dirty="0">
                  <a:solidFill>
                    <a:srgbClr val="FFFFFF"/>
                  </a:solidFill>
                  <a:latin typeface="Arial"/>
                  <a:cs typeface="Arial"/>
                </a:rPr>
                <a:t>Job</a:t>
              </a:r>
              <a:r>
                <a:rPr sz="1100" spc="-45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100" dirty="0">
                  <a:solidFill>
                    <a:srgbClr val="FFFFFF"/>
                  </a:solidFill>
                  <a:latin typeface="Arial"/>
                  <a:cs typeface="Arial"/>
                </a:rPr>
                <a:t>to  </a:t>
              </a:r>
              <a:r>
                <a:rPr sz="1100" spc="-5" dirty="0">
                  <a:solidFill>
                    <a:srgbClr val="FFFFFF"/>
                  </a:solidFill>
                  <a:latin typeface="Arial"/>
                  <a:cs typeface="Arial"/>
                </a:rPr>
                <a:t>auto-extend</a:t>
              </a:r>
              <a:r>
                <a:rPr sz="1100" spc="-40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100" dirty="0">
                  <a:solidFill>
                    <a:srgbClr val="FFFFFF"/>
                  </a:solidFill>
                  <a:latin typeface="Arial"/>
                  <a:cs typeface="Arial"/>
                </a:rPr>
                <a:t>OTBI</a:t>
              </a:r>
              <a:endParaRPr sz="1100">
                <a:latin typeface="Arial"/>
                <a:cs typeface="Arial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4958334" y="2322576"/>
              <a:ext cx="1985010" cy="258445"/>
            </a:xfrm>
            <a:custGeom>
              <a:avLst/>
              <a:gdLst/>
              <a:ahLst/>
              <a:cxnLst/>
              <a:rect l="l" t="t" r="r" b="b"/>
              <a:pathLst>
                <a:path w="1985009" h="258444">
                  <a:moveTo>
                    <a:pt x="102996" y="138176"/>
                  </a:moveTo>
                  <a:lnTo>
                    <a:pt x="0" y="198247"/>
                  </a:lnTo>
                  <a:lnTo>
                    <a:pt x="102996" y="258445"/>
                  </a:lnTo>
                  <a:lnTo>
                    <a:pt x="110998" y="256412"/>
                  </a:lnTo>
                  <a:lnTo>
                    <a:pt x="118110" y="243967"/>
                  </a:lnTo>
                  <a:lnTo>
                    <a:pt x="116077" y="236093"/>
                  </a:lnTo>
                  <a:lnTo>
                    <a:pt x="73496" y="211201"/>
                  </a:lnTo>
                  <a:lnTo>
                    <a:pt x="25653" y="211201"/>
                  </a:lnTo>
                  <a:lnTo>
                    <a:pt x="25653" y="185293"/>
                  </a:lnTo>
                  <a:lnTo>
                    <a:pt x="73714" y="185293"/>
                  </a:lnTo>
                  <a:lnTo>
                    <a:pt x="116077" y="160528"/>
                  </a:lnTo>
                  <a:lnTo>
                    <a:pt x="118110" y="152654"/>
                  </a:lnTo>
                  <a:lnTo>
                    <a:pt x="110998" y="140208"/>
                  </a:lnTo>
                  <a:lnTo>
                    <a:pt x="102996" y="138176"/>
                  </a:lnTo>
                  <a:close/>
                </a:path>
                <a:path w="1985009" h="258444">
                  <a:moveTo>
                    <a:pt x="73714" y="185293"/>
                  </a:moveTo>
                  <a:lnTo>
                    <a:pt x="25653" y="185293"/>
                  </a:lnTo>
                  <a:lnTo>
                    <a:pt x="25653" y="211201"/>
                  </a:lnTo>
                  <a:lnTo>
                    <a:pt x="73496" y="211201"/>
                  </a:lnTo>
                  <a:lnTo>
                    <a:pt x="70666" y="209550"/>
                  </a:lnTo>
                  <a:lnTo>
                    <a:pt x="32130" y="209550"/>
                  </a:lnTo>
                  <a:lnTo>
                    <a:pt x="32130" y="187071"/>
                  </a:lnTo>
                  <a:lnTo>
                    <a:pt x="70666" y="187071"/>
                  </a:lnTo>
                  <a:lnTo>
                    <a:pt x="73714" y="185293"/>
                  </a:lnTo>
                  <a:close/>
                </a:path>
                <a:path w="1985009" h="258444">
                  <a:moveTo>
                    <a:pt x="1959101" y="185293"/>
                  </a:moveTo>
                  <a:lnTo>
                    <a:pt x="73714" y="185293"/>
                  </a:lnTo>
                  <a:lnTo>
                    <a:pt x="51398" y="198310"/>
                  </a:lnTo>
                  <a:lnTo>
                    <a:pt x="73496" y="211201"/>
                  </a:lnTo>
                  <a:lnTo>
                    <a:pt x="1979167" y="211201"/>
                  </a:lnTo>
                  <a:lnTo>
                    <a:pt x="1985010" y="205486"/>
                  </a:lnTo>
                  <a:lnTo>
                    <a:pt x="1985010" y="198247"/>
                  </a:lnTo>
                  <a:lnTo>
                    <a:pt x="1959101" y="198247"/>
                  </a:lnTo>
                  <a:lnTo>
                    <a:pt x="1959101" y="185293"/>
                  </a:lnTo>
                  <a:close/>
                </a:path>
                <a:path w="1985009" h="258444">
                  <a:moveTo>
                    <a:pt x="32130" y="187071"/>
                  </a:moveTo>
                  <a:lnTo>
                    <a:pt x="32130" y="209550"/>
                  </a:lnTo>
                  <a:lnTo>
                    <a:pt x="51398" y="198310"/>
                  </a:lnTo>
                  <a:lnTo>
                    <a:pt x="32130" y="187071"/>
                  </a:lnTo>
                  <a:close/>
                </a:path>
                <a:path w="1985009" h="258444">
                  <a:moveTo>
                    <a:pt x="51398" y="198310"/>
                  </a:moveTo>
                  <a:lnTo>
                    <a:pt x="32130" y="209550"/>
                  </a:lnTo>
                  <a:lnTo>
                    <a:pt x="70666" y="209550"/>
                  </a:lnTo>
                  <a:lnTo>
                    <a:pt x="51398" y="198310"/>
                  </a:lnTo>
                  <a:close/>
                </a:path>
                <a:path w="1985009" h="258444">
                  <a:moveTo>
                    <a:pt x="70666" y="187071"/>
                  </a:moveTo>
                  <a:lnTo>
                    <a:pt x="32130" y="187071"/>
                  </a:lnTo>
                  <a:lnTo>
                    <a:pt x="51398" y="198310"/>
                  </a:lnTo>
                  <a:lnTo>
                    <a:pt x="70666" y="187071"/>
                  </a:lnTo>
                  <a:close/>
                </a:path>
                <a:path w="1985009" h="258444">
                  <a:moveTo>
                    <a:pt x="1985010" y="0"/>
                  </a:moveTo>
                  <a:lnTo>
                    <a:pt x="1959101" y="0"/>
                  </a:lnTo>
                  <a:lnTo>
                    <a:pt x="1959101" y="198247"/>
                  </a:lnTo>
                  <a:lnTo>
                    <a:pt x="1972056" y="185293"/>
                  </a:lnTo>
                  <a:lnTo>
                    <a:pt x="1985010" y="185293"/>
                  </a:lnTo>
                  <a:lnTo>
                    <a:pt x="1985010" y="0"/>
                  </a:lnTo>
                  <a:close/>
                </a:path>
                <a:path w="1985009" h="258444">
                  <a:moveTo>
                    <a:pt x="1985010" y="185293"/>
                  </a:moveTo>
                  <a:lnTo>
                    <a:pt x="1972056" y="185293"/>
                  </a:lnTo>
                  <a:lnTo>
                    <a:pt x="1959101" y="198247"/>
                  </a:lnTo>
                  <a:lnTo>
                    <a:pt x="1985010" y="198247"/>
                  </a:lnTo>
                  <a:lnTo>
                    <a:pt x="1985010" y="185293"/>
                  </a:lnTo>
                  <a:close/>
                </a:path>
              </a:pathLst>
            </a:custGeom>
            <a:solidFill>
              <a:srgbClr val="FF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5255514" y="2561209"/>
              <a:ext cx="1684020" cy="166071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000" spc="-5" dirty="0">
                  <a:latin typeface="Arial"/>
                  <a:cs typeface="Arial"/>
                </a:rPr>
                <a:t>Retrieves Flex Field</a:t>
              </a:r>
              <a:r>
                <a:rPr sz="1000" spc="-35" dirty="0">
                  <a:latin typeface="Arial"/>
                  <a:cs typeface="Arial"/>
                </a:rPr>
                <a:t> </a:t>
              </a:r>
              <a:r>
                <a:rPr sz="1000" spc="-5" dirty="0">
                  <a:latin typeface="Arial"/>
                  <a:cs typeface="Arial"/>
                </a:rPr>
                <a:t>Changes</a:t>
              </a:r>
              <a:endParaRPr sz="1000">
                <a:latin typeface="Arial"/>
                <a:cs typeface="Arial"/>
              </a:endParaRPr>
            </a:p>
          </p:txBody>
        </p:sp>
        <p:grpSp>
          <p:nvGrpSpPr>
            <p:cNvPr id="35" name="object 35"/>
            <p:cNvGrpSpPr/>
            <p:nvPr/>
          </p:nvGrpSpPr>
          <p:grpSpPr>
            <a:xfrm>
              <a:off x="2566416" y="2727198"/>
              <a:ext cx="3587750" cy="2405380"/>
              <a:chOff x="2566416" y="2267711"/>
              <a:chExt cx="3587750" cy="2405380"/>
            </a:xfrm>
          </p:grpSpPr>
          <p:sp>
            <p:nvSpPr>
              <p:cNvPr id="36" name="object 36"/>
              <p:cNvSpPr/>
              <p:nvPr/>
            </p:nvSpPr>
            <p:spPr>
              <a:xfrm>
                <a:off x="2566416" y="3916679"/>
                <a:ext cx="3587496" cy="719327"/>
              </a:xfrm>
              <a:prstGeom prst="rect">
                <a:avLst/>
              </a:prstGeom>
              <a:blipFill>
                <a:blip r:embed="rId11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7" name="object 37"/>
              <p:cNvSpPr/>
              <p:nvPr/>
            </p:nvSpPr>
            <p:spPr>
              <a:xfrm>
                <a:off x="2589276" y="3913632"/>
                <a:ext cx="3450336" cy="758952"/>
              </a:xfrm>
              <a:prstGeom prst="rect">
                <a:avLst/>
              </a:prstGeom>
              <a:blipFill>
                <a:blip r:embed="rId1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" name="object 38"/>
              <p:cNvSpPr/>
              <p:nvPr/>
            </p:nvSpPr>
            <p:spPr>
              <a:xfrm>
                <a:off x="2592324" y="3942588"/>
                <a:ext cx="3481070" cy="612775"/>
              </a:xfrm>
              <a:custGeom>
                <a:avLst/>
                <a:gdLst/>
                <a:ahLst/>
                <a:cxnLst/>
                <a:rect l="l" t="t" r="r" b="b"/>
                <a:pathLst>
                  <a:path w="3481070" h="612775">
                    <a:moveTo>
                      <a:pt x="3480816" y="0"/>
                    </a:moveTo>
                    <a:lnTo>
                      <a:pt x="0" y="0"/>
                    </a:lnTo>
                    <a:lnTo>
                      <a:pt x="0" y="612648"/>
                    </a:lnTo>
                    <a:lnTo>
                      <a:pt x="3480816" y="612648"/>
                    </a:lnTo>
                    <a:lnTo>
                      <a:pt x="3480816" y="0"/>
                    </a:lnTo>
                    <a:close/>
                  </a:path>
                </a:pathLst>
              </a:custGeom>
              <a:solidFill>
                <a:srgbClr val="FF131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9" name="object 39"/>
              <p:cNvSpPr/>
              <p:nvPr/>
            </p:nvSpPr>
            <p:spPr>
              <a:xfrm>
                <a:off x="3852672" y="2267711"/>
                <a:ext cx="864108" cy="559307"/>
              </a:xfrm>
              <a:prstGeom prst="rect">
                <a:avLst/>
              </a:prstGeom>
              <a:blipFill>
                <a:blip r:embed="rId1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0" name="object 40"/>
              <p:cNvSpPr/>
              <p:nvPr/>
            </p:nvSpPr>
            <p:spPr>
              <a:xfrm>
                <a:off x="3878580" y="2294381"/>
                <a:ext cx="718820" cy="374650"/>
              </a:xfrm>
              <a:custGeom>
                <a:avLst/>
                <a:gdLst/>
                <a:ahLst/>
                <a:cxnLst/>
                <a:rect l="l" t="t" r="r" b="b"/>
                <a:pathLst>
                  <a:path w="718820" h="374650">
                    <a:moveTo>
                      <a:pt x="666496" y="296799"/>
                    </a:moveTo>
                    <a:lnTo>
                      <a:pt x="640588" y="296799"/>
                    </a:lnTo>
                    <a:lnTo>
                      <a:pt x="679450" y="374523"/>
                    </a:lnTo>
                    <a:lnTo>
                      <a:pt x="711771" y="309880"/>
                    </a:lnTo>
                    <a:lnTo>
                      <a:pt x="666496" y="309880"/>
                    </a:lnTo>
                    <a:lnTo>
                      <a:pt x="666496" y="296799"/>
                    </a:lnTo>
                    <a:close/>
                  </a:path>
                  <a:path w="718820" h="374650">
                    <a:moveTo>
                      <a:pt x="666496" y="187325"/>
                    </a:moveTo>
                    <a:lnTo>
                      <a:pt x="666496" y="309880"/>
                    </a:lnTo>
                    <a:lnTo>
                      <a:pt x="692404" y="309880"/>
                    </a:lnTo>
                    <a:lnTo>
                      <a:pt x="692404" y="200279"/>
                    </a:lnTo>
                    <a:lnTo>
                      <a:pt x="679450" y="200279"/>
                    </a:lnTo>
                    <a:lnTo>
                      <a:pt x="666496" y="187325"/>
                    </a:lnTo>
                    <a:close/>
                  </a:path>
                  <a:path w="718820" h="374650">
                    <a:moveTo>
                      <a:pt x="718312" y="296799"/>
                    </a:moveTo>
                    <a:lnTo>
                      <a:pt x="692404" y="296799"/>
                    </a:lnTo>
                    <a:lnTo>
                      <a:pt x="692404" y="309880"/>
                    </a:lnTo>
                    <a:lnTo>
                      <a:pt x="711771" y="309880"/>
                    </a:lnTo>
                    <a:lnTo>
                      <a:pt x="718312" y="296799"/>
                    </a:lnTo>
                    <a:close/>
                  </a:path>
                  <a:path w="718820" h="374650">
                    <a:moveTo>
                      <a:pt x="25908" y="0"/>
                    </a:moveTo>
                    <a:lnTo>
                      <a:pt x="0" y="0"/>
                    </a:lnTo>
                    <a:lnTo>
                      <a:pt x="0" y="194437"/>
                    </a:lnTo>
                    <a:lnTo>
                      <a:pt x="5842" y="200279"/>
                    </a:lnTo>
                    <a:lnTo>
                      <a:pt x="666496" y="200279"/>
                    </a:lnTo>
                    <a:lnTo>
                      <a:pt x="666496" y="187325"/>
                    </a:lnTo>
                    <a:lnTo>
                      <a:pt x="25908" y="187325"/>
                    </a:lnTo>
                    <a:lnTo>
                      <a:pt x="12954" y="174370"/>
                    </a:lnTo>
                    <a:lnTo>
                      <a:pt x="25908" y="174370"/>
                    </a:lnTo>
                    <a:lnTo>
                      <a:pt x="25908" y="0"/>
                    </a:lnTo>
                    <a:close/>
                  </a:path>
                  <a:path w="718820" h="374650">
                    <a:moveTo>
                      <a:pt x="686689" y="174370"/>
                    </a:moveTo>
                    <a:lnTo>
                      <a:pt x="25908" y="174370"/>
                    </a:lnTo>
                    <a:lnTo>
                      <a:pt x="25908" y="187325"/>
                    </a:lnTo>
                    <a:lnTo>
                      <a:pt x="666496" y="187325"/>
                    </a:lnTo>
                    <a:lnTo>
                      <a:pt x="679450" y="200279"/>
                    </a:lnTo>
                    <a:lnTo>
                      <a:pt x="692404" y="200279"/>
                    </a:lnTo>
                    <a:lnTo>
                      <a:pt x="692404" y="180086"/>
                    </a:lnTo>
                    <a:lnTo>
                      <a:pt x="686689" y="174370"/>
                    </a:lnTo>
                    <a:close/>
                  </a:path>
                  <a:path w="718820" h="374650">
                    <a:moveTo>
                      <a:pt x="25908" y="174370"/>
                    </a:moveTo>
                    <a:lnTo>
                      <a:pt x="12954" y="174370"/>
                    </a:lnTo>
                    <a:lnTo>
                      <a:pt x="25908" y="187325"/>
                    </a:lnTo>
                    <a:lnTo>
                      <a:pt x="25908" y="174370"/>
                    </a:lnTo>
                    <a:close/>
                  </a:path>
                </a:pathLst>
              </a:custGeom>
              <a:solidFill>
                <a:srgbClr val="FF131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1" name="object 41"/>
            <p:cNvSpPr txBox="1"/>
            <p:nvPr/>
          </p:nvSpPr>
          <p:spPr>
            <a:xfrm>
              <a:off x="2671700" y="4419550"/>
              <a:ext cx="3201035" cy="5668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900" b="1" spc="-5" dirty="0">
                  <a:solidFill>
                    <a:srgbClr val="FFFFFF"/>
                  </a:solidFill>
                  <a:latin typeface="Arial"/>
                  <a:cs typeface="Arial"/>
                </a:rPr>
                <a:t>BI Extender </a:t>
              </a:r>
              <a:r>
                <a:rPr sz="900" b="1" dirty="0">
                  <a:solidFill>
                    <a:srgbClr val="FFFFFF"/>
                  </a:solidFill>
                  <a:latin typeface="Arial"/>
                  <a:cs typeface="Arial"/>
                </a:rPr>
                <a:t>auto-extends </a:t>
              </a:r>
              <a:r>
                <a:rPr sz="900" b="1" spc="-5" dirty="0">
                  <a:solidFill>
                    <a:srgbClr val="FFFFFF"/>
                  </a:solidFill>
                  <a:latin typeface="Arial"/>
                  <a:cs typeface="Arial"/>
                </a:rPr>
                <a:t>flex </a:t>
              </a:r>
              <a:r>
                <a:rPr sz="900" b="1" dirty="0">
                  <a:solidFill>
                    <a:srgbClr val="FFFFFF"/>
                  </a:solidFill>
                  <a:latin typeface="Arial"/>
                  <a:cs typeface="Arial"/>
                </a:rPr>
                <a:t>fields in</a:t>
              </a:r>
              <a:r>
                <a:rPr sz="900" b="1" spc="-65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900" b="1" spc="-5" dirty="0">
                  <a:solidFill>
                    <a:srgbClr val="FFFFFF"/>
                  </a:solidFill>
                  <a:latin typeface="Arial"/>
                  <a:cs typeface="Arial"/>
                </a:rPr>
                <a:t>BI</a:t>
              </a:r>
              <a:endParaRPr sz="900">
                <a:latin typeface="Arial"/>
                <a:cs typeface="Arial"/>
              </a:endParaRPr>
            </a:p>
            <a:p>
              <a:pPr marL="127000" indent="-114300">
                <a:lnSpc>
                  <a:spcPct val="100000"/>
                </a:lnSpc>
                <a:buFont typeface="Arial"/>
                <a:buChar char="•"/>
                <a:tabLst>
                  <a:tab pos="127000" algn="l"/>
                </a:tabLst>
              </a:pPr>
              <a:r>
                <a:rPr sz="900" b="1" dirty="0">
                  <a:solidFill>
                    <a:srgbClr val="FFFFFF"/>
                  </a:solidFill>
                  <a:latin typeface="Arial"/>
                  <a:cs typeface="Arial"/>
                </a:rPr>
                <a:t>Import </a:t>
              </a:r>
              <a:r>
                <a:rPr sz="900" b="1" spc="-5" dirty="0">
                  <a:solidFill>
                    <a:srgbClr val="FFFFFF"/>
                  </a:solidFill>
                  <a:latin typeface="Arial"/>
                  <a:cs typeface="Arial"/>
                </a:rPr>
                <a:t>Flex </a:t>
              </a:r>
              <a:r>
                <a:rPr sz="900" b="1" dirty="0">
                  <a:solidFill>
                    <a:srgbClr val="FFFFFF"/>
                  </a:solidFill>
                  <a:latin typeface="Arial"/>
                  <a:cs typeface="Arial"/>
                </a:rPr>
                <a:t>Field View </a:t>
              </a:r>
              <a:r>
                <a:rPr sz="900" b="1" spc="-5" dirty="0">
                  <a:solidFill>
                    <a:srgbClr val="FFFFFF"/>
                  </a:solidFill>
                  <a:latin typeface="Arial"/>
                  <a:cs typeface="Arial"/>
                </a:rPr>
                <a:t>Objects </a:t>
              </a:r>
              <a:r>
                <a:rPr sz="900" b="1" dirty="0">
                  <a:solidFill>
                    <a:srgbClr val="FFFFFF"/>
                  </a:solidFill>
                  <a:latin typeface="Arial"/>
                  <a:cs typeface="Arial"/>
                </a:rPr>
                <a:t>to </a:t>
              </a:r>
              <a:r>
                <a:rPr sz="900" b="1" spc="-5" dirty="0">
                  <a:solidFill>
                    <a:srgbClr val="FFFFFF"/>
                  </a:solidFill>
                  <a:latin typeface="Arial"/>
                  <a:cs typeface="Arial"/>
                </a:rPr>
                <a:t>BI</a:t>
              </a:r>
              <a:r>
                <a:rPr sz="900" b="1" spc="-55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900" b="1" spc="-5" dirty="0">
                  <a:solidFill>
                    <a:srgbClr val="FFFFFF"/>
                  </a:solidFill>
                  <a:latin typeface="Arial"/>
                  <a:cs typeface="Arial"/>
                </a:rPr>
                <a:t>Repository</a:t>
              </a:r>
              <a:endParaRPr sz="900">
                <a:latin typeface="Arial"/>
                <a:cs typeface="Arial"/>
              </a:endParaRPr>
            </a:p>
            <a:p>
              <a:pPr marL="127000" indent="-114300">
                <a:lnSpc>
                  <a:spcPct val="100000"/>
                </a:lnSpc>
                <a:buFont typeface="Arial"/>
                <a:buChar char="•"/>
                <a:tabLst>
                  <a:tab pos="127000" algn="l"/>
                </a:tabLst>
              </a:pPr>
              <a:r>
                <a:rPr sz="900" b="1" dirty="0">
                  <a:solidFill>
                    <a:srgbClr val="FFFFFF"/>
                  </a:solidFill>
                  <a:latin typeface="Arial"/>
                  <a:cs typeface="Arial"/>
                </a:rPr>
                <a:t>Map Logical and Presentation </a:t>
              </a:r>
              <a:r>
                <a:rPr sz="900" b="1" spc="-10" dirty="0">
                  <a:solidFill>
                    <a:srgbClr val="FFFFFF"/>
                  </a:solidFill>
                  <a:latin typeface="Arial"/>
                  <a:cs typeface="Arial"/>
                </a:rPr>
                <a:t>Layers </a:t>
              </a:r>
              <a:r>
                <a:rPr sz="900" b="1" dirty="0">
                  <a:solidFill>
                    <a:srgbClr val="FFFFFF"/>
                  </a:solidFill>
                  <a:latin typeface="Arial"/>
                  <a:cs typeface="Arial"/>
                </a:rPr>
                <a:t>based on</a:t>
              </a:r>
              <a:r>
                <a:rPr sz="900" b="1" spc="-85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900" b="1" dirty="0">
                  <a:solidFill>
                    <a:srgbClr val="FFFFFF"/>
                  </a:solidFill>
                  <a:latin typeface="Arial"/>
                  <a:cs typeface="Arial"/>
                </a:rPr>
                <a:t>mapping</a:t>
              </a:r>
              <a:endParaRPr sz="900">
                <a:latin typeface="Arial"/>
                <a:cs typeface="Arial"/>
              </a:endParaRPr>
            </a:p>
            <a:p>
              <a:pPr marL="127000">
                <a:lnSpc>
                  <a:spcPct val="100000"/>
                </a:lnSpc>
              </a:pPr>
              <a:r>
                <a:rPr sz="900" b="1" spc="-5" dirty="0">
                  <a:solidFill>
                    <a:srgbClr val="FFFFFF"/>
                  </a:solidFill>
                  <a:latin typeface="Arial"/>
                  <a:cs typeface="Arial"/>
                </a:rPr>
                <a:t>rules</a:t>
              </a:r>
              <a:endParaRPr sz="900">
                <a:latin typeface="Arial"/>
                <a:cs typeface="Arial"/>
              </a:endParaRPr>
            </a:p>
          </p:txBody>
        </p:sp>
        <p:sp>
          <p:nvSpPr>
            <p:cNvPr id="43" name="object 43"/>
            <p:cNvSpPr txBox="1"/>
            <p:nvPr/>
          </p:nvSpPr>
          <p:spPr>
            <a:xfrm>
              <a:off x="221995" y="4398214"/>
              <a:ext cx="779780" cy="18210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100" spc="-5" dirty="0">
                  <a:solidFill>
                    <a:srgbClr val="424545"/>
                  </a:solidFill>
                  <a:latin typeface="Arial"/>
                  <a:cs typeface="Arial"/>
                </a:rPr>
                <a:t>Fusion</a:t>
              </a:r>
              <a:r>
                <a:rPr sz="1100" spc="-45" dirty="0">
                  <a:solidFill>
                    <a:srgbClr val="424545"/>
                  </a:solidFill>
                  <a:latin typeface="Arial"/>
                  <a:cs typeface="Arial"/>
                </a:rPr>
                <a:t> </a:t>
              </a:r>
              <a:r>
                <a:rPr sz="1100" spc="-5" dirty="0">
                  <a:solidFill>
                    <a:srgbClr val="424545"/>
                  </a:solidFill>
                  <a:latin typeface="Arial"/>
                  <a:cs typeface="Arial"/>
                </a:rPr>
                <a:t>User</a:t>
              </a:r>
              <a:endParaRPr sz="1100">
                <a:latin typeface="Arial"/>
                <a:cs typeface="Arial"/>
              </a:endParaRPr>
            </a:p>
          </p:txBody>
        </p:sp>
        <p:grpSp>
          <p:nvGrpSpPr>
            <p:cNvPr id="44" name="object 44"/>
            <p:cNvGrpSpPr/>
            <p:nvPr/>
          </p:nvGrpSpPr>
          <p:grpSpPr>
            <a:xfrm>
              <a:off x="220979" y="3203448"/>
              <a:ext cx="5840730" cy="1183640"/>
              <a:chOff x="220979" y="2743961"/>
              <a:chExt cx="5840730" cy="1183640"/>
            </a:xfrm>
          </p:grpSpPr>
          <p:sp>
            <p:nvSpPr>
              <p:cNvPr id="45" name="object 45"/>
              <p:cNvSpPr/>
              <p:nvPr/>
            </p:nvSpPr>
            <p:spPr>
              <a:xfrm>
                <a:off x="233204" y="3345656"/>
                <a:ext cx="857979" cy="581691"/>
              </a:xfrm>
              <a:prstGeom prst="rect">
                <a:avLst/>
              </a:prstGeom>
              <a:blipFill>
                <a:blip r:embed="rId1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6" name="object 46"/>
              <p:cNvSpPr/>
              <p:nvPr/>
            </p:nvSpPr>
            <p:spPr>
              <a:xfrm>
                <a:off x="220979" y="3352799"/>
                <a:ext cx="789432" cy="493775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7" name="object 47"/>
              <p:cNvSpPr/>
              <p:nvPr/>
            </p:nvSpPr>
            <p:spPr>
              <a:xfrm>
                <a:off x="2579369" y="2743961"/>
                <a:ext cx="3482340" cy="459105"/>
              </a:xfrm>
              <a:custGeom>
                <a:avLst/>
                <a:gdLst/>
                <a:ahLst/>
                <a:cxnLst/>
                <a:rect l="l" t="t" r="r" b="b"/>
                <a:pathLst>
                  <a:path w="3482340" h="459105">
                    <a:moveTo>
                      <a:pt x="3482339" y="0"/>
                    </a:moveTo>
                    <a:lnTo>
                      <a:pt x="0" y="0"/>
                    </a:lnTo>
                    <a:lnTo>
                      <a:pt x="0" y="458724"/>
                    </a:lnTo>
                    <a:lnTo>
                      <a:pt x="3482339" y="458724"/>
                    </a:lnTo>
                    <a:lnTo>
                      <a:pt x="3482339" y="0"/>
                    </a:lnTo>
                    <a:close/>
                  </a:path>
                </a:pathLst>
              </a:custGeom>
              <a:solidFill>
                <a:srgbClr val="8AAAC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8" name="object 48"/>
            <p:cNvSpPr txBox="1"/>
            <p:nvPr/>
          </p:nvSpPr>
          <p:spPr>
            <a:xfrm>
              <a:off x="2579370" y="3203448"/>
              <a:ext cx="3482340" cy="317395"/>
            </a:xfrm>
            <a:prstGeom prst="rect">
              <a:avLst/>
            </a:prstGeom>
            <a:ln w="25907">
              <a:solidFill>
                <a:srgbClr val="99A3B7"/>
              </a:solidFill>
            </a:ln>
          </p:spPr>
          <p:txBody>
            <a:bodyPr vert="horz" wrap="square" lIns="0" tIns="190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5"/>
                </a:spcBef>
              </a:pPr>
              <a:endParaRPr sz="950">
                <a:latin typeface="Times New Roman"/>
                <a:cs typeface="Times New Roman"/>
              </a:endParaRPr>
            </a:p>
            <a:p>
              <a:pPr marL="831215" indent="-111125">
                <a:lnSpc>
                  <a:spcPct val="100000"/>
                </a:lnSpc>
                <a:buSzPct val="90909"/>
                <a:buFont typeface="Wingdings"/>
                <a:buChar char=""/>
                <a:tabLst>
                  <a:tab pos="831850" algn="l"/>
                </a:tabLst>
              </a:pPr>
              <a:r>
                <a:rPr sz="1100" dirty="0">
                  <a:solidFill>
                    <a:srgbClr val="FFFFFF"/>
                  </a:solidFill>
                  <a:latin typeface="Arial"/>
                  <a:cs typeface="Arial"/>
                </a:rPr>
                <a:t>OBIEE Common </a:t>
              </a:r>
              <a:r>
                <a:rPr sz="1100" spc="-5" dirty="0">
                  <a:solidFill>
                    <a:srgbClr val="FFFFFF"/>
                  </a:solidFill>
                  <a:latin typeface="Arial"/>
                  <a:cs typeface="Arial"/>
                </a:rPr>
                <a:t>Logical</a:t>
              </a:r>
              <a:r>
                <a:rPr sz="1100" spc="-50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100" spc="-5" dirty="0">
                  <a:solidFill>
                    <a:srgbClr val="FFFFFF"/>
                  </a:solidFill>
                  <a:latin typeface="Arial"/>
                  <a:cs typeface="Arial"/>
                </a:rPr>
                <a:t>Model</a:t>
              </a:r>
              <a:endParaRPr sz="1100">
                <a:latin typeface="Arial"/>
                <a:cs typeface="Arial"/>
              </a:endParaRPr>
            </a:p>
          </p:txBody>
        </p:sp>
        <p:grpSp>
          <p:nvGrpSpPr>
            <p:cNvPr id="49" name="object 49"/>
            <p:cNvGrpSpPr/>
            <p:nvPr/>
          </p:nvGrpSpPr>
          <p:grpSpPr>
            <a:xfrm>
              <a:off x="2609088" y="3687318"/>
              <a:ext cx="1149350" cy="769620"/>
              <a:chOff x="2609088" y="3227832"/>
              <a:chExt cx="1149350" cy="769620"/>
            </a:xfrm>
          </p:grpSpPr>
          <p:sp>
            <p:nvSpPr>
              <p:cNvPr id="50" name="object 50"/>
              <p:cNvSpPr/>
              <p:nvPr/>
            </p:nvSpPr>
            <p:spPr>
              <a:xfrm>
                <a:off x="2609088" y="3227832"/>
                <a:ext cx="1149096" cy="769620"/>
              </a:xfrm>
              <a:prstGeom prst="rect">
                <a:avLst/>
              </a:prstGeom>
              <a:blipFill>
                <a:blip r:embed="rId1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1" name="object 51"/>
              <p:cNvSpPr/>
              <p:nvPr/>
            </p:nvSpPr>
            <p:spPr>
              <a:xfrm>
                <a:off x="2653284" y="3346704"/>
                <a:ext cx="1097280" cy="568451"/>
              </a:xfrm>
              <a:prstGeom prst="rect">
                <a:avLst/>
              </a:prstGeom>
              <a:blipFill>
                <a:blip r:embed="rId1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2" name="object 52"/>
              <p:cNvSpPr/>
              <p:nvPr/>
            </p:nvSpPr>
            <p:spPr>
              <a:xfrm>
                <a:off x="2634996" y="3253740"/>
                <a:ext cx="1042669" cy="662940"/>
              </a:xfrm>
              <a:custGeom>
                <a:avLst/>
                <a:gdLst/>
                <a:ahLst/>
                <a:cxnLst/>
                <a:rect l="l" t="t" r="r" b="b"/>
                <a:pathLst>
                  <a:path w="1042670" h="662939">
                    <a:moveTo>
                      <a:pt x="1042416" y="0"/>
                    </a:moveTo>
                    <a:lnTo>
                      <a:pt x="0" y="0"/>
                    </a:lnTo>
                    <a:lnTo>
                      <a:pt x="0" y="662940"/>
                    </a:lnTo>
                    <a:lnTo>
                      <a:pt x="1042416" y="662940"/>
                    </a:lnTo>
                    <a:lnTo>
                      <a:pt x="1042416" y="0"/>
                    </a:lnTo>
                    <a:close/>
                  </a:path>
                </a:pathLst>
              </a:custGeom>
              <a:solidFill>
                <a:srgbClr val="000000">
                  <a:alpha val="41960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3" name="object 53"/>
            <p:cNvSpPr txBox="1"/>
            <p:nvPr/>
          </p:nvSpPr>
          <p:spPr>
            <a:xfrm>
              <a:off x="2750949" y="3860292"/>
              <a:ext cx="812165" cy="35137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230504" marR="5080" indent="-218440">
                <a:lnSpc>
                  <a:spcPct val="100000"/>
                </a:lnSpc>
                <a:spcBef>
                  <a:spcPts val="100"/>
                </a:spcBef>
              </a:pPr>
              <a:r>
                <a:rPr sz="1100" spc="-5" dirty="0">
                  <a:solidFill>
                    <a:srgbClr val="FFFFFF"/>
                  </a:solidFill>
                  <a:latin typeface="Arial"/>
                  <a:cs typeface="Arial"/>
                </a:rPr>
                <a:t>P</a:t>
              </a:r>
              <a:r>
                <a:rPr sz="1100" dirty="0">
                  <a:solidFill>
                    <a:srgbClr val="FFFFFF"/>
                  </a:solidFill>
                  <a:latin typeface="Arial"/>
                  <a:cs typeface="Arial"/>
                </a:rPr>
                <a:t>res</a:t>
              </a:r>
              <a:r>
                <a:rPr sz="1100" spc="-5" dirty="0">
                  <a:solidFill>
                    <a:srgbClr val="FFFFFF"/>
                  </a:solidFill>
                  <a:latin typeface="Arial"/>
                  <a:cs typeface="Arial"/>
                </a:rPr>
                <a:t>e</a:t>
              </a:r>
              <a:r>
                <a:rPr sz="1100" dirty="0">
                  <a:solidFill>
                    <a:srgbClr val="FFFFFF"/>
                  </a:solidFill>
                  <a:latin typeface="Arial"/>
                  <a:cs typeface="Arial"/>
                </a:rPr>
                <a:t>nta</a:t>
              </a:r>
              <a:r>
                <a:rPr sz="1100" spc="5" dirty="0">
                  <a:solidFill>
                    <a:srgbClr val="FFFFFF"/>
                  </a:solidFill>
                  <a:latin typeface="Arial"/>
                  <a:cs typeface="Arial"/>
                </a:rPr>
                <a:t>t</a:t>
              </a:r>
              <a:r>
                <a:rPr sz="1100" spc="-10" dirty="0">
                  <a:solidFill>
                    <a:srgbClr val="FFFFFF"/>
                  </a:solidFill>
                  <a:latin typeface="Arial"/>
                  <a:cs typeface="Arial"/>
                </a:rPr>
                <a:t>i</a:t>
              </a:r>
              <a:r>
                <a:rPr sz="1100" dirty="0">
                  <a:solidFill>
                    <a:srgbClr val="FFFFFF"/>
                  </a:solidFill>
                  <a:latin typeface="Arial"/>
                  <a:cs typeface="Arial"/>
                </a:rPr>
                <a:t>on  </a:t>
              </a:r>
              <a:r>
                <a:rPr sz="1100" spc="-5" dirty="0">
                  <a:solidFill>
                    <a:srgbClr val="FFFFFF"/>
                  </a:solidFill>
                  <a:latin typeface="Arial"/>
                  <a:cs typeface="Arial"/>
                </a:rPr>
                <a:t>Layer</a:t>
              </a:r>
              <a:endParaRPr sz="1100">
                <a:latin typeface="Arial"/>
                <a:cs typeface="Arial"/>
              </a:endParaRPr>
            </a:p>
          </p:txBody>
        </p:sp>
        <p:grpSp>
          <p:nvGrpSpPr>
            <p:cNvPr id="54" name="object 54"/>
            <p:cNvGrpSpPr/>
            <p:nvPr/>
          </p:nvGrpSpPr>
          <p:grpSpPr>
            <a:xfrm>
              <a:off x="3767328" y="3675125"/>
              <a:ext cx="1149350" cy="769620"/>
              <a:chOff x="3767328" y="3215639"/>
              <a:chExt cx="1149350" cy="769620"/>
            </a:xfrm>
          </p:grpSpPr>
          <p:sp>
            <p:nvSpPr>
              <p:cNvPr id="55" name="object 55"/>
              <p:cNvSpPr/>
              <p:nvPr/>
            </p:nvSpPr>
            <p:spPr>
              <a:xfrm>
                <a:off x="3767328" y="3215639"/>
                <a:ext cx="1149096" cy="769620"/>
              </a:xfrm>
              <a:prstGeom prst="rect">
                <a:avLst/>
              </a:prstGeom>
              <a:blipFill>
                <a:blip r:embed="rId1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6" name="object 56"/>
              <p:cNvSpPr/>
              <p:nvPr/>
            </p:nvSpPr>
            <p:spPr>
              <a:xfrm>
                <a:off x="3788664" y="3419855"/>
                <a:ext cx="1106424" cy="399288"/>
              </a:xfrm>
              <a:prstGeom prst="rect">
                <a:avLst/>
              </a:prstGeom>
              <a:blipFill>
                <a:blip r:embed="rId17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7" name="object 57"/>
              <p:cNvSpPr/>
              <p:nvPr/>
            </p:nvSpPr>
            <p:spPr>
              <a:xfrm>
                <a:off x="3793236" y="3241547"/>
                <a:ext cx="1042669" cy="662940"/>
              </a:xfrm>
              <a:custGeom>
                <a:avLst/>
                <a:gdLst/>
                <a:ahLst/>
                <a:cxnLst/>
                <a:rect l="l" t="t" r="r" b="b"/>
                <a:pathLst>
                  <a:path w="1042670" h="662939">
                    <a:moveTo>
                      <a:pt x="1042415" y="0"/>
                    </a:moveTo>
                    <a:lnTo>
                      <a:pt x="0" y="0"/>
                    </a:lnTo>
                    <a:lnTo>
                      <a:pt x="0" y="662939"/>
                    </a:lnTo>
                    <a:lnTo>
                      <a:pt x="1042415" y="662939"/>
                    </a:lnTo>
                    <a:lnTo>
                      <a:pt x="1042415" y="0"/>
                    </a:lnTo>
                    <a:close/>
                  </a:path>
                </a:pathLst>
              </a:custGeom>
              <a:solidFill>
                <a:srgbClr val="000000">
                  <a:alpha val="41960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8" name="object 58"/>
            <p:cNvSpPr txBox="1"/>
            <p:nvPr/>
          </p:nvSpPr>
          <p:spPr>
            <a:xfrm>
              <a:off x="3886327" y="3932123"/>
              <a:ext cx="857250" cy="182742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1100" spc="-5" dirty="0">
                  <a:solidFill>
                    <a:srgbClr val="FFFFFF"/>
                  </a:solidFill>
                  <a:latin typeface="Arial"/>
                  <a:cs typeface="Arial"/>
                </a:rPr>
                <a:t>Logical</a:t>
              </a:r>
              <a:r>
                <a:rPr sz="1100" spc="-35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100" spc="-5" dirty="0">
                  <a:solidFill>
                    <a:srgbClr val="FFFFFF"/>
                  </a:solidFill>
                  <a:latin typeface="Arial"/>
                  <a:cs typeface="Arial"/>
                </a:rPr>
                <a:t>Layer</a:t>
              </a:r>
              <a:endParaRPr sz="1100">
                <a:latin typeface="Arial"/>
                <a:cs typeface="Arial"/>
              </a:endParaRPr>
            </a:p>
          </p:txBody>
        </p:sp>
        <p:grpSp>
          <p:nvGrpSpPr>
            <p:cNvPr id="59" name="object 59"/>
            <p:cNvGrpSpPr/>
            <p:nvPr/>
          </p:nvGrpSpPr>
          <p:grpSpPr>
            <a:xfrm>
              <a:off x="4925567" y="3687318"/>
              <a:ext cx="1149350" cy="769620"/>
              <a:chOff x="4925567" y="3227832"/>
              <a:chExt cx="1149350" cy="769620"/>
            </a:xfrm>
          </p:grpSpPr>
          <p:sp>
            <p:nvSpPr>
              <p:cNvPr id="60" name="object 60"/>
              <p:cNvSpPr/>
              <p:nvPr/>
            </p:nvSpPr>
            <p:spPr>
              <a:xfrm>
                <a:off x="4925567" y="3227832"/>
                <a:ext cx="1149096" cy="769620"/>
              </a:xfrm>
              <a:prstGeom prst="rect">
                <a:avLst/>
              </a:prstGeom>
              <a:blipFill>
                <a:blip r:embed="rId1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1" name="object 61"/>
              <p:cNvSpPr/>
              <p:nvPr/>
            </p:nvSpPr>
            <p:spPr>
              <a:xfrm>
                <a:off x="5103875" y="3346704"/>
                <a:ext cx="835151" cy="568451"/>
              </a:xfrm>
              <a:prstGeom prst="rect">
                <a:avLst/>
              </a:prstGeom>
              <a:blipFill>
                <a:blip r:embed="rId18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2" name="object 62"/>
              <p:cNvSpPr/>
              <p:nvPr/>
            </p:nvSpPr>
            <p:spPr>
              <a:xfrm>
                <a:off x="4951475" y="3253740"/>
                <a:ext cx="1042669" cy="662940"/>
              </a:xfrm>
              <a:custGeom>
                <a:avLst/>
                <a:gdLst/>
                <a:ahLst/>
                <a:cxnLst/>
                <a:rect l="l" t="t" r="r" b="b"/>
                <a:pathLst>
                  <a:path w="1042670" h="662939">
                    <a:moveTo>
                      <a:pt x="1042415" y="0"/>
                    </a:moveTo>
                    <a:lnTo>
                      <a:pt x="0" y="0"/>
                    </a:lnTo>
                    <a:lnTo>
                      <a:pt x="0" y="662940"/>
                    </a:lnTo>
                    <a:lnTo>
                      <a:pt x="1042415" y="662940"/>
                    </a:lnTo>
                    <a:lnTo>
                      <a:pt x="1042415" y="0"/>
                    </a:lnTo>
                    <a:close/>
                  </a:path>
                </a:pathLst>
              </a:custGeom>
              <a:solidFill>
                <a:srgbClr val="000000">
                  <a:alpha val="41960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3" name="object 63"/>
            <p:cNvSpPr txBox="1"/>
            <p:nvPr/>
          </p:nvSpPr>
          <p:spPr>
            <a:xfrm>
              <a:off x="5201539" y="3860292"/>
              <a:ext cx="546100" cy="35137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96520" marR="5080" indent="-84455">
                <a:lnSpc>
                  <a:spcPct val="100000"/>
                </a:lnSpc>
                <a:spcBef>
                  <a:spcPts val="100"/>
                </a:spcBef>
              </a:pPr>
              <a:r>
                <a:rPr sz="1100" dirty="0">
                  <a:solidFill>
                    <a:srgbClr val="FFFFFF"/>
                  </a:solidFill>
                  <a:latin typeface="Arial"/>
                  <a:cs typeface="Arial"/>
                </a:rPr>
                <a:t>Ph</a:t>
              </a:r>
              <a:r>
                <a:rPr sz="1100" spc="-15" dirty="0">
                  <a:solidFill>
                    <a:srgbClr val="FFFFFF"/>
                  </a:solidFill>
                  <a:latin typeface="Arial"/>
                  <a:cs typeface="Arial"/>
                </a:rPr>
                <a:t>y</a:t>
              </a:r>
              <a:r>
                <a:rPr sz="1100" dirty="0">
                  <a:solidFill>
                    <a:srgbClr val="FFFFFF"/>
                  </a:solidFill>
                  <a:latin typeface="Arial"/>
                  <a:cs typeface="Arial"/>
                </a:rPr>
                <a:t>sical  </a:t>
              </a:r>
              <a:r>
                <a:rPr sz="1100" spc="-5" dirty="0">
                  <a:solidFill>
                    <a:srgbClr val="FFFFFF"/>
                  </a:solidFill>
                  <a:latin typeface="Arial"/>
                  <a:cs typeface="Arial"/>
                </a:rPr>
                <a:t>Layer</a:t>
              </a:r>
              <a:endParaRPr sz="1100">
                <a:latin typeface="Arial"/>
                <a:cs typeface="Arial"/>
              </a:endParaRPr>
            </a:p>
          </p:txBody>
        </p:sp>
        <p:grpSp>
          <p:nvGrpSpPr>
            <p:cNvPr id="64" name="object 64"/>
            <p:cNvGrpSpPr/>
            <p:nvPr/>
          </p:nvGrpSpPr>
          <p:grpSpPr>
            <a:xfrm>
              <a:off x="2330195" y="3006090"/>
              <a:ext cx="6725920" cy="2156460"/>
              <a:chOff x="2330195" y="2546604"/>
              <a:chExt cx="6725920" cy="2156460"/>
            </a:xfrm>
          </p:grpSpPr>
          <p:sp>
            <p:nvSpPr>
              <p:cNvPr id="65" name="object 65"/>
              <p:cNvSpPr/>
              <p:nvPr/>
            </p:nvSpPr>
            <p:spPr>
              <a:xfrm>
                <a:off x="2330195" y="2631948"/>
                <a:ext cx="3988307" cy="2071116"/>
              </a:xfrm>
              <a:prstGeom prst="rect">
                <a:avLst/>
              </a:prstGeom>
              <a:blipFill>
                <a:blip r:embed="rId19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6" name="object 66"/>
              <p:cNvSpPr/>
              <p:nvPr/>
            </p:nvSpPr>
            <p:spPr>
              <a:xfrm>
                <a:off x="2369057" y="2670810"/>
                <a:ext cx="3855720" cy="1938655"/>
              </a:xfrm>
              <a:custGeom>
                <a:avLst/>
                <a:gdLst/>
                <a:ahLst/>
                <a:cxnLst/>
                <a:rect l="l" t="t" r="r" b="b"/>
                <a:pathLst>
                  <a:path w="3855720" h="1938654">
                    <a:moveTo>
                      <a:pt x="0" y="323088"/>
                    </a:moveTo>
                    <a:lnTo>
                      <a:pt x="3503" y="275344"/>
                    </a:lnTo>
                    <a:lnTo>
                      <a:pt x="13679" y="229776"/>
                    </a:lnTo>
                    <a:lnTo>
                      <a:pt x="30028" y="186882"/>
                    </a:lnTo>
                    <a:lnTo>
                      <a:pt x="52051" y="147163"/>
                    </a:lnTo>
                    <a:lnTo>
                      <a:pt x="79248" y="111119"/>
                    </a:lnTo>
                    <a:lnTo>
                      <a:pt x="111119" y="79248"/>
                    </a:lnTo>
                    <a:lnTo>
                      <a:pt x="147163" y="52051"/>
                    </a:lnTo>
                    <a:lnTo>
                      <a:pt x="186882" y="30028"/>
                    </a:lnTo>
                    <a:lnTo>
                      <a:pt x="229776" y="13679"/>
                    </a:lnTo>
                    <a:lnTo>
                      <a:pt x="275344" y="3503"/>
                    </a:lnTo>
                    <a:lnTo>
                      <a:pt x="323088" y="0"/>
                    </a:lnTo>
                    <a:lnTo>
                      <a:pt x="3532631" y="0"/>
                    </a:lnTo>
                    <a:lnTo>
                      <a:pt x="3580375" y="3503"/>
                    </a:lnTo>
                    <a:lnTo>
                      <a:pt x="3625943" y="13679"/>
                    </a:lnTo>
                    <a:lnTo>
                      <a:pt x="3668837" y="30028"/>
                    </a:lnTo>
                    <a:lnTo>
                      <a:pt x="3708556" y="52051"/>
                    </a:lnTo>
                    <a:lnTo>
                      <a:pt x="3744600" y="79248"/>
                    </a:lnTo>
                    <a:lnTo>
                      <a:pt x="3776471" y="111119"/>
                    </a:lnTo>
                    <a:lnTo>
                      <a:pt x="3803668" y="147163"/>
                    </a:lnTo>
                    <a:lnTo>
                      <a:pt x="3825691" y="186882"/>
                    </a:lnTo>
                    <a:lnTo>
                      <a:pt x="3842040" y="229776"/>
                    </a:lnTo>
                    <a:lnTo>
                      <a:pt x="3852216" y="275344"/>
                    </a:lnTo>
                    <a:lnTo>
                      <a:pt x="3855720" y="323088"/>
                    </a:lnTo>
                    <a:lnTo>
                      <a:pt x="3855720" y="1615427"/>
                    </a:lnTo>
                    <a:lnTo>
                      <a:pt x="3852216" y="1663173"/>
                    </a:lnTo>
                    <a:lnTo>
                      <a:pt x="3842040" y="1708744"/>
                    </a:lnTo>
                    <a:lnTo>
                      <a:pt x="3825691" y="1751640"/>
                    </a:lnTo>
                    <a:lnTo>
                      <a:pt x="3803668" y="1791360"/>
                    </a:lnTo>
                    <a:lnTo>
                      <a:pt x="3776471" y="1827406"/>
                    </a:lnTo>
                    <a:lnTo>
                      <a:pt x="3744600" y="1859278"/>
                    </a:lnTo>
                    <a:lnTo>
                      <a:pt x="3708556" y="1886475"/>
                    </a:lnTo>
                    <a:lnTo>
                      <a:pt x="3668837" y="1908498"/>
                    </a:lnTo>
                    <a:lnTo>
                      <a:pt x="3625943" y="1924848"/>
                    </a:lnTo>
                    <a:lnTo>
                      <a:pt x="3580375" y="1935024"/>
                    </a:lnTo>
                    <a:lnTo>
                      <a:pt x="3532631" y="1938527"/>
                    </a:lnTo>
                    <a:lnTo>
                      <a:pt x="323088" y="1938527"/>
                    </a:lnTo>
                    <a:lnTo>
                      <a:pt x="275344" y="1935024"/>
                    </a:lnTo>
                    <a:lnTo>
                      <a:pt x="229776" y="1924848"/>
                    </a:lnTo>
                    <a:lnTo>
                      <a:pt x="186882" y="1908498"/>
                    </a:lnTo>
                    <a:lnTo>
                      <a:pt x="147163" y="1886475"/>
                    </a:lnTo>
                    <a:lnTo>
                      <a:pt x="111119" y="1859278"/>
                    </a:lnTo>
                    <a:lnTo>
                      <a:pt x="79248" y="1827406"/>
                    </a:lnTo>
                    <a:lnTo>
                      <a:pt x="52051" y="1791360"/>
                    </a:lnTo>
                    <a:lnTo>
                      <a:pt x="30028" y="1751640"/>
                    </a:lnTo>
                    <a:lnTo>
                      <a:pt x="13679" y="1708744"/>
                    </a:lnTo>
                    <a:lnTo>
                      <a:pt x="3503" y="1663173"/>
                    </a:lnTo>
                    <a:lnTo>
                      <a:pt x="0" y="1615427"/>
                    </a:lnTo>
                    <a:lnTo>
                      <a:pt x="0" y="323088"/>
                    </a:lnTo>
                    <a:close/>
                  </a:path>
                </a:pathLst>
              </a:custGeom>
              <a:ln w="25908">
                <a:solidFill>
                  <a:srgbClr val="A2A2A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7" name="object 67"/>
              <p:cNvSpPr/>
              <p:nvPr/>
            </p:nvSpPr>
            <p:spPr>
              <a:xfrm>
                <a:off x="6608761" y="2582313"/>
                <a:ext cx="2430082" cy="1780898"/>
              </a:xfrm>
              <a:prstGeom prst="rect">
                <a:avLst/>
              </a:prstGeom>
              <a:blipFill>
                <a:blip r:embed="rId20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8" name="object 68"/>
              <p:cNvSpPr/>
              <p:nvPr/>
            </p:nvSpPr>
            <p:spPr>
              <a:xfrm>
                <a:off x="6557772" y="2546604"/>
                <a:ext cx="2497835" cy="1508760"/>
              </a:xfrm>
              <a:prstGeom prst="rect">
                <a:avLst/>
              </a:prstGeom>
              <a:blipFill>
                <a:blip r:embed="rId21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9" name="object 69"/>
            <p:cNvSpPr txBox="1"/>
            <p:nvPr/>
          </p:nvSpPr>
          <p:spPr>
            <a:xfrm>
              <a:off x="6615685" y="3048763"/>
              <a:ext cx="2342515" cy="1272784"/>
            </a:xfrm>
            <a:prstGeom prst="rect">
              <a:avLst/>
            </a:prstGeom>
            <a:solidFill>
              <a:srgbClr val="ECECEC"/>
            </a:solidFill>
          </p:spPr>
          <p:txBody>
            <a:bodyPr vert="horz" wrap="square" lIns="0" tIns="41275" rIns="0" bIns="0" rtlCol="0">
              <a:spAutoFit/>
            </a:bodyPr>
            <a:lstStyle/>
            <a:p>
              <a:pPr marL="92075">
                <a:lnSpc>
                  <a:spcPct val="100000"/>
                </a:lnSpc>
                <a:spcBef>
                  <a:spcPts val="325"/>
                </a:spcBef>
              </a:pPr>
              <a:r>
                <a:rPr sz="1600" u="heavy" spc="-5" dirty="0"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</a:rPr>
                <a:t>Job</a:t>
              </a:r>
              <a:r>
                <a:rPr sz="1600" u="heavy" spc="-10" dirty="0"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</a:rPr>
                <a:t> </a:t>
              </a:r>
              <a:r>
                <a:rPr sz="1600" u="heavy" spc="-5" dirty="0"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</a:rPr>
                <a:t>Name:</a:t>
              </a:r>
              <a:endParaRPr sz="1600">
                <a:latin typeface="Arial"/>
                <a:cs typeface="Arial"/>
              </a:endParaRPr>
            </a:p>
            <a:p>
              <a:pPr marL="92075" marR="151765">
                <a:lnSpc>
                  <a:spcPct val="100000"/>
                </a:lnSpc>
              </a:pPr>
              <a:r>
                <a:rPr sz="1600" spc="-5" dirty="0">
                  <a:latin typeface="Arial"/>
                  <a:cs typeface="Arial"/>
                </a:rPr>
                <a:t>Import Oracle Fusion  Data Extensions for  </a:t>
              </a:r>
              <a:r>
                <a:rPr sz="1600" spc="-10" dirty="0">
                  <a:latin typeface="Arial"/>
                  <a:cs typeface="Arial"/>
                </a:rPr>
                <a:t>Transactional </a:t>
              </a:r>
              <a:r>
                <a:rPr sz="1600" spc="-5" dirty="0">
                  <a:latin typeface="Arial"/>
                  <a:cs typeface="Arial"/>
                </a:rPr>
                <a:t>Business  Intelligence</a:t>
              </a:r>
              <a:endParaRPr sz="1600">
                <a:latin typeface="Arial"/>
                <a:cs typeface="Arial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3385" y="376080"/>
            <a:ext cx="690181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Duty Roles Control </a:t>
            </a:r>
            <a:r>
              <a:rPr sz="2800" spc="-10" dirty="0"/>
              <a:t>OTBI </a:t>
            </a:r>
            <a:r>
              <a:rPr sz="2800" spc="-5" dirty="0"/>
              <a:t>Object</a:t>
            </a:r>
            <a:r>
              <a:rPr sz="2800" spc="85" dirty="0"/>
              <a:t> </a:t>
            </a:r>
            <a:r>
              <a:rPr sz="2800" spc="-5" dirty="0"/>
              <a:t>Security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222250" y="2291842"/>
            <a:ext cx="3609340" cy="1244600"/>
            <a:chOff x="222250" y="1936750"/>
            <a:chExt cx="3609340" cy="1244600"/>
          </a:xfrm>
        </p:grpSpPr>
        <p:sp>
          <p:nvSpPr>
            <p:cNvPr id="6" name="object 6"/>
            <p:cNvSpPr/>
            <p:nvPr/>
          </p:nvSpPr>
          <p:spPr>
            <a:xfrm>
              <a:off x="228600" y="1943100"/>
              <a:ext cx="1064260" cy="1231900"/>
            </a:xfrm>
            <a:custGeom>
              <a:avLst/>
              <a:gdLst/>
              <a:ahLst/>
              <a:cxnLst/>
              <a:rect l="l" t="t" r="r" b="b"/>
              <a:pathLst>
                <a:path w="1064260" h="1231900">
                  <a:moveTo>
                    <a:pt x="0" y="122174"/>
                  </a:moveTo>
                  <a:lnTo>
                    <a:pt x="9596" y="74634"/>
                  </a:lnTo>
                  <a:lnTo>
                    <a:pt x="35767" y="35798"/>
                  </a:lnTo>
                  <a:lnTo>
                    <a:pt x="74586" y="9606"/>
                  </a:lnTo>
                  <a:lnTo>
                    <a:pt x="122123" y="0"/>
                  </a:lnTo>
                  <a:lnTo>
                    <a:pt x="941628" y="0"/>
                  </a:lnTo>
                  <a:lnTo>
                    <a:pt x="989165" y="9606"/>
                  </a:lnTo>
                  <a:lnTo>
                    <a:pt x="1027984" y="35798"/>
                  </a:lnTo>
                  <a:lnTo>
                    <a:pt x="1054155" y="74634"/>
                  </a:lnTo>
                  <a:lnTo>
                    <a:pt x="1063752" y="122174"/>
                  </a:lnTo>
                  <a:lnTo>
                    <a:pt x="1063752" y="1109218"/>
                  </a:lnTo>
                  <a:lnTo>
                    <a:pt x="1054155" y="1156757"/>
                  </a:lnTo>
                  <a:lnTo>
                    <a:pt x="1027984" y="1195593"/>
                  </a:lnTo>
                  <a:lnTo>
                    <a:pt x="989165" y="1221785"/>
                  </a:lnTo>
                  <a:lnTo>
                    <a:pt x="941628" y="1231392"/>
                  </a:lnTo>
                  <a:lnTo>
                    <a:pt x="122123" y="1231392"/>
                  </a:lnTo>
                  <a:lnTo>
                    <a:pt x="74586" y="1221785"/>
                  </a:lnTo>
                  <a:lnTo>
                    <a:pt x="35767" y="1195593"/>
                  </a:lnTo>
                  <a:lnTo>
                    <a:pt x="9596" y="1156757"/>
                  </a:lnTo>
                  <a:lnTo>
                    <a:pt x="0" y="1109218"/>
                  </a:lnTo>
                  <a:lnTo>
                    <a:pt x="0" y="122174"/>
                  </a:lnTo>
                  <a:close/>
                </a:path>
              </a:pathLst>
            </a:custGeom>
            <a:ln w="12192">
              <a:solidFill>
                <a:srgbClr val="777777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5571" y="2191511"/>
              <a:ext cx="681228" cy="8214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67127" y="1937003"/>
              <a:ext cx="1650492" cy="122834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154935" y="2109215"/>
              <a:ext cx="1676400" cy="91744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09800" y="1956816"/>
              <a:ext cx="1565275" cy="1143000"/>
            </a:xfrm>
            <a:custGeom>
              <a:avLst/>
              <a:gdLst/>
              <a:ahLst/>
              <a:cxnLst/>
              <a:rect l="l" t="t" r="r" b="b"/>
              <a:pathLst>
                <a:path w="1565275" h="1143000">
                  <a:moveTo>
                    <a:pt x="1493647" y="0"/>
                  </a:moveTo>
                  <a:lnTo>
                    <a:pt x="71500" y="0"/>
                  </a:lnTo>
                  <a:lnTo>
                    <a:pt x="57513" y="3692"/>
                  </a:lnTo>
                  <a:lnTo>
                    <a:pt x="31871" y="31986"/>
                  </a:lnTo>
                  <a:lnTo>
                    <a:pt x="12001" y="84808"/>
                  </a:lnTo>
                  <a:lnTo>
                    <a:pt x="1381" y="153158"/>
                  </a:lnTo>
                  <a:lnTo>
                    <a:pt x="0" y="190500"/>
                  </a:lnTo>
                  <a:lnTo>
                    <a:pt x="0" y="952500"/>
                  </a:lnTo>
                  <a:lnTo>
                    <a:pt x="5429" y="1025397"/>
                  </a:lnTo>
                  <a:lnTo>
                    <a:pt x="20955" y="1087246"/>
                  </a:lnTo>
                  <a:lnTo>
                    <a:pt x="44180" y="1128506"/>
                  </a:lnTo>
                  <a:lnTo>
                    <a:pt x="71500" y="1143000"/>
                  </a:lnTo>
                  <a:lnTo>
                    <a:pt x="1493647" y="1143000"/>
                  </a:lnTo>
                  <a:lnTo>
                    <a:pt x="1533276" y="1111013"/>
                  </a:lnTo>
                  <a:lnTo>
                    <a:pt x="1553146" y="1058191"/>
                  </a:lnTo>
                  <a:lnTo>
                    <a:pt x="1563766" y="989841"/>
                  </a:lnTo>
                  <a:lnTo>
                    <a:pt x="1565148" y="952500"/>
                  </a:lnTo>
                  <a:lnTo>
                    <a:pt x="1565148" y="190500"/>
                  </a:lnTo>
                  <a:lnTo>
                    <a:pt x="1559718" y="117601"/>
                  </a:lnTo>
                  <a:lnTo>
                    <a:pt x="1544192" y="55752"/>
                  </a:lnTo>
                  <a:lnTo>
                    <a:pt x="1520967" y="14493"/>
                  </a:lnTo>
                  <a:lnTo>
                    <a:pt x="1493647" y="0"/>
                  </a:lnTo>
                  <a:close/>
                </a:path>
              </a:pathLst>
            </a:custGeom>
            <a:solidFill>
              <a:srgbClr val="7C73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291588" y="2466569"/>
            <a:ext cx="1403350" cy="743793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83820" indent="-71755">
              <a:lnSpc>
                <a:spcPct val="100000"/>
              </a:lnSpc>
              <a:spcBef>
                <a:spcPts val="520"/>
              </a:spcBef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Fusion Job</a:t>
            </a:r>
            <a:r>
              <a:rPr sz="14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Role</a:t>
            </a:r>
            <a:endParaRPr sz="1400">
              <a:latin typeface="Arial"/>
              <a:cs typeface="Arial"/>
            </a:endParaRPr>
          </a:p>
          <a:p>
            <a:pPr marL="384175" marR="75565" indent="-300355">
              <a:lnSpc>
                <a:spcPts val="1510"/>
              </a:lnSpc>
              <a:spcBef>
                <a:spcPts val="610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sati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n  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Analyst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2284" y="3657676"/>
            <a:ext cx="56451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"/>
                <a:cs typeface="Arial"/>
              </a:rPr>
              <a:t>U</a:t>
            </a:r>
            <a:r>
              <a:rPr sz="2000" spc="5" dirty="0">
                <a:latin typeface="Arial"/>
                <a:cs typeface="Arial"/>
              </a:rPr>
              <a:t>s</a:t>
            </a:r>
            <a:r>
              <a:rPr sz="2000" dirty="0">
                <a:latin typeface="Arial"/>
                <a:cs typeface="Arial"/>
              </a:rPr>
              <a:t>er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724400" y="2292096"/>
            <a:ext cx="1651000" cy="1247140"/>
            <a:chOff x="4724400" y="1937004"/>
            <a:chExt cx="1651000" cy="1247140"/>
          </a:xfrm>
        </p:grpSpPr>
        <p:sp>
          <p:nvSpPr>
            <p:cNvPr id="14" name="object 14"/>
            <p:cNvSpPr/>
            <p:nvPr/>
          </p:nvSpPr>
          <p:spPr>
            <a:xfrm>
              <a:off x="4724400" y="1937004"/>
              <a:ext cx="1650492" cy="124663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83835" y="2022348"/>
              <a:ext cx="1578864" cy="110947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67071" y="1956816"/>
              <a:ext cx="1565275" cy="1161415"/>
            </a:xfrm>
            <a:custGeom>
              <a:avLst/>
              <a:gdLst/>
              <a:ahLst/>
              <a:cxnLst/>
              <a:rect l="l" t="t" r="r" b="b"/>
              <a:pathLst>
                <a:path w="1565275" h="1161414">
                  <a:moveTo>
                    <a:pt x="1493647" y="0"/>
                  </a:moveTo>
                  <a:lnTo>
                    <a:pt x="71500" y="0"/>
                  </a:lnTo>
                  <a:lnTo>
                    <a:pt x="57513" y="3760"/>
                  </a:lnTo>
                  <a:lnTo>
                    <a:pt x="31871" y="32521"/>
                  </a:lnTo>
                  <a:lnTo>
                    <a:pt x="12001" y="86141"/>
                  </a:lnTo>
                  <a:lnTo>
                    <a:pt x="1381" y="155618"/>
                  </a:lnTo>
                  <a:lnTo>
                    <a:pt x="0" y="193547"/>
                  </a:lnTo>
                  <a:lnTo>
                    <a:pt x="0" y="967739"/>
                  </a:lnTo>
                  <a:lnTo>
                    <a:pt x="5429" y="1041812"/>
                  </a:lnTo>
                  <a:lnTo>
                    <a:pt x="20954" y="1104645"/>
                  </a:lnTo>
                  <a:lnTo>
                    <a:pt x="44180" y="1146540"/>
                  </a:lnTo>
                  <a:lnTo>
                    <a:pt x="71500" y="1161288"/>
                  </a:lnTo>
                  <a:lnTo>
                    <a:pt x="1493647" y="1161288"/>
                  </a:lnTo>
                  <a:lnTo>
                    <a:pt x="1533276" y="1128766"/>
                  </a:lnTo>
                  <a:lnTo>
                    <a:pt x="1553146" y="1075146"/>
                  </a:lnTo>
                  <a:lnTo>
                    <a:pt x="1563766" y="1005669"/>
                  </a:lnTo>
                  <a:lnTo>
                    <a:pt x="1565148" y="967739"/>
                  </a:lnTo>
                  <a:lnTo>
                    <a:pt x="1565148" y="193547"/>
                  </a:lnTo>
                  <a:lnTo>
                    <a:pt x="1559718" y="119475"/>
                  </a:lnTo>
                  <a:lnTo>
                    <a:pt x="1544192" y="56641"/>
                  </a:lnTo>
                  <a:lnTo>
                    <a:pt x="1520967" y="14747"/>
                  </a:lnTo>
                  <a:lnTo>
                    <a:pt x="1493647" y="0"/>
                  </a:lnTo>
                  <a:close/>
                </a:path>
              </a:pathLst>
            </a:custGeom>
            <a:solidFill>
              <a:srgbClr val="7C73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921122" y="2379460"/>
            <a:ext cx="1261110" cy="935513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15"/>
              </a:spcBef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BI Duty</a:t>
            </a:r>
            <a:r>
              <a:rPr sz="1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Role</a:t>
            </a:r>
            <a:endParaRPr sz="1400">
              <a:latin typeface="Arial"/>
              <a:cs typeface="Arial"/>
            </a:endParaRPr>
          </a:p>
          <a:p>
            <a:pPr marL="12700" marR="5080" algn="ctr">
              <a:lnSpc>
                <a:spcPts val="1510"/>
              </a:lnSpc>
              <a:spcBef>
                <a:spcPts val="610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1400" b="1" spc="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sa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n 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Transaction  Analysis</a:t>
            </a:r>
            <a:r>
              <a:rPr sz="1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Duty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292354" y="2877440"/>
            <a:ext cx="892175" cy="103505"/>
          </a:xfrm>
          <a:custGeom>
            <a:avLst/>
            <a:gdLst/>
            <a:ahLst/>
            <a:cxnLst/>
            <a:rect l="l" t="t" r="r" b="b"/>
            <a:pathLst>
              <a:path w="892175" h="103505">
                <a:moveTo>
                  <a:pt x="867065" y="51688"/>
                </a:moveTo>
                <a:lnTo>
                  <a:pt x="797179" y="92455"/>
                </a:lnTo>
                <a:lnTo>
                  <a:pt x="796162" y="96265"/>
                </a:lnTo>
                <a:lnTo>
                  <a:pt x="799718" y="102361"/>
                </a:lnTo>
                <a:lnTo>
                  <a:pt x="803529" y="103377"/>
                </a:lnTo>
                <a:lnTo>
                  <a:pt x="881284" y="58038"/>
                </a:lnTo>
                <a:lnTo>
                  <a:pt x="879602" y="58038"/>
                </a:lnTo>
                <a:lnTo>
                  <a:pt x="879602" y="57150"/>
                </a:lnTo>
                <a:lnTo>
                  <a:pt x="876427" y="57150"/>
                </a:lnTo>
                <a:lnTo>
                  <a:pt x="867065" y="51688"/>
                </a:lnTo>
                <a:close/>
              </a:path>
              <a:path w="892175" h="103505">
                <a:moveTo>
                  <a:pt x="856179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856179" y="58038"/>
                </a:lnTo>
                <a:lnTo>
                  <a:pt x="867065" y="51688"/>
                </a:lnTo>
                <a:lnTo>
                  <a:pt x="856179" y="45338"/>
                </a:lnTo>
                <a:close/>
              </a:path>
              <a:path w="892175" h="103505">
                <a:moveTo>
                  <a:pt x="881284" y="45338"/>
                </a:moveTo>
                <a:lnTo>
                  <a:pt x="879602" y="45338"/>
                </a:lnTo>
                <a:lnTo>
                  <a:pt x="879602" y="58038"/>
                </a:lnTo>
                <a:lnTo>
                  <a:pt x="881284" y="58038"/>
                </a:lnTo>
                <a:lnTo>
                  <a:pt x="892174" y="51688"/>
                </a:lnTo>
                <a:lnTo>
                  <a:pt x="881284" y="45338"/>
                </a:lnTo>
                <a:close/>
              </a:path>
              <a:path w="892175" h="103505">
                <a:moveTo>
                  <a:pt x="876427" y="46227"/>
                </a:moveTo>
                <a:lnTo>
                  <a:pt x="867065" y="51688"/>
                </a:lnTo>
                <a:lnTo>
                  <a:pt x="876427" y="57150"/>
                </a:lnTo>
                <a:lnTo>
                  <a:pt x="876427" y="46227"/>
                </a:lnTo>
                <a:close/>
              </a:path>
              <a:path w="892175" h="103505">
                <a:moveTo>
                  <a:pt x="879602" y="46227"/>
                </a:moveTo>
                <a:lnTo>
                  <a:pt x="876427" y="46227"/>
                </a:lnTo>
                <a:lnTo>
                  <a:pt x="876427" y="57150"/>
                </a:lnTo>
                <a:lnTo>
                  <a:pt x="879602" y="57150"/>
                </a:lnTo>
                <a:lnTo>
                  <a:pt x="879602" y="46227"/>
                </a:lnTo>
                <a:close/>
              </a:path>
              <a:path w="892175" h="103505">
                <a:moveTo>
                  <a:pt x="803529" y="0"/>
                </a:moveTo>
                <a:lnTo>
                  <a:pt x="799718" y="1015"/>
                </a:lnTo>
                <a:lnTo>
                  <a:pt x="796162" y="7111"/>
                </a:lnTo>
                <a:lnTo>
                  <a:pt x="797179" y="10921"/>
                </a:lnTo>
                <a:lnTo>
                  <a:pt x="867065" y="51688"/>
                </a:lnTo>
                <a:lnTo>
                  <a:pt x="876427" y="46227"/>
                </a:lnTo>
                <a:lnTo>
                  <a:pt x="879602" y="46227"/>
                </a:lnTo>
                <a:lnTo>
                  <a:pt x="879602" y="45338"/>
                </a:lnTo>
                <a:lnTo>
                  <a:pt x="881284" y="45338"/>
                </a:lnTo>
                <a:lnTo>
                  <a:pt x="803529" y="0"/>
                </a:lnTo>
                <a:close/>
              </a:path>
            </a:pathLst>
          </a:custGeom>
          <a:solidFill>
            <a:srgbClr val="7C73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400685" y="2482672"/>
            <a:ext cx="70802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1313"/>
                </a:solidFill>
                <a:latin typeface="Arial"/>
                <a:cs typeface="Arial"/>
              </a:rPr>
              <a:t>Is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solidFill>
                  <a:srgbClr val="FF1313"/>
                </a:solidFill>
                <a:latin typeface="Arial"/>
                <a:cs typeface="Arial"/>
              </a:rPr>
              <a:t>Assigned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49040" y="2877440"/>
            <a:ext cx="971550" cy="103505"/>
          </a:xfrm>
          <a:custGeom>
            <a:avLst/>
            <a:gdLst/>
            <a:ahLst/>
            <a:cxnLst/>
            <a:rect l="l" t="t" r="r" b="b"/>
            <a:pathLst>
              <a:path w="971550" h="103505">
                <a:moveTo>
                  <a:pt x="946440" y="51688"/>
                </a:moveTo>
                <a:lnTo>
                  <a:pt x="876554" y="92455"/>
                </a:lnTo>
                <a:lnTo>
                  <a:pt x="875538" y="96265"/>
                </a:lnTo>
                <a:lnTo>
                  <a:pt x="879094" y="102361"/>
                </a:lnTo>
                <a:lnTo>
                  <a:pt x="882904" y="103377"/>
                </a:lnTo>
                <a:lnTo>
                  <a:pt x="960659" y="58038"/>
                </a:lnTo>
                <a:lnTo>
                  <a:pt x="958976" y="58038"/>
                </a:lnTo>
                <a:lnTo>
                  <a:pt x="958976" y="57150"/>
                </a:lnTo>
                <a:lnTo>
                  <a:pt x="955801" y="57150"/>
                </a:lnTo>
                <a:lnTo>
                  <a:pt x="946440" y="51688"/>
                </a:lnTo>
                <a:close/>
              </a:path>
              <a:path w="971550" h="103505">
                <a:moveTo>
                  <a:pt x="935554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935554" y="58038"/>
                </a:lnTo>
                <a:lnTo>
                  <a:pt x="946440" y="51688"/>
                </a:lnTo>
                <a:lnTo>
                  <a:pt x="935554" y="45338"/>
                </a:lnTo>
                <a:close/>
              </a:path>
              <a:path w="971550" h="103505">
                <a:moveTo>
                  <a:pt x="960659" y="45338"/>
                </a:moveTo>
                <a:lnTo>
                  <a:pt x="958976" y="45338"/>
                </a:lnTo>
                <a:lnTo>
                  <a:pt x="958976" y="58038"/>
                </a:lnTo>
                <a:lnTo>
                  <a:pt x="960659" y="58038"/>
                </a:lnTo>
                <a:lnTo>
                  <a:pt x="971550" y="51688"/>
                </a:lnTo>
                <a:lnTo>
                  <a:pt x="960659" y="45338"/>
                </a:lnTo>
                <a:close/>
              </a:path>
              <a:path w="971550" h="103505">
                <a:moveTo>
                  <a:pt x="955801" y="46227"/>
                </a:moveTo>
                <a:lnTo>
                  <a:pt x="946440" y="51688"/>
                </a:lnTo>
                <a:lnTo>
                  <a:pt x="955801" y="57150"/>
                </a:lnTo>
                <a:lnTo>
                  <a:pt x="955801" y="46227"/>
                </a:lnTo>
                <a:close/>
              </a:path>
              <a:path w="971550" h="103505">
                <a:moveTo>
                  <a:pt x="958976" y="46227"/>
                </a:moveTo>
                <a:lnTo>
                  <a:pt x="955801" y="46227"/>
                </a:lnTo>
                <a:lnTo>
                  <a:pt x="955801" y="57150"/>
                </a:lnTo>
                <a:lnTo>
                  <a:pt x="958976" y="57150"/>
                </a:lnTo>
                <a:lnTo>
                  <a:pt x="958976" y="46227"/>
                </a:lnTo>
                <a:close/>
              </a:path>
              <a:path w="971550" h="103505">
                <a:moveTo>
                  <a:pt x="882904" y="0"/>
                </a:moveTo>
                <a:lnTo>
                  <a:pt x="879094" y="1015"/>
                </a:lnTo>
                <a:lnTo>
                  <a:pt x="875538" y="7111"/>
                </a:lnTo>
                <a:lnTo>
                  <a:pt x="876554" y="10921"/>
                </a:lnTo>
                <a:lnTo>
                  <a:pt x="946440" y="51688"/>
                </a:lnTo>
                <a:lnTo>
                  <a:pt x="955801" y="46227"/>
                </a:lnTo>
                <a:lnTo>
                  <a:pt x="958976" y="46227"/>
                </a:lnTo>
                <a:lnTo>
                  <a:pt x="958976" y="45338"/>
                </a:lnTo>
                <a:lnTo>
                  <a:pt x="960659" y="45338"/>
                </a:lnTo>
                <a:lnTo>
                  <a:pt x="882904" y="0"/>
                </a:lnTo>
                <a:close/>
              </a:path>
            </a:pathLst>
          </a:custGeom>
          <a:solidFill>
            <a:srgbClr val="7C73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866134" y="2506725"/>
            <a:ext cx="83566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635" marR="5080" indent="-24257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solidFill>
                  <a:srgbClr val="FF1313"/>
                </a:solidFill>
                <a:latin typeface="Arial"/>
                <a:cs typeface="Arial"/>
              </a:rPr>
              <a:t>A</a:t>
            </a:r>
            <a:r>
              <a:rPr sz="1200" b="1" spc="-5" dirty="0">
                <a:solidFill>
                  <a:srgbClr val="FF1313"/>
                </a:solidFill>
                <a:latin typeface="Arial"/>
                <a:cs typeface="Arial"/>
              </a:rPr>
              <a:t>ssoci</a:t>
            </a:r>
            <a:r>
              <a:rPr sz="1200" b="1" dirty="0">
                <a:solidFill>
                  <a:srgbClr val="FF1313"/>
                </a:solidFill>
                <a:latin typeface="Arial"/>
                <a:cs typeface="Arial"/>
              </a:rPr>
              <a:t>a</a:t>
            </a:r>
            <a:r>
              <a:rPr sz="1200" b="1" spc="-5" dirty="0">
                <a:solidFill>
                  <a:srgbClr val="FF1313"/>
                </a:solidFill>
                <a:latin typeface="Arial"/>
                <a:cs typeface="Arial"/>
              </a:rPr>
              <a:t>ted  With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682740" y="1749552"/>
            <a:ext cx="2313940" cy="906780"/>
            <a:chOff x="6682740" y="1394460"/>
            <a:chExt cx="2313940" cy="906780"/>
          </a:xfrm>
        </p:grpSpPr>
        <p:sp>
          <p:nvSpPr>
            <p:cNvPr id="23" name="object 23"/>
            <p:cNvSpPr/>
            <p:nvPr/>
          </p:nvSpPr>
          <p:spPr>
            <a:xfrm>
              <a:off x="6718484" y="1422535"/>
              <a:ext cx="2277687" cy="83298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682740" y="1394460"/>
              <a:ext cx="2264663" cy="9067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725413" y="1784603"/>
            <a:ext cx="2190115" cy="686726"/>
          </a:xfrm>
          <a:prstGeom prst="rect">
            <a:avLst/>
          </a:prstGeom>
          <a:solidFill>
            <a:srgbClr val="FF1313"/>
          </a:solidFill>
        </p:spPr>
        <p:txBody>
          <a:bodyPr vert="horz" wrap="square" lIns="0" tIns="400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5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Subject</a:t>
            </a:r>
            <a:r>
              <a:rPr sz="1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Areas:</a:t>
            </a:r>
            <a:endParaRPr sz="14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Salary Details Real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endParaRPr sz="14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Stock Details Real</a:t>
            </a:r>
            <a:r>
              <a:rPr sz="1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682740" y="2982468"/>
            <a:ext cx="2313940" cy="1333500"/>
            <a:chOff x="6682740" y="2627376"/>
            <a:chExt cx="2313940" cy="1333500"/>
          </a:xfrm>
        </p:grpSpPr>
        <p:sp>
          <p:nvSpPr>
            <p:cNvPr id="27" name="object 27"/>
            <p:cNvSpPr/>
            <p:nvPr/>
          </p:nvSpPr>
          <p:spPr>
            <a:xfrm>
              <a:off x="6718484" y="2654057"/>
              <a:ext cx="2277687" cy="125805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682740" y="2627376"/>
              <a:ext cx="2081783" cy="133350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725413" y="3015996"/>
            <a:ext cx="2190115" cy="1118255"/>
          </a:xfrm>
          <a:prstGeom prst="rect">
            <a:avLst/>
          </a:prstGeom>
          <a:solidFill>
            <a:srgbClr val="FF1313"/>
          </a:solidFill>
        </p:spPr>
        <p:txBody>
          <a:bodyPr vert="horz" wrap="square" lIns="0" tIns="40640" rIns="0" bIns="0" rtlCol="0">
            <a:spAutoFit/>
          </a:bodyPr>
          <a:lstStyle/>
          <a:p>
            <a:pPr marL="91440" marR="325120">
              <a:lnSpc>
                <a:spcPct val="100000"/>
              </a:lnSpc>
              <a:spcBef>
                <a:spcPts val="320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Web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Catalog</a:t>
            </a:r>
            <a:r>
              <a:rPr sz="14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Folders 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Shared Folders -&gt;  Human Capital  Management -&gt;  Compensation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536819" y="1877695"/>
            <a:ext cx="1187450" cy="1892935"/>
          </a:xfrm>
          <a:custGeom>
            <a:avLst/>
            <a:gdLst/>
            <a:ahLst/>
            <a:cxnLst/>
            <a:rect l="l" t="t" r="r" b="b"/>
            <a:pathLst>
              <a:path w="1187450" h="1892935">
                <a:moveTo>
                  <a:pt x="1187196" y="1841119"/>
                </a:moveTo>
                <a:lnTo>
                  <a:pt x="1176299" y="1834769"/>
                </a:lnTo>
                <a:lnTo>
                  <a:pt x="1098550" y="1789430"/>
                </a:lnTo>
                <a:lnTo>
                  <a:pt x="1094727" y="1790446"/>
                </a:lnTo>
                <a:lnTo>
                  <a:pt x="1092962" y="1793494"/>
                </a:lnTo>
                <a:lnTo>
                  <a:pt x="1091184" y="1796415"/>
                </a:lnTo>
                <a:lnTo>
                  <a:pt x="1092200" y="1800352"/>
                </a:lnTo>
                <a:lnTo>
                  <a:pt x="1151178" y="1834769"/>
                </a:lnTo>
                <a:lnTo>
                  <a:pt x="38862" y="1834769"/>
                </a:lnTo>
                <a:lnTo>
                  <a:pt x="38862" y="1618615"/>
                </a:lnTo>
                <a:lnTo>
                  <a:pt x="38862" y="1608709"/>
                </a:lnTo>
                <a:lnTo>
                  <a:pt x="35941" y="1605915"/>
                </a:lnTo>
                <a:lnTo>
                  <a:pt x="27305" y="1605915"/>
                </a:lnTo>
                <a:lnTo>
                  <a:pt x="27305" y="1613420"/>
                </a:lnTo>
                <a:lnTo>
                  <a:pt x="26162" y="1612265"/>
                </a:lnTo>
                <a:lnTo>
                  <a:pt x="26162" y="1844548"/>
                </a:lnTo>
                <a:lnTo>
                  <a:pt x="28956" y="1847469"/>
                </a:lnTo>
                <a:lnTo>
                  <a:pt x="1151178" y="1847469"/>
                </a:lnTo>
                <a:lnTo>
                  <a:pt x="1092200" y="1881886"/>
                </a:lnTo>
                <a:lnTo>
                  <a:pt x="1091184" y="1885696"/>
                </a:lnTo>
                <a:lnTo>
                  <a:pt x="1094727" y="1891792"/>
                </a:lnTo>
                <a:lnTo>
                  <a:pt x="1098550" y="1892808"/>
                </a:lnTo>
                <a:lnTo>
                  <a:pt x="1176299" y="1847469"/>
                </a:lnTo>
                <a:lnTo>
                  <a:pt x="1187196" y="1841119"/>
                </a:lnTo>
                <a:close/>
              </a:path>
              <a:path w="1187450" h="1892935">
                <a:moveTo>
                  <a:pt x="1187196" y="51689"/>
                </a:moveTo>
                <a:lnTo>
                  <a:pt x="1176299" y="45339"/>
                </a:lnTo>
                <a:lnTo>
                  <a:pt x="1098550" y="0"/>
                </a:lnTo>
                <a:lnTo>
                  <a:pt x="1094727" y="1016"/>
                </a:lnTo>
                <a:lnTo>
                  <a:pt x="1091184" y="7112"/>
                </a:lnTo>
                <a:lnTo>
                  <a:pt x="1092200" y="10922"/>
                </a:lnTo>
                <a:lnTo>
                  <a:pt x="1151178" y="45339"/>
                </a:lnTo>
                <a:lnTo>
                  <a:pt x="2794" y="45339"/>
                </a:lnTo>
                <a:lnTo>
                  <a:pt x="0" y="48133"/>
                </a:lnTo>
                <a:lnTo>
                  <a:pt x="0" y="413766"/>
                </a:lnTo>
                <a:lnTo>
                  <a:pt x="2794" y="416687"/>
                </a:lnTo>
                <a:lnTo>
                  <a:pt x="27305" y="416687"/>
                </a:lnTo>
                <a:lnTo>
                  <a:pt x="27305" y="410337"/>
                </a:lnTo>
                <a:lnTo>
                  <a:pt x="27305" y="403987"/>
                </a:lnTo>
                <a:lnTo>
                  <a:pt x="12700" y="403987"/>
                </a:lnTo>
                <a:lnTo>
                  <a:pt x="12700" y="58039"/>
                </a:lnTo>
                <a:lnTo>
                  <a:pt x="1151178" y="58039"/>
                </a:lnTo>
                <a:lnTo>
                  <a:pt x="1092200" y="92456"/>
                </a:lnTo>
                <a:lnTo>
                  <a:pt x="1091184" y="96266"/>
                </a:lnTo>
                <a:lnTo>
                  <a:pt x="1094727" y="102362"/>
                </a:lnTo>
                <a:lnTo>
                  <a:pt x="1098550" y="103378"/>
                </a:lnTo>
                <a:lnTo>
                  <a:pt x="1176299" y="58039"/>
                </a:lnTo>
                <a:lnTo>
                  <a:pt x="1187196" y="51689"/>
                </a:lnTo>
                <a:close/>
              </a:path>
            </a:pathLst>
          </a:custGeom>
          <a:solidFill>
            <a:srgbClr val="7C73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712333" y="1503122"/>
            <a:ext cx="83629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1313"/>
                </a:solidFill>
                <a:latin typeface="Arial"/>
                <a:cs typeface="Arial"/>
              </a:rPr>
              <a:t>A</a:t>
            </a:r>
            <a:r>
              <a:rPr sz="1200" b="1" dirty="0">
                <a:solidFill>
                  <a:srgbClr val="FF1313"/>
                </a:solidFill>
                <a:latin typeface="Arial"/>
                <a:cs typeface="Arial"/>
              </a:rPr>
              <a:t>s</a:t>
            </a:r>
            <a:r>
              <a:rPr sz="1200" b="1" spc="5" dirty="0">
                <a:solidFill>
                  <a:srgbClr val="FF1313"/>
                </a:solidFill>
                <a:latin typeface="Arial"/>
                <a:cs typeface="Arial"/>
              </a:rPr>
              <a:t>s</a:t>
            </a:r>
            <a:r>
              <a:rPr sz="1200" b="1" dirty="0">
                <a:solidFill>
                  <a:srgbClr val="FF1313"/>
                </a:solidFill>
                <a:latin typeface="Arial"/>
                <a:cs typeface="Arial"/>
              </a:rPr>
              <a:t>ocia</a:t>
            </a:r>
            <a:r>
              <a:rPr sz="1200" b="1" spc="-5" dirty="0">
                <a:solidFill>
                  <a:srgbClr val="FF1313"/>
                </a:solidFill>
                <a:latin typeface="Arial"/>
                <a:cs typeface="Arial"/>
              </a:rPr>
              <a:t>t</a:t>
            </a:r>
            <a:r>
              <a:rPr sz="1200" b="1" dirty="0">
                <a:solidFill>
                  <a:srgbClr val="FF1313"/>
                </a:solidFill>
                <a:latin typeface="Arial"/>
                <a:cs typeface="Arial"/>
              </a:rPr>
              <a:t>ed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solidFill>
                  <a:srgbClr val="FF1313"/>
                </a:solidFill>
                <a:latin typeface="Arial"/>
                <a:cs typeface="Arial"/>
              </a:rPr>
              <a:t>With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685535" y="3794506"/>
            <a:ext cx="83566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635" marR="5080" indent="-24257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solidFill>
                  <a:srgbClr val="FF1313"/>
                </a:solidFill>
                <a:latin typeface="Arial"/>
                <a:cs typeface="Arial"/>
              </a:rPr>
              <a:t>A</a:t>
            </a:r>
            <a:r>
              <a:rPr sz="1200" b="1" spc="-5" dirty="0">
                <a:solidFill>
                  <a:srgbClr val="FF1313"/>
                </a:solidFill>
                <a:latin typeface="Arial"/>
                <a:cs typeface="Arial"/>
              </a:rPr>
              <a:t>ssoci</a:t>
            </a:r>
            <a:r>
              <a:rPr sz="1200" b="1" dirty="0">
                <a:solidFill>
                  <a:srgbClr val="FF1313"/>
                </a:solidFill>
                <a:latin typeface="Arial"/>
                <a:cs typeface="Arial"/>
              </a:rPr>
              <a:t>a</a:t>
            </a:r>
            <a:r>
              <a:rPr sz="1200" b="1" spc="-5" dirty="0">
                <a:solidFill>
                  <a:srgbClr val="FF1313"/>
                </a:solidFill>
                <a:latin typeface="Arial"/>
                <a:cs typeface="Arial"/>
              </a:rPr>
              <a:t>ted  With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64540" y="1428750"/>
            <a:ext cx="281559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"/>
                <a:cs typeface="Arial"/>
              </a:rPr>
              <a:t>Job Role: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Compensation  Analyst</a:t>
            </a:r>
            <a:endParaRPr sz="2000">
              <a:latin typeface="Arial"/>
              <a:cs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3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4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5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6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7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8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9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10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1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1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13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14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15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16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17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18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775</TotalTime>
  <Words>1024</Words>
  <Application>Microsoft Office PowerPoint</Application>
  <PresentationFormat>On-screen Show (16:9)</PresentationFormat>
  <Paragraphs>251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1_Flow</vt:lpstr>
      <vt:lpstr>PowerPoint Presentation</vt:lpstr>
      <vt:lpstr>PowerPoint Presentation</vt:lpstr>
      <vt:lpstr>OTBI Features</vt:lpstr>
      <vt:lpstr>Fusion BI Architecture</vt:lpstr>
      <vt:lpstr>Common Semantic Layer</vt:lpstr>
      <vt:lpstr>OTBI Presentation Catalog</vt:lpstr>
      <vt:lpstr>OTBI - Extensive Reporting Content</vt:lpstr>
      <vt:lpstr>OTBI Reporting Tools</vt:lpstr>
      <vt:lpstr>Fusion Reports and Analytics Work Area Access BI Catalog in Fusion Application</vt:lpstr>
      <vt:lpstr>BI Composer Fusion BI Report Wizard</vt:lpstr>
      <vt:lpstr>BI Answers BI Report Authoring Tool</vt:lpstr>
      <vt:lpstr>Fusion Flex Fields Integration</vt:lpstr>
      <vt:lpstr>Security Integration with Fusion Applications</vt:lpstr>
      <vt:lpstr>Fusion Application Dashboards &amp; Home Pages Contextual, Relevant, Actionable</vt:lpstr>
      <vt:lpstr>BI Mobile for Fusion</vt:lpstr>
      <vt:lpstr>Smart View for Fusion</vt:lpstr>
      <vt:lpstr>Extend Flex Fields to OTBI</vt:lpstr>
      <vt:lpstr>Duty Roles Control OTBI Object Security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 Agenda</dc:title>
  <cp:lastModifiedBy>Rakesh Gurrapu</cp:lastModifiedBy>
  <cp:revision>34</cp:revision>
  <dcterms:created xsi:type="dcterms:W3CDTF">2020-04-28T13:38:00Z</dcterms:created>
  <dcterms:modified xsi:type="dcterms:W3CDTF">2020-04-30T01:30:41Z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2014-10-08T00:00:00Z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2020-04-28T00:00:00Z</vt:filetime>
  </property>
</Properties>
</file>